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60" r:id="rId3"/>
    <p:sldId id="258" r:id="rId4"/>
    <p:sldId id="261" r:id="rId5"/>
    <p:sldId id="256" r:id="rId6"/>
    <p:sldId id="263" r:id="rId7"/>
    <p:sldId id="262" r:id="rId8"/>
    <p:sldId id="257" r:id="rId9"/>
    <p:sldId id="264" r:id="rId10"/>
    <p:sldId id="265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7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9575" autoAdjust="0"/>
  </p:normalViewPr>
  <p:slideViewPr>
    <p:cSldViewPr snapToGrid="0">
      <p:cViewPr varScale="1">
        <p:scale>
          <a:sx n="90" d="100"/>
          <a:sy n="90" d="100"/>
        </p:scale>
        <p:origin x="133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E1AE0-F169-4B04-AC31-32DDA66614B2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4364E-57BD-44F2-A53B-320C3BD2F0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981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71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014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96AE-B874-9034-D75B-3302F54B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3F4D3-FA79-A676-4F0E-65E641B5B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E08A445-B6C8-5EF0-1626-9DC3F137F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B5003E-E9A2-CD10-2CF9-A29F15581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78230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BCFC-C601-FC86-72E6-68A2F6B2D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C068F6-3811-D51D-BE0C-400BEDEE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7915BC-08E2-112D-1A65-C7CE166B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560D0-8889-9F40-E525-B04C39C2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558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977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1" dirty="0"/>
              <a:t>Note : La recherche d'exemples ciblés s'appuie sur le modèle d'</a:t>
            </a:r>
            <a:r>
              <a:rPr lang="fr-FR" i="1" dirty="0" err="1"/>
              <a:t>embedding</a:t>
            </a:r>
            <a:r>
              <a:rPr lang="fr-FR" i="1" dirty="0"/>
              <a:t> 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sentence-</a:t>
            </a:r>
            <a:r>
              <a:rPr lang="fr-FR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transformers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/all-MiniLM-L6-v2</a:t>
            </a:r>
            <a:r>
              <a:rPr lang="fr-FR" i="1" dirty="0"/>
              <a:t>.</a:t>
            </a:r>
            <a:endParaRPr lang="fr-FR" dirty="0"/>
          </a:p>
          <a:p>
            <a:r>
              <a:rPr lang="fr-FR" b="1" dirty="0"/>
              <a:t>Points clés à souligner dans votre analyse</a:t>
            </a:r>
          </a:p>
          <a:p>
            <a:r>
              <a:rPr lang="fr-FR" b="1" dirty="0"/>
              <a:t>L'impact du Few-Shot ciblé (RAG / </a:t>
            </a:r>
            <a:r>
              <a:rPr lang="fr-FR" b="1" dirty="0" err="1"/>
              <a:t>Similarity</a:t>
            </a:r>
            <a:r>
              <a:rPr lang="fr-FR" b="1" dirty="0"/>
              <a:t> </a:t>
            </a:r>
            <a:r>
              <a:rPr lang="fr-FR" b="1" dirty="0" err="1"/>
              <a:t>Search</a:t>
            </a:r>
            <a:r>
              <a:rPr lang="fr-FR" b="1" dirty="0"/>
              <a:t>) :</a:t>
            </a:r>
            <a:r>
              <a:rPr lang="fr-FR" dirty="0"/>
              <a:t> La sélection dynamique d'exemples proches via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all-MiniLM-L6-v2</a:t>
            </a:r>
            <a:r>
              <a:rPr lang="fr-FR" dirty="0"/>
              <a:t> apporte le gain de précision le plus fort (+25 % d'</a:t>
            </a:r>
            <a:r>
              <a:rPr lang="fr-FR" dirty="0" err="1"/>
              <a:t>Accuracy</a:t>
            </a:r>
            <a:r>
              <a:rPr lang="fr-FR" dirty="0"/>
              <a:t> et +22,17 % de F1 </a:t>
            </a:r>
            <a:r>
              <a:rPr lang="fr-FR" dirty="0" err="1"/>
              <a:t>Weighted</a:t>
            </a:r>
            <a:r>
              <a:rPr lang="fr-FR" dirty="0"/>
              <a:t> sur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).</a:t>
            </a:r>
          </a:p>
          <a:p>
            <a:r>
              <a:rPr lang="fr-FR" b="1" dirty="0"/>
              <a:t>L'écart Macro vs </a:t>
            </a:r>
            <a:r>
              <a:rPr lang="fr-FR" b="1" dirty="0" err="1"/>
              <a:t>Weighted</a:t>
            </a:r>
            <a:r>
              <a:rPr lang="fr-FR" b="1" dirty="0"/>
              <a:t> (Déséquilibre de classes) :</a:t>
            </a:r>
            <a:r>
              <a:rPr lang="fr-FR" dirty="0"/>
              <a:t> Le </a:t>
            </a:r>
            <a:r>
              <a:rPr lang="fr-FR" b="1" dirty="0"/>
              <a:t>F1 </a:t>
            </a:r>
            <a:r>
              <a:rPr lang="fr-FR" b="1" dirty="0" err="1"/>
              <a:t>Weighted</a:t>
            </a:r>
            <a:r>
              <a:rPr lang="fr-FR" dirty="0"/>
              <a:t> est nettement supérieur au </a:t>
            </a:r>
            <a:r>
              <a:rPr lang="fr-FR" b="1" dirty="0"/>
              <a:t>F1 Macro</a:t>
            </a:r>
            <a:r>
              <a:rPr lang="fr-FR" dirty="0"/>
              <a:t> (ex. 69,20 % vs 40,92 % sur le test final). Cela indique que le modèle fonctionne très bien sur les classes majoritaires, mais peine sur les catégories sous-représentées.</a:t>
            </a:r>
          </a:p>
          <a:p>
            <a:r>
              <a:rPr lang="fr-FR" b="1" dirty="0"/>
              <a:t>Le compromis Précision / Latence (Small vs Medium) :</a:t>
            </a:r>
            <a:endParaRPr lang="fr-FR" dirty="0"/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mistral-medium</a:t>
            </a:r>
            <a:r>
              <a:rPr lang="fr-FR" dirty="0"/>
              <a:t> offre la meilleure performance globale (</a:t>
            </a:r>
            <a:r>
              <a:rPr lang="fr-FR" b="1" dirty="0"/>
              <a:t>85 % </a:t>
            </a:r>
            <a:r>
              <a:rPr lang="fr-FR" b="1" dirty="0" err="1"/>
              <a:t>Accuracy</a:t>
            </a:r>
            <a:r>
              <a:rPr lang="fr-FR" dirty="0"/>
              <a:t>), mais avec une latence P95 prohibitive (</a:t>
            </a:r>
            <a:r>
              <a:rPr lang="fr-FR" b="1" dirty="0"/>
              <a:t>61 secondes</a:t>
            </a:r>
            <a:r>
              <a:rPr lang="fr-FR" dirty="0"/>
              <a:t>), inadaptée à un usage temps réel.</a:t>
            </a:r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 avec RAG constitue le meilleur compromis opérationnel, maintenant un temps médian autour de </a:t>
            </a:r>
            <a:r>
              <a:rPr lang="fr-FR" b="1" dirty="0"/>
              <a:t>0,45 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26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AC790-54F0-77E6-0495-4B726974A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0A0C0B-06F1-C6D3-D31D-721CD1E76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BEF1A-12FC-7C30-F911-36EF9601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B7408-50A4-15D0-D40F-145FF7652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9AC22B-49BE-5771-0D1D-2EF06749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92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44A896-587F-94A2-FE53-C9FFEE4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7AA686-D8E5-7A60-F264-DE984D23A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524EDA-7181-58F4-43F4-ABA065845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80104-3534-1A2B-1BF0-F8D73ED29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57B4B-AD54-3402-0A02-39A738B6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73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3606B5-D084-0503-2EB1-71F9E4E8A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AB5AC34-2708-C40F-1630-1F4D1A913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9395D-E99E-CE64-2ECE-47677975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8E16BF-E2CD-AF7D-22E8-2BC871B8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CA4A53-6C7B-9556-6AAA-E905E0E1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223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9FA28-6DC7-0B13-C1B1-4C8EEC3A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6BFCA9-905F-7E2F-DFD9-567B9FD4C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984400-8C4F-C118-3AED-BAD41AE4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65490-9973-7AA2-E692-B2220B31D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46BF53-CC54-ADC2-E218-793569CF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01DC64-7016-3799-837F-3FB2719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303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1C640-8912-FB46-FFC5-4E087820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E7B651-E953-286A-BF21-3133D44E8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ACF0B5-7A0F-8ACF-CB1B-4204A7373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6C1DF0-F53B-E3D3-8298-A772F8D4C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5D932D-414E-E3CE-F62E-308ED95B23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5850181-365A-3AAD-CE67-9BF3651B4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8FAE459-3126-29D9-5D38-183D498B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44B411-765B-6A88-8CF6-FA4B870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96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B012C-2EBC-136B-2EC7-7A9686EA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273742-CA3C-4DFB-2101-7D9692EC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440EAB-1083-A553-C642-10C7601B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EAE0B9-B310-F842-BA47-D882BA9B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37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7882F1-904D-C824-903E-2343CBD2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3DFF9AE-6A37-0C3E-9B26-63BEF0C7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8E6A06-317E-4034-C32D-AAC42A41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02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6925A-6D3A-CA88-C062-E462E6A3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5EADB8-B735-D895-C4EC-2713F1C2E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B80BA1-BFD2-DC8F-DDD6-33CB2AFD7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BE016F-EC11-C5B8-D92E-0017EA49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4A821-C63C-B58F-1989-8337D843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417BD-7570-3566-DEEC-58CC0A7C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84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44DBF-F190-4A2A-50CA-4FDA1E02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55683D-8C5C-E087-CE4A-C244235933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10C0C53-3C36-63A8-A7FF-0C09AE8F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B03AD9-75DB-6F2E-3232-63082F07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B17CF3-7312-719D-5896-3D292EC0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25C999A-6A02-9175-630E-364CAC4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85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05210-BD15-4CE9-A78D-73B4F81F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1BBCDF-23B6-91FA-A701-F5A4DB5A3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E8F324-000B-B1C6-C2CD-65A25A04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32961A-B483-491D-4905-B41380AE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A8E2CF-AC95-D909-DA9B-B2AEF9E6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06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C9262D-83A1-01B4-532D-2E67A9741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7D7CAE-074C-CB2B-773A-383BE08EF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EB7261-E5D4-CDD8-106F-86C5E9FB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22489-E9CB-0776-9C29-8740858B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91AA1-7E4A-98EA-F234-8C227B1E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795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C80B7AC-CB1F-1391-6A05-280FAC9B1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5B04DD-F619-628F-B169-33EBEEE1C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DA1877-540F-903B-52B7-FEF2D8CA8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BD361-66C9-484E-B214-6DC7693ABA43}" type="datetimeFigureOut">
              <a:rPr lang="fr-FR" smtClean="0"/>
              <a:t>21/08/2026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34CBB-2909-19BD-004D-1D228813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5BDDA-D098-9091-C08C-EB3F397A1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54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47326-BC3E-AE01-B8E5-5C0FC58C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772" y="460818"/>
            <a:ext cx="10515600" cy="1049005"/>
          </a:xfrm>
          <a:solidFill>
            <a:srgbClr val="1974B4"/>
          </a:solidFill>
          <a:ln w="381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txBody>
          <a:bodyPr>
            <a:normAutofit fontScale="90000"/>
          </a:bodyPr>
          <a:lstStyle/>
          <a:p>
            <a:pPr marL="792000">
              <a:lnSpc>
                <a:spcPct val="100000"/>
              </a:lnSpc>
            </a:pPr>
            <a:r>
              <a:rPr lang="fr-FR" sz="6600" dirty="0">
                <a:solidFill>
                  <a:schemeClr val="bg1"/>
                </a:solidFill>
                <a:latin typeface="Arial Black" panose="020B0A04020102020204" pitchFamily="34" charset="0"/>
              </a:rPr>
              <a:t>Zen-Assist</a:t>
            </a:r>
            <a:endParaRPr lang="fr-FR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80457F-CF9C-70F5-482D-B2523A289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00000">
            <a:off x="9962134" y="79428"/>
            <a:ext cx="1905888" cy="1905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EC758DE-EEDC-03D4-A339-4DE1B283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944" y="5955028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9D4FBF3F-4AB3-5727-2530-A1E144B46AC9}"/>
              </a:ext>
            </a:extLst>
          </p:cNvPr>
          <p:cNvSpPr txBox="1">
            <a:spLocks/>
          </p:cNvSpPr>
          <p:nvPr/>
        </p:nvSpPr>
        <p:spPr>
          <a:xfrm>
            <a:off x="763772" y="5045850"/>
            <a:ext cx="8232720" cy="17934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Août 2026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C1350B-E508-81B1-EEBD-381C600F6AF7}"/>
              </a:ext>
            </a:extLst>
          </p:cNvPr>
          <p:cNvSpPr txBox="1"/>
          <p:nvPr/>
        </p:nvSpPr>
        <p:spPr>
          <a:xfrm>
            <a:off x="763772" y="2525564"/>
            <a:ext cx="112386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Solution d’étiquetage automatique</a:t>
            </a:r>
          </a:p>
          <a:p>
            <a:pPr algn="r"/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LLM / ML</a:t>
            </a:r>
          </a:p>
        </p:txBody>
      </p:sp>
    </p:spTree>
    <p:extLst>
      <p:ext uri="{BB962C8B-B14F-4D97-AF65-F5344CB8AC3E}">
        <p14:creationId xmlns:p14="http://schemas.microsoft.com/office/powerpoint/2010/main" val="3865238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CCCC7-B8DB-ADF3-5AF8-D124C6BC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0B59B-9256-F687-FB0F-F72677E2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8119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0CB97F-097E-0FEC-42EB-89420D604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5360581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Analyse exploratoire des données</a:t>
            </a:r>
          </a:p>
        </p:txBody>
      </p:sp>
      <p:pic>
        <p:nvPicPr>
          <p:cNvPr id="2050" name="Picture 2" descr="Analyse exploratoire - Icônes ordinateur gratuites">
            <a:extLst>
              <a:ext uri="{FF2B5EF4-FFF2-40B4-BE49-F238E27FC236}">
                <a16:creationId xmlns:a16="http://schemas.microsoft.com/office/drawing/2014/main" id="{AD618C70-2F2B-E7F8-3413-9BB4F19C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731" y="1554126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81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10DBAC-37BB-75D7-2882-262E7BA33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DataFrame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2EE8EB-E893-A438-5DC8-BD950888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Consumer Claim = Réclamation client (VARIABLE)</a:t>
            </a:r>
          </a:p>
          <a:p>
            <a:pPr marL="0" indent="0">
              <a:buNone/>
            </a:pPr>
            <a:r>
              <a:rPr lang="fr-FR" dirty="0"/>
              <a:t>Tag = Etiquette associée (CIBLE)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9743E58-9FE0-56DE-C92A-659BCB89C84F}"/>
              </a:ext>
            </a:extLst>
          </p:cNvPr>
          <p:cNvSpPr txBox="1"/>
          <p:nvPr/>
        </p:nvSpPr>
        <p:spPr>
          <a:xfrm>
            <a:off x="7833537" y="544652"/>
            <a:ext cx="407492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Très intéressantes</a:t>
            </a:r>
          </a:p>
          <a:p>
            <a:r>
              <a:rPr lang="fr-FR" dirty="0"/>
              <a:t>------------------</a:t>
            </a:r>
          </a:p>
          <a:p>
            <a:r>
              <a:rPr lang="fr-FR" dirty="0"/>
              <a:t>Tag</a:t>
            </a:r>
          </a:p>
          <a:p>
            <a:r>
              <a:rPr lang="fr-FR" dirty="0" err="1"/>
              <a:t>Company</a:t>
            </a:r>
            <a:endParaRPr lang="fr-FR" dirty="0"/>
          </a:p>
          <a:p>
            <a:r>
              <a:rPr lang="fr-FR" dirty="0"/>
              <a:t>Date </a:t>
            </a:r>
            <a:r>
              <a:rPr lang="fr-FR" dirty="0" err="1"/>
              <a:t>received</a:t>
            </a:r>
            <a:endParaRPr lang="fr-FR" dirty="0"/>
          </a:p>
          <a:p>
            <a:r>
              <a:rPr lang="fr-FR" dirty="0" err="1"/>
              <a:t>Submitted</a:t>
            </a:r>
            <a:r>
              <a:rPr lang="fr-FR" dirty="0"/>
              <a:t> via</a:t>
            </a:r>
          </a:p>
          <a:p>
            <a:endParaRPr lang="fr-FR" dirty="0"/>
          </a:p>
          <a:p>
            <a:r>
              <a:rPr lang="fr-FR" dirty="0"/>
              <a:t>Intéressantes</a:t>
            </a:r>
          </a:p>
          <a:p>
            <a:r>
              <a:rPr lang="fr-FR" dirty="0"/>
              <a:t>-------------</a:t>
            </a:r>
          </a:p>
          <a:p>
            <a:r>
              <a:rPr lang="fr-FR" dirty="0"/>
              <a:t>Tags</a:t>
            </a:r>
          </a:p>
          <a:p>
            <a:r>
              <a:rPr lang="fr-FR" dirty="0"/>
              <a:t>State</a:t>
            </a:r>
          </a:p>
          <a:p>
            <a:endParaRPr lang="fr-FR" dirty="0"/>
          </a:p>
          <a:p>
            <a:r>
              <a:rPr lang="fr-FR" dirty="0"/>
              <a:t>Potentiellement intéressantes</a:t>
            </a:r>
          </a:p>
          <a:p>
            <a:r>
              <a:rPr lang="fr-FR" dirty="0"/>
              <a:t>-----------------------------</a:t>
            </a:r>
          </a:p>
          <a:p>
            <a:r>
              <a:rPr lang="fr-FR" dirty="0"/>
              <a:t>ZIP code</a:t>
            </a:r>
          </a:p>
          <a:p>
            <a:r>
              <a:rPr lang="fr-FR" dirty="0"/>
              <a:t>Consumer consent </a:t>
            </a:r>
            <a:r>
              <a:rPr lang="fr-FR" dirty="0" err="1"/>
              <a:t>provided</a:t>
            </a:r>
            <a:r>
              <a:rPr lang="fr-FR" dirty="0"/>
              <a:t>?</a:t>
            </a:r>
          </a:p>
          <a:p>
            <a:endParaRPr lang="fr-FR" dirty="0"/>
          </a:p>
          <a:p>
            <a:r>
              <a:rPr lang="fr-FR" dirty="0"/>
              <a:t>À supprimer</a:t>
            </a:r>
          </a:p>
          <a:p>
            <a:r>
              <a:rPr lang="fr-FR" dirty="0"/>
              <a:t>-----------</a:t>
            </a:r>
          </a:p>
          <a:p>
            <a:r>
              <a:rPr lang="fr-FR" dirty="0"/>
              <a:t>Complaint ID</a:t>
            </a:r>
          </a:p>
        </p:txBody>
      </p:sp>
    </p:spTree>
    <p:extLst>
      <p:ext uri="{BB962C8B-B14F-4D97-AF65-F5344CB8AC3E}">
        <p14:creationId xmlns:p14="http://schemas.microsoft.com/office/powerpoint/2010/main" val="36481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504444-0740-D874-1160-ACB50AB8B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Réclamation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3DEBCEB3-25B6-65EB-311A-51DA06F1CC39}"/>
              </a:ext>
            </a:extLst>
          </p:cNvPr>
          <p:cNvSpPr txBox="1">
            <a:spLocks/>
          </p:cNvSpPr>
          <p:nvPr/>
        </p:nvSpPr>
        <p:spPr>
          <a:xfrm>
            <a:off x="2697125" y="2400554"/>
            <a:ext cx="6797750" cy="295825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4800" dirty="0"/>
              <a:t>La réclamation est la principale variable de prédiction pour identifier l’étiquette à assigner</a:t>
            </a:r>
          </a:p>
          <a:p>
            <a:endParaRPr lang="fr-FR" sz="4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141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7C94-B671-42C3-1737-1B8FAA81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AE9FDB-9593-9FAD-EBD2-EB411873A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Forte proportion de valeurs manquantes dans la variable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</a:t>
            </a:r>
          </a:p>
          <a:p>
            <a:r>
              <a:rPr lang="fr-FR" dirty="0"/>
              <a:t>Chaque ligne correspond bien à une réclamation identifiée et traitée</a:t>
            </a:r>
            <a:endParaRPr lang="fr-FR" i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dirty="0"/>
              <a:t>Seule la </a:t>
            </a:r>
            <a:r>
              <a:rPr lang="fr-FR" b="1" dirty="0"/>
              <a:t>soumission «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Web</a:t>
            </a:r>
            <a:r>
              <a:rPr lang="fr-FR" dirty="0"/>
              <a:t> » contient des réclamations avec un texte</a:t>
            </a:r>
          </a:p>
          <a:p>
            <a:r>
              <a:rPr lang="fr-FR" dirty="0"/>
              <a:t>Seule les réclamation </a:t>
            </a:r>
            <a:r>
              <a:rPr lang="fr-FR" b="1" dirty="0"/>
              <a:t>avec consentement </a:t>
            </a:r>
            <a:r>
              <a:rPr lang="fr-FR" dirty="0"/>
              <a:t>du consommateur contient un texte</a:t>
            </a:r>
          </a:p>
          <a:p>
            <a:r>
              <a:rPr lang="fr-FR" dirty="0"/>
              <a:t>Les valeurs manquantes semblent donc potentiellement structurelles plutôt qu'aléatoires</a:t>
            </a:r>
          </a:p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6F9D9E8-DDEC-908D-ABCC-7B1C0733DF8D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Réclamation</a:t>
            </a:r>
          </a:p>
        </p:txBody>
      </p:sp>
    </p:spTree>
    <p:extLst>
      <p:ext uri="{BB962C8B-B14F-4D97-AF65-F5344CB8AC3E}">
        <p14:creationId xmlns:p14="http://schemas.microsoft.com/office/powerpoint/2010/main" val="446294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1C63-B589-571E-98AE-05E8ED47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F03410F-C6C0-88B6-E9B9-F239740F9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12720" r="11565" b="10083"/>
          <a:stretch>
            <a:fillRect/>
          </a:stretch>
        </p:blipFill>
        <p:spPr>
          <a:xfrm>
            <a:off x="8735478" y="5003043"/>
            <a:ext cx="2355218" cy="17877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6E0A8D-CB0A-B2AB-137B-9805AF52F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Catégories Etiquettes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C9766-7877-6612-4E2D-4B18A58FA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049680"/>
            <a:ext cx="5536018" cy="1257041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fr-FR" dirty="0"/>
              <a:t>2011 à 2016</a:t>
            </a:r>
          </a:p>
          <a:p>
            <a:r>
              <a:rPr lang="fr-FR" dirty="0"/>
              <a:t> Ancienne Nomenclature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4C90DDE-E233-1253-6B7A-B3E690DA10C0}"/>
              </a:ext>
            </a:extLst>
          </p:cNvPr>
          <p:cNvSpPr txBox="1">
            <a:spLocks/>
          </p:cNvSpPr>
          <p:nvPr/>
        </p:nvSpPr>
        <p:spPr>
          <a:xfrm>
            <a:off x="7060018" y="2049681"/>
            <a:ext cx="3607981" cy="12570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2017 à 2019</a:t>
            </a:r>
          </a:p>
          <a:p>
            <a:r>
              <a:rPr lang="fr-FR" dirty="0"/>
              <a:t>Nouvelle Nomenclature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B55D0B1D-6B89-AA49-7573-8DE0C1828AFF}"/>
              </a:ext>
            </a:extLst>
          </p:cNvPr>
          <p:cNvSpPr txBox="1">
            <a:spLocks/>
          </p:cNvSpPr>
          <p:nvPr/>
        </p:nvSpPr>
        <p:spPr>
          <a:xfrm>
            <a:off x="2867246" y="4186824"/>
            <a:ext cx="3703675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Supprime les catégories ambigües pouvant prêter à confusion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Images sur Supprimer : Téléchargement gratuit sur Magnific (anciennement  Freepik)">
            <a:extLst>
              <a:ext uri="{FF2B5EF4-FFF2-40B4-BE49-F238E27FC236}">
                <a16:creationId xmlns:a16="http://schemas.microsoft.com/office/drawing/2014/main" id="{6426B220-CE0B-29C7-D006-78A78F50F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837" y="3504568"/>
            <a:ext cx="2392326" cy="239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250E3995-0EB7-A592-C349-723F39E8FFF6}"/>
              </a:ext>
            </a:extLst>
          </p:cNvPr>
          <p:cNvSpPr/>
          <p:nvPr/>
        </p:nvSpPr>
        <p:spPr>
          <a:xfrm>
            <a:off x="6868630" y="4369978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6B9A69D7-E143-4867-EC2B-A6A0FD64C6CF}"/>
              </a:ext>
            </a:extLst>
          </p:cNvPr>
          <p:cNvSpPr txBox="1">
            <a:spLocks/>
          </p:cNvSpPr>
          <p:nvPr/>
        </p:nvSpPr>
        <p:spPr>
          <a:xfrm>
            <a:off x="8172891" y="4190370"/>
            <a:ext cx="3480393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Deviennent des catégories uniques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06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115817-FDF6-900F-9B3C-4963B9B7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LLM ne doit pas avoir à prendre une décision artificielle </a:t>
            </a:r>
            <a:r>
              <a:rPr lang="fr-FR" dirty="0"/>
              <a:t>entre deux catégories qui correspondent simplement à deux versions historiques de la nomenclature</a:t>
            </a:r>
          </a:p>
          <a:p>
            <a:r>
              <a:rPr lang="fr-FR" dirty="0"/>
              <a:t>Les </a:t>
            </a:r>
            <a:r>
              <a:rPr lang="fr-FR" b="1" dirty="0"/>
              <a:t>anciennes nomenclatures </a:t>
            </a:r>
            <a:r>
              <a:rPr lang="fr-FR" dirty="0"/>
              <a:t>sont </a:t>
            </a:r>
            <a:r>
              <a:rPr lang="fr-FR" b="1" dirty="0"/>
              <a:t>généralement incluses </a:t>
            </a:r>
            <a:r>
              <a:rPr lang="fr-FR" dirty="0"/>
              <a:t>dans les nouvelles (plus fournies)</a:t>
            </a:r>
          </a:p>
          <a:p>
            <a:r>
              <a:rPr lang="fr-FR" dirty="0"/>
              <a:t>Exception de « </a:t>
            </a:r>
            <a:r>
              <a:rPr lang="fr-FR" b="1" dirty="0"/>
              <a:t>Consumer Loan </a:t>
            </a:r>
            <a:r>
              <a:rPr lang="fr-FR" dirty="0"/>
              <a:t>» dont le sens métier doit être définit par rapport à « </a:t>
            </a:r>
            <a:r>
              <a:rPr lang="en-US" b="1" dirty="0"/>
              <a:t>Payday loan, title loan, or personal loan</a:t>
            </a:r>
            <a:r>
              <a:rPr lang="fr-FR" b="1" dirty="0"/>
              <a:t> </a:t>
            </a:r>
            <a:r>
              <a:rPr lang="fr-FR" dirty="0"/>
              <a:t>»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60E3862B-4D17-A85F-5E51-6083E4D86581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Catégories Etiquettes</a:t>
            </a:r>
          </a:p>
        </p:txBody>
      </p:sp>
    </p:spTree>
    <p:extLst>
      <p:ext uri="{BB962C8B-B14F-4D97-AF65-F5344CB8AC3E}">
        <p14:creationId xmlns:p14="http://schemas.microsoft.com/office/powerpoint/2010/main" val="2964250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BAAED3-07A6-D09F-B3B8-555F2C191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D1299C-F00E-14BE-F98C-293219B41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classification par prompt, few-shot et few-shot dynamique avec FAISS</a:t>
            </a:r>
          </a:p>
        </p:txBody>
      </p:sp>
    </p:spTree>
    <p:extLst>
      <p:ext uri="{BB962C8B-B14F-4D97-AF65-F5344CB8AC3E}">
        <p14:creationId xmlns:p14="http://schemas.microsoft.com/office/powerpoint/2010/main" val="3926061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C6005B1D-AC92-C379-9562-8AB029E26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Approche LLM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69CEBDF-0F56-6E95-4704-E93E9F7F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95" y="2374129"/>
            <a:ext cx="11150209" cy="301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4742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501</Words>
  <Application>Microsoft Office PowerPoint</Application>
  <PresentationFormat>Grand écran</PresentationFormat>
  <Paragraphs>69</Paragraphs>
  <Slides>10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Arial</vt:lpstr>
      <vt:lpstr>Arial Black</vt:lpstr>
      <vt:lpstr>Calibri</vt:lpstr>
      <vt:lpstr>Calibri Light</vt:lpstr>
      <vt:lpstr>Segoe UI Black</vt:lpstr>
      <vt:lpstr>Thème Office</vt:lpstr>
      <vt:lpstr>Zen-Assist</vt:lpstr>
      <vt:lpstr>Contexte</vt:lpstr>
      <vt:lpstr>Analyse exploratoire des données</vt:lpstr>
      <vt:lpstr>DataFrame</vt:lpstr>
      <vt:lpstr>Réclamation</vt:lpstr>
      <vt:lpstr>Présentation PowerPoint</vt:lpstr>
      <vt:lpstr>Catégories Etiquettes</vt:lpstr>
      <vt:lpstr>Présentation PowerPoint</vt:lpstr>
      <vt:lpstr>Approche LLM</vt:lpstr>
      <vt:lpstr>Approche LLM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25</cp:revision>
  <dcterms:created xsi:type="dcterms:W3CDTF">2026-08-19T10:14:18Z</dcterms:created>
  <dcterms:modified xsi:type="dcterms:W3CDTF">2026-08-21T09:21:01Z</dcterms:modified>
</cp:coreProperties>
</file>