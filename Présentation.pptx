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9" r:id="rId2"/>
    <p:sldId id="260" r:id="rId3"/>
    <p:sldId id="258" r:id="rId4"/>
    <p:sldId id="261" r:id="rId5"/>
    <p:sldId id="263" r:id="rId6"/>
    <p:sldId id="257" r:id="rId7"/>
    <p:sldId id="262" r:id="rId8"/>
    <p:sldId id="278" r:id="rId9"/>
    <p:sldId id="269" r:id="rId10"/>
    <p:sldId id="280" r:id="rId11"/>
    <p:sldId id="267" r:id="rId12"/>
    <p:sldId id="272" r:id="rId13"/>
    <p:sldId id="271" r:id="rId14"/>
    <p:sldId id="274" r:id="rId15"/>
    <p:sldId id="266" r:id="rId16"/>
    <p:sldId id="265" r:id="rId17"/>
    <p:sldId id="289" r:id="rId18"/>
    <p:sldId id="268" r:id="rId19"/>
    <p:sldId id="273" r:id="rId20"/>
    <p:sldId id="270" r:id="rId21"/>
    <p:sldId id="275" r:id="rId22"/>
    <p:sldId id="279" r:id="rId23"/>
    <p:sldId id="277" r:id="rId24"/>
    <p:sldId id="276" r:id="rId25"/>
    <p:sldId id="283" r:id="rId26"/>
    <p:sldId id="284" r:id="rId27"/>
    <p:sldId id="281" r:id="rId28"/>
    <p:sldId id="282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7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575" autoAdjust="0"/>
  </p:normalViewPr>
  <p:slideViewPr>
    <p:cSldViewPr snapToGrid="0">
      <p:cViewPr varScale="1">
        <p:scale>
          <a:sx n="90" d="100"/>
          <a:sy n="90" d="100"/>
        </p:scale>
        <p:origin x="4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E1AE0-F169-4B04-AC31-32DDA66614B2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4364E-57BD-44F2-A53B-320C3BD2F0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810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71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96AE-B874-9034-D75B-3302F54B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83F4D3-FA79-A676-4F0E-65E641B5B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E08A445-B6C8-5EF0-1626-9DC3F137F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Exception de « 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Prêt à la consommation » </a:t>
            </a:r>
            <a:r>
              <a:rPr lang="fr-FR" dirty="0"/>
              <a:t>dont le sens métier doit être définit par rapport à « 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prêt sur salaire, prêt sur gage ou prêt personne »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B5003E-E9A2-CD10-2CF9-A29F15581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7823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Exception de « 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Prêt à la consommation » </a:t>
            </a:r>
            <a:r>
              <a:rPr lang="fr-FR" dirty="0"/>
              <a:t>dont le sens métier doit être définit par rapport à « 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prêt sur salaire, prêt sur gage ou prêt personne »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977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BCFC-C601-FC86-72E6-68A2F6B2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4C068F6-3811-D51D-BE0C-400BEDEE5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7915BC-08E2-112D-1A65-C7CE166BD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labels ont été normalisés vers la nomenclature récente afin d'obtenir une cible cohérente pour l'apprentissage.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6560D0-8889-9F40-E525-B04C39C2C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558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nombre de textes associés à plusieurs catégories est donc seulement : 152 + 11 + 1</a:t>
            </a:r>
          </a:p>
          <a:p>
            <a:r>
              <a:rPr lang="fr-FR" dirty="0"/>
              <a:t>L’apprentissage ne sera pas biaisé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65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Consumer Claim = principale variable prédictive</a:t>
            </a:r>
          </a:p>
          <a:p>
            <a:r>
              <a:rPr lang="fr-FR" dirty="0"/>
              <a:t>Mais :</a:t>
            </a:r>
          </a:p>
          <a:p>
            <a:r>
              <a:rPr lang="fr-FR" dirty="0"/>
              <a:t>valeurs manquantes</a:t>
            </a:r>
          </a:p>
          <a:p>
            <a:r>
              <a:rPr lang="fr-FR" dirty="0"/>
              <a:t>texte dépendant du canal de soumission</a:t>
            </a:r>
          </a:p>
          <a:p>
            <a:r>
              <a:rPr lang="fr-FR" dirty="0"/>
              <a:t>couverture limitée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6912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Stratify</a:t>
            </a:r>
            <a:r>
              <a:rPr lang="fr-FR" dirty="0"/>
              <a:t> est particulièrement utile dans le </a:t>
            </a:r>
            <a:r>
              <a:rPr lang="fr-FR" dirty="0" err="1"/>
              <a:t>dataset</a:t>
            </a:r>
            <a:r>
              <a:rPr lang="fr-FR" dirty="0"/>
              <a:t> parce que certaines catégories sont beaucoup moins représentées que d'autres.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6321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i="1" dirty="0"/>
              <a:t>Note : La recherche d'exemples ciblés s'appuie sur le modèle d'</a:t>
            </a:r>
            <a:r>
              <a:rPr lang="fr-FR" i="1" dirty="0" err="1"/>
              <a:t>embedding</a:t>
            </a:r>
            <a:r>
              <a:rPr lang="fr-FR" i="1" dirty="0"/>
              <a:t> </a:t>
            </a:r>
            <a:r>
              <a:rPr lang="fr-F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sentence-</a:t>
            </a:r>
            <a:r>
              <a:rPr lang="fr-FR" sz="1200" i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transformers</a:t>
            </a:r>
            <a:r>
              <a:rPr lang="fr-FR" sz="1200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/all-MiniLM-L6-v2</a:t>
            </a:r>
            <a:r>
              <a:rPr lang="fr-FR" i="1" dirty="0"/>
              <a:t>.</a:t>
            </a:r>
            <a:endParaRPr lang="fr-FR" dirty="0"/>
          </a:p>
          <a:p>
            <a:r>
              <a:rPr lang="fr-FR" b="1" dirty="0"/>
              <a:t>Points clés à souligner dans votre analyse</a:t>
            </a:r>
          </a:p>
          <a:p>
            <a:r>
              <a:rPr lang="fr-FR" b="1" dirty="0"/>
              <a:t>L'impact du Few-Shot ciblé (RAG / </a:t>
            </a:r>
            <a:r>
              <a:rPr lang="fr-FR" b="1" dirty="0" err="1"/>
              <a:t>Similarity</a:t>
            </a:r>
            <a:r>
              <a:rPr lang="fr-FR" b="1" dirty="0"/>
              <a:t> </a:t>
            </a:r>
            <a:r>
              <a:rPr lang="fr-FR" b="1" dirty="0" err="1"/>
              <a:t>Search</a:t>
            </a:r>
            <a:r>
              <a:rPr lang="fr-FR" b="1" dirty="0"/>
              <a:t>) :</a:t>
            </a:r>
            <a:r>
              <a:rPr lang="fr-FR" dirty="0"/>
              <a:t> La sélection dynamique d'exemples proches via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all-MiniLM-L6-v2</a:t>
            </a:r>
            <a:r>
              <a:rPr lang="fr-FR" dirty="0"/>
              <a:t> apporte le gain de précision le plus fort (+25 % d'</a:t>
            </a:r>
            <a:r>
              <a:rPr lang="fr-FR" dirty="0" err="1"/>
              <a:t>Accuracy</a:t>
            </a:r>
            <a:r>
              <a:rPr lang="fr-FR" dirty="0"/>
              <a:t> et +22,17 % de F1 </a:t>
            </a:r>
            <a:r>
              <a:rPr lang="fr-FR" dirty="0" err="1"/>
              <a:t>Weighted</a:t>
            </a:r>
            <a:r>
              <a:rPr lang="fr-FR" dirty="0"/>
              <a:t> sur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mistral-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small</a:t>
            </a:r>
            <a:r>
              <a:rPr lang="fr-FR" dirty="0"/>
              <a:t>).</a:t>
            </a:r>
          </a:p>
          <a:p>
            <a:r>
              <a:rPr lang="fr-FR" b="1" dirty="0"/>
              <a:t>L'écart Macro vs </a:t>
            </a:r>
            <a:r>
              <a:rPr lang="fr-FR" b="1" dirty="0" err="1"/>
              <a:t>Weighted</a:t>
            </a:r>
            <a:r>
              <a:rPr lang="fr-FR" b="1" dirty="0"/>
              <a:t> (Déséquilibre de classes) :</a:t>
            </a:r>
            <a:r>
              <a:rPr lang="fr-FR" dirty="0"/>
              <a:t> Le </a:t>
            </a:r>
            <a:r>
              <a:rPr lang="fr-FR" b="1" dirty="0"/>
              <a:t>F1 </a:t>
            </a:r>
            <a:r>
              <a:rPr lang="fr-FR" b="1" dirty="0" err="1"/>
              <a:t>Weighted</a:t>
            </a:r>
            <a:r>
              <a:rPr lang="fr-FR" dirty="0"/>
              <a:t> est nettement supérieur au </a:t>
            </a:r>
            <a:r>
              <a:rPr lang="fr-FR" b="1" dirty="0"/>
              <a:t>F1 Macro</a:t>
            </a:r>
            <a:r>
              <a:rPr lang="fr-FR" dirty="0"/>
              <a:t> (ex. 69,20 % vs 40,92 % sur le test final). Cela indique que le modèle fonctionne très bien sur les classes majoritaires, mais peine sur les catégories sous-représentées.</a:t>
            </a:r>
          </a:p>
          <a:p>
            <a:r>
              <a:rPr lang="fr-FR" b="1" dirty="0"/>
              <a:t>Le compromis Précision / Latence (Small vs Medium) :</a:t>
            </a:r>
            <a:endParaRPr lang="fr-FR" dirty="0"/>
          </a:p>
          <a:p>
            <a:pPr lvl="1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mistral-medium</a:t>
            </a:r>
            <a:r>
              <a:rPr lang="fr-FR" dirty="0"/>
              <a:t> offre la meilleure performance globale (</a:t>
            </a:r>
            <a:r>
              <a:rPr lang="fr-FR" b="1" dirty="0"/>
              <a:t>85 % </a:t>
            </a:r>
            <a:r>
              <a:rPr lang="fr-FR" b="1" dirty="0" err="1"/>
              <a:t>Accuracy</a:t>
            </a:r>
            <a:r>
              <a:rPr lang="fr-FR" dirty="0"/>
              <a:t>), mais avec une latence P95 prohibitive (</a:t>
            </a:r>
            <a:r>
              <a:rPr lang="fr-FR" b="1" dirty="0"/>
              <a:t>61 secondes</a:t>
            </a:r>
            <a:r>
              <a:rPr lang="fr-FR" dirty="0"/>
              <a:t>), inadaptée à un usage temps réel.</a:t>
            </a:r>
          </a:p>
          <a:p>
            <a:pPr lvl="1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mistral-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small</a:t>
            </a:r>
            <a:r>
              <a:rPr lang="fr-FR" dirty="0"/>
              <a:t> avec RAG constitue le meilleur compromis opérationnel, maintenant un temps médian autour de </a:t>
            </a:r>
            <a:r>
              <a:rPr lang="fr-FR" b="1" dirty="0"/>
              <a:t>0,45 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26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0B7C1-2385-033B-FA1E-812CEFA4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B941A9-547E-7E08-941E-A4016114E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56E9F8-FA21-3695-0200-A00AD1D88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globale de 86 % ne permet pas de savoir si le modèle sait correctement traiter les petites catégories.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5DCC56-F300-2000-E61E-AD294C0D4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5984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 err="1"/>
              <a:t>Accuracy_score</a:t>
            </a:r>
            <a:r>
              <a:rPr lang="fr-FR" b="1" dirty="0"/>
              <a:t>: 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Intéressante comme indicateur général, mais ne doit pas être la métrique principale avec un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fortement déséquilibré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macro: 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catégorie possède ici le même poids.</a:t>
            </a:r>
          </a:p>
          <a:p>
            <a:r>
              <a:rPr lang="fr-F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macro: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particulièrement intéressant dans notre contexte :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Parmi les réclamations réellement appartenant à une catégorie, combien sont correctement orientées vers cette catégorie ?</a:t>
            </a:r>
          </a:p>
          <a:p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macro: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macro comme métrique principale.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?</a:t>
            </a:r>
          </a:p>
          <a:p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Parce qu'elle donne autant d'importance 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qu'à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Credit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reporting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C'est cohérent avec la problématique métier : une catégorie minoritaire ne doit pas être complètement ignorée simplement parce qu'elle est peu représentée.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14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globale de 86 % ne permet pas de savoir si le modèle sait correctement traiter les petites catégories.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921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BADF4-27BB-0737-A29A-504A8D66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E8A8711-70EE-0C5C-51FD-EE8A71B0E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A577E85-9D77-DEEE-793F-5A4A4E62E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7DC9EF-48E1-0B42-9EEB-C8DB6A994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926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127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Cela permettrait de réserver l'utilisation du LLM aux cas difficiles.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33055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4364E-57BD-44F2-A53B-320C3BD2F0CA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466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AC790-54F0-77E6-0495-4B726974A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0A0C0B-06F1-C6D3-D31D-721CD1E76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FBEF1A-12FC-7C30-F911-36EF9601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B7408-50A4-15D0-D40F-145FF7652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9AC22B-49BE-5771-0D1D-2EF06749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92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44A896-587F-94A2-FE53-C9FFEE4F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7AA686-D8E5-7A60-F264-DE984D23A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524EDA-7181-58F4-43F4-ABA065845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880104-3534-1A2B-1BF0-F8D73ED2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57B4B-AD54-3402-0A02-39A738B6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737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3606B5-D084-0503-2EB1-71F9E4E8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B5AC34-2708-C40F-1630-1F4D1A913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19395D-E99E-CE64-2ECE-47677975F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8E16BF-E2CD-AF7D-22E8-2BC871B8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CA4A53-6C7B-9556-6AAA-E905E0E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22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09FA28-6DC7-0B13-C1B1-4C8EEC3A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6BFCA9-905F-7E2F-DFD9-567B9FD4C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2984400-8C4F-C118-3AED-BAD41AE44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665490-9973-7AA2-E692-B2220B31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46BF53-CC54-ADC2-E218-793569CFF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01DC64-7016-3799-837F-3FB2719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303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1C640-8912-FB46-FFC5-4E087820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7B651-E953-286A-BF21-3133D44E8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ACF0B5-7A0F-8ACF-CB1B-4204A7373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16C1DF0-F53B-E3D3-8298-A772F8D4C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B5D932D-414E-E3CE-F62E-308ED95B2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5850181-365A-3AAD-CE67-9BF3651B4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8FAE459-3126-29D9-5D38-183D498B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44B411-765B-6A88-8CF6-FA4B870C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096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B012C-2EBC-136B-2EC7-7A9686EA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273742-CA3C-4DFB-2101-7D9692EC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440EAB-1083-A553-C642-10C7601B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EAE0B9-B310-F842-BA47-D882BA9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37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7882F1-904D-C824-903E-2343CBD2A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3DFF9AE-6A37-0C3E-9B26-63BEF0C79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8E6A06-317E-4034-C32D-AAC42A413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902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66925A-6D3A-CA88-C062-E462E6A3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5EADB8-B735-D895-C4EC-2713F1C2E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B80BA1-BFD2-DC8F-DDD6-33CB2AFD7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BE016F-EC11-C5B8-D92E-0017EA49D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34A821-C63C-B58F-1989-8337D843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7417BD-7570-3566-DEEC-58CC0A7C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9842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444DBF-F190-4A2A-50CA-4FDA1E026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55683D-8C5C-E087-CE4A-C24423593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0C0C53-3C36-63A8-A7FF-0C09AE8F1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B03AD9-75DB-6F2E-3232-63082F07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EB17CF3-7312-719D-5896-3D292EC0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25C999A-6A02-9175-630E-364CAC474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985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05210-BD15-4CE9-A78D-73B4F81F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1BBCDF-23B6-91FA-A701-F5A4DB5A3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E8F324-000B-B1C6-C2CD-65A25A042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32961A-B483-491D-4905-B41380AE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A8E2CF-AC95-D909-DA9B-B2AEF9E6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006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C9262D-83A1-01B4-532D-2E67A9741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7D7CAE-074C-CB2B-773A-383BE08EF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EB7261-E5D4-CDD8-106F-86C5E9FBA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22489-E9CB-0776-9C29-8740858B3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291AA1-7E4A-98EA-F234-8C227B1E6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7954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80B7AC-CB1F-1391-6A05-280FAC9B1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5B04DD-F619-628F-B169-33EBEEE1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DA1877-540F-903B-52B7-FEF2D8CA8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BD361-66C9-484E-B214-6DC7693ABA43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334CBB-2909-19BD-004D-1D2288136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A5BDDA-D098-9091-C08C-EB3F397A1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26088-ABC4-4218-A7A1-86B37C148F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25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E47326-BC3E-AE01-B8E5-5C0FC58C8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772" y="460818"/>
            <a:ext cx="10515600" cy="1049005"/>
          </a:xfrm>
          <a:solidFill>
            <a:srgbClr val="1974B4"/>
          </a:solidFill>
          <a:ln w="38100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  <p:txBody>
          <a:bodyPr>
            <a:normAutofit fontScale="90000"/>
          </a:bodyPr>
          <a:lstStyle/>
          <a:p>
            <a:pPr marL="792000">
              <a:lnSpc>
                <a:spcPct val="100000"/>
              </a:lnSpc>
            </a:pPr>
            <a:r>
              <a:rPr lang="fr-FR" sz="6600" dirty="0">
                <a:solidFill>
                  <a:schemeClr val="bg1"/>
                </a:solidFill>
                <a:latin typeface="Arial Black" panose="020B0A04020102020204" pitchFamily="34" charset="0"/>
              </a:rPr>
              <a:t>Zen-Assist</a:t>
            </a:r>
            <a:endParaRPr lang="fr-FR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E80457F-CF9C-70F5-482D-B2523A289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00000">
            <a:off x="9962134" y="79428"/>
            <a:ext cx="1905888" cy="190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OpenClassrooms | Spreadshop">
            <a:extLst>
              <a:ext uri="{FF2B5EF4-FFF2-40B4-BE49-F238E27FC236}">
                <a16:creationId xmlns:a16="http://schemas.microsoft.com/office/drawing/2014/main" id="{7EC758DE-EEDC-03D4-A339-4DE1B283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944" y="5955028"/>
            <a:ext cx="4933507" cy="884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9D4FBF3F-4AB3-5727-2530-A1E144B46AC9}"/>
              </a:ext>
            </a:extLst>
          </p:cNvPr>
          <p:cNvSpPr txBox="1">
            <a:spLocks/>
          </p:cNvSpPr>
          <p:nvPr/>
        </p:nvSpPr>
        <p:spPr>
          <a:xfrm>
            <a:off x="763772" y="5045850"/>
            <a:ext cx="8232720" cy="17934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4400" i="1" dirty="0">
                <a:solidFill>
                  <a:schemeClr val="bg1">
                    <a:lumMod val="65000"/>
                  </a:schemeClr>
                </a:solidFill>
              </a:rPr>
              <a:t>Formation Développeur 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4400" i="1" dirty="0">
                <a:solidFill>
                  <a:schemeClr val="bg1">
                    <a:lumMod val="65000"/>
                  </a:schemeClr>
                </a:solidFill>
              </a:rPr>
              <a:t>Août 2026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CC1350B-E508-81B1-EEBD-381C600F6AF7}"/>
              </a:ext>
            </a:extLst>
          </p:cNvPr>
          <p:cNvSpPr txBox="1"/>
          <p:nvPr/>
        </p:nvSpPr>
        <p:spPr>
          <a:xfrm>
            <a:off x="763772" y="2525564"/>
            <a:ext cx="1123861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Solution d’étiquetage automatique</a:t>
            </a:r>
          </a:p>
          <a:p>
            <a:pPr algn="r"/>
            <a:r>
              <a:rPr lang="fr-FR" sz="4400" dirty="0">
                <a:latin typeface="Segoe UI Black" panose="020B0A02040204020203" pitchFamily="34" charset="0"/>
                <a:ea typeface="Segoe UI Black" panose="020B0A02040204020203" pitchFamily="34" charset="0"/>
              </a:rPr>
              <a:t>LLM / ML</a:t>
            </a:r>
          </a:p>
        </p:txBody>
      </p:sp>
    </p:spTree>
    <p:extLst>
      <p:ext uri="{BB962C8B-B14F-4D97-AF65-F5344CB8AC3E}">
        <p14:creationId xmlns:p14="http://schemas.microsoft.com/office/powerpoint/2010/main" val="3865238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5CCCC7-B8DB-ADF3-5AF8-D124C6BC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30B59B-9256-F687-FB0F-F72677E2A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 : automatiser le routage des réclamations vers le bon service.</a:t>
            </a:r>
          </a:p>
          <a:p>
            <a:r>
              <a:rPr lang="fr-FR" dirty="0"/>
              <a:t>Approche: comparer un système de classification LLM et ML</a:t>
            </a:r>
          </a:p>
        </p:txBody>
      </p:sp>
    </p:spTree>
    <p:extLst>
      <p:ext uri="{BB962C8B-B14F-4D97-AF65-F5344CB8AC3E}">
        <p14:creationId xmlns:p14="http://schemas.microsoft.com/office/powerpoint/2010/main" val="418119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0CB97F-097E-0FEC-42EB-89420D60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360581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Analyse exploratoire des données</a:t>
            </a:r>
          </a:p>
        </p:txBody>
      </p:sp>
      <p:pic>
        <p:nvPicPr>
          <p:cNvPr id="2050" name="Picture 2" descr="Analyse exploratoire - Icônes ordinateur gratuites">
            <a:extLst>
              <a:ext uri="{FF2B5EF4-FFF2-40B4-BE49-F238E27FC236}">
                <a16:creationId xmlns:a16="http://schemas.microsoft.com/office/drawing/2014/main" id="{AD618C70-2F2B-E7F8-3413-9BB4F19C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731" y="1554126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818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10DBAC-37BB-75D7-2882-262E7BA33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DataFrame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2EE8EB-E893-A438-5DC8-BD9508881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Consumer Claim = Réclamation client (VARIABLE)</a:t>
            </a:r>
          </a:p>
          <a:p>
            <a:pPr marL="0" indent="0">
              <a:buNone/>
            </a:pPr>
            <a:r>
              <a:rPr lang="fr-FR" dirty="0"/>
              <a:t>Tag = Etiquette associée (CIBLE)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9743E58-9FE0-56DE-C92A-659BCB89C84F}"/>
              </a:ext>
            </a:extLst>
          </p:cNvPr>
          <p:cNvSpPr txBox="1"/>
          <p:nvPr/>
        </p:nvSpPr>
        <p:spPr>
          <a:xfrm>
            <a:off x="7833537" y="544652"/>
            <a:ext cx="407492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Très intéressantes</a:t>
            </a:r>
          </a:p>
          <a:p>
            <a:r>
              <a:rPr lang="fr-FR" dirty="0"/>
              <a:t>------------------</a:t>
            </a:r>
          </a:p>
          <a:p>
            <a:r>
              <a:rPr lang="fr-FR" dirty="0"/>
              <a:t>Tag</a:t>
            </a:r>
          </a:p>
          <a:p>
            <a:r>
              <a:rPr lang="fr-FR" dirty="0" err="1"/>
              <a:t>Company</a:t>
            </a:r>
            <a:endParaRPr lang="fr-FR" dirty="0"/>
          </a:p>
          <a:p>
            <a:r>
              <a:rPr lang="fr-FR" dirty="0"/>
              <a:t>Date </a:t>
            </a:r>
            <a:r>
              <a:rPr lang="fr-FR" dirty="0" err="1"/>
              <a:t>received</a:t>
            </a:r>
            <a:endParaRPr lang="fr-FR" dirty="0"/>
          </a:p>
          <a:p>
            <a:r>
              <a:rPr lang="fr-FR" dirty="0" err="1"/>
              <a:t>Submitted</a:t>
            </a:r>
            <a:r>
              <a:rPr lang="fr-FR" dirty="0"/>
              <a:t> via</a:t>
            </a:r>
          </a:p>
          <a:p>
            <a:endParaRPr lang="fr-FR" dirty="0"/>
          </a:p>
          <a:p>
            <a:r>
              <a:rPr lang="fr-FR" dirty="0"/>
              <a:t>Intéressantes</a:t>
            </a:r>
          </a:p>
          <a:p>
            <a:r>
              <a:rPr lang="fr-FR" dirty="0"/>
              <a:t>-------------</a:t>
            </a:r>
          </a:p>
          <a:p>
            <a:r>
              <a:rPr lang="fr-FR" dirty="0"/>
              <a:t>Tags</a:t>
            </a:r>
          </a:p>
          <a:p>
            <a:r>
              <a:rPr lang="fr-FR" dirty="0"/>
              <a:t>State</a:t>
            </a:r>
          </a:p>
          <a:p>
            <a:endParaRPr lang="fr-FR" dirty="0"/>
          </a:p>
          <a:p>
            <a:r>
              <a:rPr lang="fr-FR" dirty="0"/>
              <a:t>Potentiellement intéressantes</a:t>
            </a:r>
          </a:p>
          <a:p>
            <a:r>
              <a:rPr lang="fr-FR" dirty="0"/>
              <a:t>-----------------------------</a:t>
            </a:r>
          </a:p>
          <a:p>
            <a:r>
              <a:rPr lang="fr-FR" dirty="0"/>
              <a:t>ZIP code</a:t>
            </a:r>
          </a:p>
          <a:p>
            <a:r>
              <a:rPr lang="fr-FR" dirty="0"/>
              <a:t>Consumer consent </a:t>
            </a:r>
            <a:r>
              <a:rPr lang="fr-FR" dirty="0" err="1"/>
              <a:t>provided</a:t>
            </a:r>
            <a:r>
              <a:rPr lang="fr-FR" dirty="0"/>
              <a:t>?</a:t>
            </a:r>
          </a:p>
          <a:p>
            <a:endParaRPr lang="fr-FR" dirty="0"/>
          </a:p>
          <a:p>
            <a:r>
              <a:rPr lang="fr-FR" dirty="0"/>
              <a:t>À supprimer</a:t>
            </a:r>
          </a:p>
          <a:p>
            <a:r>
              <a:rPr lang="fr-FR" dirty="0"/>
              <a:t>-----------</a:t>
            </a:r>
          </a:p>
          <a:p>
            <a:r>
              <a:rPr lang="fr-FR" dirty="0"/>
              <a:t>Complaint ID</a:t>
            </a:r>
          </a:p>
        </p:txBody>
      </p:sp>
    </p:spTree>
    <p:extLst>
      <p:ext uri="{BB962C8B-B14F-4D97-AF65-F5344CB8AC3E}">
        <p14:creationId xmlns:p14="http://schemas.microsoft.com/office/powerpoint/2010/main" val="364819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7C94-B671-42C3-1737-1B8FAA818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AE9FDB-9593-9FAD-EBD2-EB411873A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87243"/>
            <a:ext cx="10515600" cy="3389719"/>
          </a:xfrm>
        </p:spPr>
        <p:txBody>
          <a:bodyPr>
            <a:normAutofit/>
          </a:bodyPr>
          <a:lstStyle/>
          <a:p>
            <a:r>
              <a:rPr lang="fr-FR" dirty="0"/>
              <a:t>Valeurs manquantes dans la variable 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Consumer Claim</a:t>
            </a:r>
          </a:p>
          <a:p>
            <a:r>
              <a:rPr lang="fr-FR" dirty="0"/>
              <a:t>Seule la </a:t>
            </a:r>
            <a:r>
              <a:rPr lang="fr-FR" b="1" dirty="0"/>
              <a:t>soumission «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Web</a:t>
            </a:r>
            <a:r>
              <a:rPr lang="fr-FR" dirty="0"/>
              <a:t> » contient des réclamations avec un texte</a:t>
            </a:r>
          </a:p>
          <a:p>
            <a:r>
              <a:rPr lang="fr-FR" dirty="0"/>
              <a:t>Seules les réclamations </a:t>
            </a:r>
            <a:r>
              <a:rPr lang="fr-FR" b="1" dirty="0"/>
              <a:t>avec consentement </a:t>
            </a:r>
            <a:r>
              <a:rPr lang="fr-FR" dirty="0"/>
              <a:t>contiennent un texte</a:t>
            </a:r>
          </a:p>
          <a:p>
            <a:r>
              <a:rPr lang="fr-FR" dirty="0"/>
              <a:t>Les valeurs manquantes semblent donc potentiellement structurelles plutôt qu'aléatoires</a:t>
            </a:r>
          </a:p>
          <a:p>
            <a:r>
              <a:rPr lang="fr-FR" dirty="0"/>
              <a:t>70% des valeurs sont manquantes</a:t>
            </a:r>
          </a:p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6F9D9E8-DDEC-908D-ABCC-7B1C0733DF8D}"/>
              </a:ext>
            </a:extLst>
          </p:cNvPr>
          <p:cNvSpPr txBox="1">
            <a:spLocks/>
          </p:cNvSpPr>
          <p:nvPr/>
        </p:nvSpPr>
        <p:spPr>
          <a:xfrm>
            <a:off x="1524000" y="365679"/>
            <a:ext cx="9144000" cy="96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 u="sng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Variable(s)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43F918-F80D-EC94-B2A5-A74BEF1CF7E4}"/>
              </a:ext>
            </a:extLst>
          </p:cNvPr>
          <p:cNvSpPr txBox="1"/>
          <p:nvPr/>
        </p:nvSpPr>
        <p:spPr>
          <a:xfrm>
            <a:off x="3047114" y="1614803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15 colonnes dont </a:t>
            </a:r>
            <a:r>
              <a:rPr lang="fr-FR" i="1" dirty="0">
                <a:solidFill>
                  <a:schemeClr val="accent2">
                    <a:lumMod val="75000"/>
                  </a:schemeClr>
                </a:solidFill>
              </a:rPr>
              <a:t>Consumer Claim </a:t>
            </a:r>
            <a:r>
              <a:rPr lang="fr-FR" sz="1800" dirty="0"/>
              <a:t>est la principale variable de prédiction pour identifier l’étiquette à assigner</a:t>
            </a:r>
          </a:p>
        </p:txBody>
      </p:sp>
    </p:spTree>
    <p:extLst>
      <p:ext uri="{BB962C8B-B14F-4D97-AF65-F5344CB8AC3E}">
        <p14:creationId xmlns:p14="http://schemas.microsoft.com/office/powerpoint/2010/main" val="44629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115817-FDF6-900F-9B3C-4963B9B73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Certaines catégories sont des sous ensembles d’autres catégories pouvant prêter à confusion</a:t>
            </a:r>
          </a:p>
          <a:p>
            <a:r>
              <a:rPr lang="fr-FR" dirty="0"/>
              <a:t>Les </a:t>
            </a:r>
            <a:r>
              <a:rPr lang="fr-FR" b="1" dirty="0"/>
              <a:t>anciennes nomenclatures </a:t>
            </a:r>
            <a:r>
              <a:rPr lang="fr-FR" dirty="0"/>
              <a:t>sont </a:t>
            </a:r>
            <a:r>
              <a:rPr lang="fr-FR" b="1" dirty="0"/>
              <a:t>généralement incluses </a:t>
            </a:r>
            <a:r>
              <a:rPr lang="fr-FR" dirty="0"/>
              <a:t>dans les nouvelles (plus fournies)</a:t>
            </a:r>
          </a:p>
          <a:p>
            <a:r>
              <a:rPr lang="fr-FR" b="1" dirty="0"/>
              <a:t>LLM ne doit pas avoir à prendre une décision artificielle </a:t>
            </a:r>
            <a:r>
              <a:rPr lang="fr-FR" dirty="0"/>
              <a:t>entre deux catégories qui correspondent simplement à deux versions historiques de la nomenclature</a:t>
            </a:r>
          </a:p>
          <a:p>
            <a:r>
              <a:rPr lang="fr-FR" dirty="0"/>
              <a:t>Exception de « </a:t>
            </a:r>
            <a:r>
              <a:rPr lang="fr-FR" b="1" dirty="0"/>
              <a:t>Consumer Loan </a:t>
            </a:r>
            <a:r>
              <a:rPr lang="fr-FR" dirty="0"/>
              <a:t>» dont le sens métier doit être définit par rapport à « </a:t>
            </a:r>
            <a:r>
              <a:rPr lang="en-US" b="1" dirty="0"/>
              <a:t>Payday loan, title loan, or personal loan</a:t>
            </a:r>
            <a:r>
              <a:rPr lang="fr-FR" b="1" dirty="0"/>
              <a:t> </a:t>
            </a:r>
            <a:r>
              <a:rPr lang="fr-FR" dirty="0"/>
              <a:t>»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0E3862B-4D17-A85F-5E51-6083E4D86581}"/>
              </a:ext>
            </a:extLst>
          </p:cNvPr>
          <p:cNvSpPr txBox="1">
            <a:spLocks/>
          </p:cNvSpPr>
          <p:nvPr/>
        </p:nvSpPr>
        <p:spPr>
          <a:xfrm>
            <a:off x="1524000" y="365679"/>
            <a:ext cx="9144000" cy="9616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lnSpc>
                <a:spcPct val="90000"/>
              </a:lnSpc>
              <a:spcBef>
                <a:spcPct val="0"/>
              </a:spcBef>
              <a:buNone/>
              <a:defRPr sz="6000" u="sng"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Cible (catégorie)</a:t>
            </a:r>
          </a:p>
        </p:txBody>
      </p:sp>
    </p:spTree>
    <p:extLst>
      <p:ext uri="{BB962C8B-B14F-4D97-AF65-F5344CB8AC3E}">
        <p14:creationId xmlns:p14="http://schemas.microsoft.com/office/powerpoint/2010/main" val="2964250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1C63-B589-571E-98AE-05E8ED47E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1F03410F-C6C0-88B6-E9B9-F239740F9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4" t="12720" r="11565" b="10083"/>
          <a:stretch>
            <a:fillRect/>
          </a:stretch>
        </p:blipFill>
        <p:spPr>
          <a:xfrm>
            <a:off x="8735478" y="5003043"/>
            <a:ext cx="2355218" cy="17877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86E0A8D-CB0A-B2AB-137B-9805AF52F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5679"/>
            <a:ext cx="9144000" cy="961618"/>
          </a:xfrm>
        </p:spPr>
        <p:txBody>
          <a:bodyPr/>
          <a:lstStyle/>
          <a:p>
            <a:r>
              <a:rPr lang="fr-FR" u="sng" dirty="0"/>
              <a:t>Cible (catégorie)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EC9766-7877-6612-4E2D-4B18A58FA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49680"/>
            <a:ext cx="5536018" cy="1257041"/>
          </a:xfrm>
          <a:solidFill>
            <a:schemeClr val="accent2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r>
              <a:rPr lang="fr-FR" dirty="0"/>
              <a:t>2011 à 2016</a:t>
            </a:r>
          </a:p>
          <a:p>
            <a:r>
              <a:rPr lang="fr-FR" dirty="0"/>
              <a:t> Ancienne Nomenclature</a:t>
            </a:r>
          </a:p>
          <a:p>
            <a:r>
              <a:rPr lang="fr-FR" dirty="0"/>
              <a:t>(plus détaillé)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44C90DDE-E233-1253-6B7A-B3E690DA10C0}"/>
              </a:ext>
            </a:extLst>
          </p:cNvPr>
          <p:cNvSpPr txBox="1">
            <a:spLocks/>
          </p:cNvSpPr>
          <p:nvPr/>
        </p:nvSpPr>
        <p:spPr>
          <a:xfrm>
            <a:off x="7060018" y="2049681"/>
            <a:ext cx="3607981" cy="12570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2017 à 2019</a:t>
            </a:r>
          </a:p>
          <a:p>
            <a:r>
              <a:rPr lang="fr-FR" dirty="0"/>
              <a:t>Nouvelle Nomenclature</a:t>
            </a:r>
          </a:p>
          <a:p>
            <a:r>
              <a:rPr lang="fr-FR" dirty="0"/>
              <a:t>(plus généraliste)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B55D0B1D-6B89-AA49-7573-8DE0C1828AFF}"/>
              </a:ext>
            </a:extLst>
          </p:cNvPr>
          <p:cNvSpPr txBox="1">
            <a:spLocks/>
          </p:cNvSpPr>
          <p:nvPr/>
        </p:nvSpPr>
        <p:spPr>
          <a:xfrm>
            <a:off x="2867246" y="4186824"/>
            <a:ext cx="3703675" cy="13893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Remplace les anciennes catégories par les nouvelles</a:t>
            </a:r>
          </a:p>
          <a:p>
            <a:endParaRPr lang="fr-FR" sz="2800" b="1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Images sur Supprimer : Téléchargement gratuit sur Magnific (anciennement  Freepik)">
            <a:extLst>
              <a:ext uri="{FF2B5EF4-FFF2-40B4-BE49-F238E27FC236}">
                <a16:creationId xmlns:a16="http://schemas.microsoft.com/office/drawing/2014/main" id="{6426B220-CE0B-29C7-D006-78A78F50F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37" y="3504568"/>
            <a:ext cx="2392326" cy="239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50E3995-0EB7-A592-C349-723F39E8FFF6}"/>
              </a:ext>
            </a:extLst>
          </p:cNvPr>
          <p:cNvSpPr/>
          <p:nvPr/>
        </p:nvSpPr>
        <p:spPr>
          <a:xfrm>
            <a:off x="6868630" y="4369978"/>
            <a:ext cx="1158949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6B9A69D7-E143-4867-EC2B-A6A0FD64C6CF}"/>
              </a:ext>
            </a:extLst>
          </p:cNvPr>
          <p:cNvSpPr txBox="1">
            <a:spLocks/>
          </p:cNvSpPr>
          <p:nvPr/>
        </p:nvSpPr>
        <p:spPr>
          <a:xfrm>
            <a:off x="8172891" y="4190370"/>
            <a:ext cx="3480393" cy="13893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Tag devient une catégorie unique</a:t>
            </a:r>
          </a:p>
          <a:p>
            <a:endParaRPr lang="fr-FR" sz="28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069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DFB690-A046-0763-0BE7-A07B84B0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 sz="6000" u="sng" dirty="0"/>
              <a:t>Dispersion Texte / Catégorie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E0763A6-65DE-2E9C-A72F-AEFD7BFBA2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5869442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2283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Indicateur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Résultat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522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Réclamations avec texte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383 564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604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uniques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/>
                        <a:t>366 945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210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répétés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/>
                        <a:t>16 619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74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associés à 1 seule catégorie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/>
                        <a:t>366 781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92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associés à 2 catégories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/>
                        <a:t>152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597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associés à 3 catégories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/>
                        <a:t>11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303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Textes associés à 5 catégories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1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29655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C61CB05-4176-A71B-1B88-3E1795220B00}"/>
              </a:ext>
            </a:extLst>
          </p:cNvPr>
          <p:cNvSpPr/>
          <p:nvPr/>
        </p:nvSpPr>
        <p:spPr>
          <a:xfrm>
            <a:off x="838200" y="4381500"/>
            <a:ext cx="10515600" cy="108283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1476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0C72A-6975-F8C3-D588-A84C967A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6000" u="sng" dirty="0" err="1"/>
              <a:t>Dataset</a:t>
            </a:r>
            <a:endParaRPr lang="fr-FR" sz="6000" u="sng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B14DB11-00B6-6475-8EA7-14A9E9B99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270293"/>
              </p:ext>
            </p:extLst>
          </p:nvPr>
        </p:nvGraphicFramePr>
        <p:xfrm>
          <a:off x="660400" y="1739900"/>
          <a:ext cx="11023600" cy="4905372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6959600">
                  <a:extLst>
                    <a:ext uri="{9D8B030D-6E8A-4147-A177-3AD203B41FA5}">
                      <a16:colId xmlns:a16="http://schemas.microsoft.com/office/drawing/2014/main" val="352620805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96497133"/>
                    </a:ext>
                  </a:extLst>
                </a:gridCol>
              </a:tblGrid>
              <a:tr h="5674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combien de réclamations ?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1.282,355 (~ 400 / jours)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973425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combien de catégories ?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 (10 normalisé)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924686"/>
                  </a:ext>
                </a:extLst>
              </a:tr>
              <a:tr h="658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quelle est la répartition des catégories ?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un déséquilibre très important des classes. 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844308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quelle proportion de Consumer Claim est manquante ?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898,791 (70%) reste 383,564 textes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708950"/>
                  </a:ext>
                </a:extLst>
              </a:tr>
              <a:tr h="658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les valeurs manquantes dépendent-elles de Submitted via ?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Oui: Uniquement </a:t>
                      </a:r>
                      <a:r>
                        <a:rPr lang="fr-FR" sz="18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Submitted</a:t>
                      </a: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via Web renseigne un texte (et seulement 40%)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9580647"/>
                  </a:ext>
                </a:extLst>
              </a:tr>
              <a:tr h="658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les valeurs manquantes dépendent-elles de Consumer consent </a:t>
                      </a:r>
                      <a:r>
                        <a:rPr lang="fr-FR" sz="1800" b="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provided</a:t>
                      </a: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 ?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Oui: 99% des textes renseignés définissent Consent provided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67778"/>
                  </a:ext>
                </a:extLst>
              </a:tr>
              <a:tr h="658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quelle longueur ont les réclamations ?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>
                          <a:solidFill>
                            <a:schemeClr val="bg1"/>
                          </a:solidFill>
                          <a:effectLst/>
                        </a:rPr>
                        <a:t>Une réclamation renseignée contient en moyenne environ 1 082 caractères.</a:t>
                      </a:r>
                      <a:endParaRPr lang="fr-F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9985"/>
                  </a:ext>
                </a:extLst>
              </a:tr>
              <a:tr h="5674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existe-t-il des doublons parmi les réclamations ?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Oui: 16,619 (~1%)</a:t>
                      </a:r>
                      <a:endParaRPr lang="fr-F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08000" marR="252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78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860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387BAE-1479-8FE5-7C51-ACB6677B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Split train / test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79386C9-9156-2BDB-6415-CF3DD948EB0C}"/>
              </a:ext>
            </a:extLst>
          </p:cNvPr>
          <p:cNvSpPr txBox="1"/>
          <p:nvPr/>
        </p:nvSpPr>
        <p:spPr>
          <a:xfrm>
            <a:off x="5257800" y="2109584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/>
              <a:t>20 % des données pour le test</a:t>
            </a:r>
          </a:p>
          <a:p>
            <a:pPr lvl="2"/>
            <a:r>
              <a:rPr lang="fr-FR" sz="2800" dirty="0"/>
              <a:t>=&gt; 76 700 réclamations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/>
              <a:t>80 % restants pour l'entraînement</a:t>
            </a:r>
          </a:p>
          <a:p>
            <a:pPr marL="1200150" lvl="2" indent="-285750">
              <a:buFont typeface="Symbol" panose="05050102010706020507" pitchFamily="18" charset="2"/>
              <a:buChar char="Þ"/>
            </a:pPr>
            <a:r>
              <a:rPr lang="fr-FR" sz="2800" dirty="0"/>
              <a:t>306 800 réclamations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/>
              <a:t>Tirage aléatoire avec </a:t>
            </a:r>
            <a:r>
              <a:rPr lang="fr-FR" sz="2800" b="1" dirty="0" err="1"/>
              <a:t>seed</a:t>
            </a:r>
            <a:r>
              <a:rPr lang="fr-FR" sz="2800" b="1" dirty="0"/>
              <a:t> pour reproduire l'expérience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b="1" dirty="0"/>
              <a:t>Conserver</a:t>
            </a:r>
            <a:r>
              <a:rPr lang="fr-FR" sz="2800" dirty="0"/>
              <a:t> </a:t>
            </a:r>
            <a:r>
              <a:rPr lang="fr-FR" sz="2800" b="1" dirty="0"/>
              <a:t>les mêmes proportions de chaque catégorie dans le train et dans le test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1D3656-2410-C07C-A500-B61473E9B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918280"/>
            <a:ext cx="4419600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58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C2C2-4E49-C851-E469-6931F2B3B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1DDA4-0747-AD4E-47D4-FF5F68CC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Les métriques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SCORES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080" name="Picture 8" descr="Succès métrique icône pour la toile, application, infographie, etc 45630880  Art vectoriel chez Vecteezy">
            <a:extLst>
              <a:ext uri="{FF2B5EF4-FFF2-40B4-BE49-F238E27FC236}">
                <a16:creationId xmlns:a16="http://schemas.microsoft.com/office/drawing/2014/main" id="{79090343-9D4D-703D-F46C-00A3D261C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855" y="1956391"/>
            <a:ext cx="4465674" cy="446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00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042BD-93A0-DAB6-8F58-1A73789C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Métriques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44CC8-D55D-75FD-115F-ECFAEEC09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626" y="1924465"/>
            <a:ext cx="4813300" cy="4247735"/>
          </a:xfrm>
        </p:spPr>
        <p:txBody>
          <a:bodyPr>
            <a:normAutofit fontScale="92500" lnSpcReduction="20000"/>
          </a:bodyPr>
          <a:lstStyle/>
          <a:p>
            <a:r>
              <a:rPr lang="fr-FR" dirty="0" err="1"/>
              <a:t>Accuracy</a:t>
            </a:r>
            <a:r>
              <a:rPr lang="fr-FR" dirty="0"/>
              <a:t> (%)</a:t>
            </a:r>
          </a:p>
          <a:p>
            <a:r>
              <a:rPr lang="fr-FR" dirty="0" err="1"/>
              <a:t>Precision</a:t>
            </a:r>
            <a:r>
              <a:rPr lang="fr-FR" dirty="0"/>
              <a:t> (macro) (%)</a:t>
            </a:r>
          </a:p>
          <a:p>
            <a:r>
              <a:rPr lang="fr-FR" dirty="0" err="1"/>
              <a:t>Recall</a:t>
            </a:r>
            <a:r>
              <a:rPr lang="fr-FR" dirty="0"/>
              <a:t> (macro) (%)</a:t>
            </a:r>
          </a:p>
          <a:p>
            <a:r>
              <a:rPr lang="fr-FR" dirty="0"/>
              <a:t>F1 (macro) (%)</a:t>
            </a:r>
          </a:p>
          <a:p>
            <a:r>
              <a:rPr lang="fr-FR" dirty="0" err="1"/>
              <a:t>Precision</a:t>
            </a:r>
            <a:r>
              <a:rPr lang="fr-FR" dirty="0"/>
              <a:t> (</a:t>
            </a:r>
            <a:r>
              <a:rPr lang="fr-FR" dirty="0" err="1"/>
              <a:t>weighted</a:t>
            </a:r>
            <a:r>
              <a:rPr lang="fr-FR" dirty="0"/>
              <a:t>) </a:t>
            </a:r>
          </a:p>
          <a:p>
            <a:r>
              <a:rPr lang="fr-FR" dirty="0" err="1"/>
              <a:t>Recall</a:t>
            </a:r>
            <a:r>
              <a:rPr lang="fr-FR" dirty="0"/>
              <a:t> (</a:t>
            </a:r>
            <a:r>
              <a:rPr lang="fr-FR" dirty="0" err="1"/>
              <a:t>weighted</a:t>
            </a:r>
            <a:r>
              <a:rPr lang="fr-FR" dirty="0"/>
              <a:t>)</a:t>
            </a:r>
          </a:p>
          <a:p>
            <a:r>
              <a:rPr lang="fr-FR" dirty="0"/>
              <a:t>F1 (</a:t>
            </a:r>
            <a:r>
              <a:rPr lang="fr-FR" dirty="0" err="1"/>
              <a:t>weighted</a:t>
            </a:r>
            <a:r>
              <a:rPr lang="fr-FR" dirty="0"/>
              <a:t>)</a:t>
            </a:r>
          </a:p>
          <a:p>
            <a:r>
              <a:rPr lang="fr-FR" dirty="0"/>
              <a:t>Temps moyen (s)</a:t>
            </a:r>
          </a:p>
          <a:p>
            <a:r>
              <a:rPr lang="fr-FR" dirty="0"/>
              <a:t>Temps médian (s)</a:t>
            </a:r>
          </a:p>
          <a:p>
            <a:r>
              <a:rPr lang="fr-FR" dirty="0"/>
              <a:t>Temps P95 (s)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89AD26-BEAA-7A40-8CDD-CB8A4D546545}"/>
              </a:ext>
            </a:extLst>
          </p:cNvPr>
          <p:cNvSpPr txBox="1"/>
          <p:nvPr/>
        </p:nvSpPr>
        <p:spPr>
          <a:xfrm>
            <a:off x="2461777" y="3079751"/>
            <a:ext cx="206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/>
              <a:t>Métrique principale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F51975-8232-7EBE-B9A1-2896AB80018E}"/>
              </a:ext>
            </a:extLst>
          </p:cNvPr>
          <p:cNvSpPr txBox="1"/>
          <p:nvPr/>
        </p:nvSpPr>
        <p:spPr>
          <a:xfrm>
            <a:off x="2218576" y="1881188"/>
            <a:ext cx="2308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/>
              <a:t>Métrique secondaire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6C2F5112-FE9F-D71A-DDB5-832722E77ADF}"/>
              </a:ext>
            </a:extLst>
          </p:cNvPr>
          <p:cNvCxnSpPr/>
          <p:nvPr/>
        </p:nvCxnSpPr>
        <p:spPr>
          <a:xfrm>
            <a:off x="2070100" y="2250520"/>
            <a:ext cx="781050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49E0545-1A2F-295F-591C-36C615459BB3}"/>
              </a:ext>
            </a:extLst>
          </p:cNvPr>
          <p:cNvCxnSpPr/>
          <p:nvPr/>
        </p:nvCxnSpPr>
        <p:spPr>
          <a:xfrm>
            <a:off x="2070100" y="3441700"/>
            <a:ext cx="781050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270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1F45C-DBFB-59D2-5A3E-98F17293F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LM or large language model icon for AI website and apps 63132258 Vector  Art at Vecteezy">
            <a:extLst>
              <a:ext uri="{FF2B5EF4-FFF2-40B4-BE49-F238E27FC236}">
                <a16:creationId xmlns:a16="http://schemas.microsoft.com/office/drawing/2014/main" id="{301584CD-F61F-5D13-D2BB-21FEF5A8F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149" y="1562985"/>
            <a:ext cx="5116830" cy="503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DDB4469-838C-09F1-F352-BA5D5DFA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Implémentation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L’approche </a:t>
            </a: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LLM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37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E4439-9561-207C-7C8C-812EADE91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5BAE3-F0D0-87D1-D615-23C4DD33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Approche LLM</a:t>
            </a:r>
            <a:endParaRPr lang="fr-FR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433223D3-CCC3-E07E-FEC8-7FDFF43C1C0E}"/>
              </a:ext>
            </a:extLst>
          </p:cNvPr>
          <p:cNvSpPr txBox="1">
            <a:spLocks/>
          </p:cNvSpPr>
          <p:nvPr/>
        </p:nvSpPr>
        <p:spPr>
          <a:xfrm>
            <a:off x="1665768" y="1794499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 err="1">
                <a:solidFill>
                  <a:sysClr val="windowText" lastClr="000000"/>
                </a:solidFill>
              </a:rPr>
              <a:t>X_train</a:t>
            </a:r>
            <a:endParaRPr lang="fr-FR" sz="2800" b="1" dirty="0">
              <a:solidFill>
                <a:sysClr val="windowText" lastClr="000000"/>
              </a:solidFill>
            </a:endParaRPr>
          </a:p>
          <a:p>
            <a:endParaRPr lang="fr-FR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5DDC3051-3358-9EFB-4150-393E0A26DFA7}"/>
              </a:ext>
            </a:extLst>
          </p:cNvPr>
          <p:cNvSpPr/>
          <p:nvPr/>
        </p:nvSpPr>
        <p:spPr>
          <a:xfrm rot="5400000">
            <a:off x="2315607" y="2345459"/>
            <a:ext cx="660258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86D32DCE-24AD-9413-21A8-B1BA6502B6EF}"/>
              </a:ext>
            </a:extLst>
          </p:cNvPr>
          <p:cNvSpPr txBox="1">
            <a:spLocks/>
          </p:cNvSpPr>
          <p:nvPr/>
        </p:nvSpPr>
        <p:spPr>
          <a:xfrm>
            <a:off x="1665768" y="3231405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 err="1">
                <a:solidFill>
                  <a:sysClr val="windowText" lastClr="000000"/>
                </a:solidFill>
              </a:rPr>
              <a:t>Faiss</a:t>
            </a:r>
            <a:endParaRPr lang="fr-FR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D918D3A1-D7D8-9052-B814-39299D0D5A9C}"/>
              </a:ext>
            </a:extLst>
          </p:cNvPr>
          <p:cNvSpPr/>
          <p:nvPr/>
        </p:nvSpPr>
        <p:spPr>
          <a:xfrm rot="5400000">
            <a:off x="2315606" y="3782365"/>
            <a:ext cx="660259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ACF8244E-FDBF-415C-FA50-7B1F216824F0}"/>
              </a:ext>
            </a:extLst>
          </p:cNvPr>
          <p:cNvSpPr txBox="1">
            <a:spLocks/>
          </p:cNvSpPr>
          <p:nvPr/>
        </p:nvSpPr>
        <p:spPr>
          <a:xfrm>
            <a:off x="1665767" y="4630211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prompt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5055341C-544E-C42F-C9C3-0E8F759A282E}"/>
              </a:ext>
            </a:extLst>
          </p:cNvPr>
          <p:cNvSpPr txBox="1">
            <a:spLocks/>
          </p:cNvSpPr>
          <p:nvPr/>
        </p:nvSpPr>
        <p:spPr>
          <a:xfrm>
            <a:off x="4192770" y="4630211"/>
            <a:ext cx="7747593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Classification par prompt avec exemples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FB5F0CCD-F181-7852-444C-5A6B91A7D381}"/>
              </a:ext>
            </a:extLst>
          </p:cNvPr>
          <p:cNvSpPr txBox="1">
            <a:spLocks/>
          </p:cNvSpPr>
          <p:nvPr/>
        </p:nvSpPr>
        <p:spPr>
          <a:xfrm>
            <a:off x="4192770" y="3231405"/>
            <a:ext cx="7747593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Vectorise le jeu d’entrainement pour extraire des exemples pertinents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2DF4AA5F-B1CB-5819-5E50-97D34C34E055}"/>
              </a:ext>
            </a:extLst>
          </p:cNvPr>
          <p:cNvSpPr txBox="1">
            <a:spLocks/>
          </p:cNvSpPr>
          <p:nvPr/>
        </p:nvSpPr>
        <p:spPr>
          <a:xfrm>
            <a:off x="4192770" y="1794499"/>
            <a:ext cx="7747593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Jeu d’entrainement filtré (~80,000 lignes)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88AAC20A-EF2D-5E76-23C8-57BC2C8FB12A}"/>
              </a:ext>
            </a:extLst>
          </p:cNvPr>
          <p:cNvSpPr/>
          <p:nvPr/>
        </p:nvSpPr>
        <p:spPr>
          <a:xfrm rot="5400000">
            <a:off x="2338825" y="5157950"/>
            <a:ext cx="613820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110581D0-ED33-6AD0-D853-7B6A3FBA41CE}"/>
              </a:ext>
            </a:extLst>
          </p:cNvPr>
          <p:cNvSpPr txBox="1">
            <a:spLocks/>
          </p:cNvSpPr>
          <p:nvPr/>
        </p:nvSpPr>
        <p:spPr>
          <a:xfrm>
            <a:off x="1665766" y="5946362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TAG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5D5EE8A6-FA82-79ED-2FCC-227B7701BF90}"/>
              </a:ext>
            </a:extLst>
          </p:cNvPr>
          <p:cNvSpPr txBox="1">
            <a:spLocks/>
          </p:cNvSpPr>
          <p:nvPr/>
        </p:nvSpPr>
        <p:spPr>
          <a:xfrm>
            <a:off x="4192769" y="5946362"/>
            <a:ext cx="6794205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Catégorie</a:t>
            </a:r>
          </a:p>
        </p:txBody>
      </p:sp>
    </p:spTree>
    <p:extLst>
      <p:ext uri="{BB962C8B-B14F-4D97-AF65-F5344CB8AC3E}">
        <p14:creationId xmlns:p14="http://schemas.microsoft.com/office/powerpoint/2010/main" val="3310418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18FFC-EA89-2EBB-B60C-317654A9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BCE8A0-2B0A-79CE-2554-15CCA4AB6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Approche LLM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0E9823-F860-FFCB-D087-E8983341C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classification par prompt, few-shot et few-shot dynamique avec FAISS</a:t>
            </a:r>
          </a:p>
        </p:txBody>
      </p:sp>
    </p:spTree>
    <p:extLst>
      <p:ext uri="{BB962C8B-B14F-4D97-AF65-F5344CB8AC3E}">
        <p14:creationId xmlns:p14="http://schemas.microsoft.com/office/powerpoint/2010/main" val="2728294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6A7FBD23-4FB5-4D64-D098-F9BA46CD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85" y="2558424"/>
            <a:ext cx="10794027" cy="2673975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6005B1D-AC92-C379-9562-8AB029E2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Approche LLM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EF4E60-A0CC-4334-F459-3A1D25315BE7}"/>
              </a:ext>
            </a:extLst>
          </p:cNvPr>
          <p:cNvSpPr/>
          <p:nvPr/>
        </p:nvSpPr>
        <p:spPr>
          <a:xfrm>
            <a:off x="648486" y="4199860"/>
            <a:ext cx="10778626" cy="37214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816E5B-F882-6DAD-DA0B-F378BB66B04D}"/>
              </a:ext>
            </a:extLst>
          </p:cNvPr>
          <p:cNvSpPr txBox="1"/>
          <p:nvPr/>
        </p:nvSpPr>
        <p:spPr>
          <a:xfrm rot="19347141">
            <a:off x="9226403" y="1623405"/>
            <a:ext cx="206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Métrique principale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69927C8-0A6B-EE47-4273-BA21A27DFBBC}"/>
              </a:ext>
            </a:extLst>
          </p:cNvPr>
          <p:cNvSpPr txBox="1"/>
          <p:nvPr/>
        </p:nvSpPr>
        <p:spPr>
          <a:xfrm rot="19347141">
            <a:off x="8035176" y="1549299"/>
            <a:ext cx="2308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Métrique secondaire</a:t>
            </a:r>
          </a:p>
        </p:txBody>
      </p:sp>
    </p:spTree>
    <p:extLst>
      <p:ext uri="{BB962C8B-B14F-4D97-AF65-F5344CB8AC3E}">
        <p14:creationId xmlns:p14="http://schemas.microsoft.com/office/powerpoint/2010/main" val="1951474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399C-C410-2002-6A3F-F4BE9AFA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7E6C8-007C-76AE-D004-5A876F7C1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Analyse par catégorie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E637B8-8360-2C45-1748-8E33EFD6A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94755"/>
            <a:ext cx="10704275" cy="356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4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336A1-9489-38FC-CFC0-F1470FFA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achine Learning Certified Professional (MLCP)">
            <a:extLst>
              <a:ext uri="{FF2B5EF4-FFF2-40B4-BE49-F238E27FC236}">
                <a16:creationId xmlns:a16="http://schemas.microsoft.com/office/drawing/2014/main" id="{E0159E87-2505-5F28-A71E-3E9EAA5E70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2" r="19121"/>
          <a:stretch>
            <a:fillRect/>
          </a:stretch>
        </p:blipFill>
        <p:spPr bwMode="auto">
          <a:xfrm>
            <a:off x="7804298" y="0"/>
            <a:ext cx="43593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2ABA96C-0BF8-98F9-09DF-02D9BC1A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Implémentation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L’approche </a:t>
            </a: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ML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419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A7270-7718-F18D-E911-C4ABC1A6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Approche ML</a:t>
            </a:r>
            <a:endParaRPr lang="fr-FR" dirty="0"/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5B84969B-8B0F-DC1D-C65B-75CCE3E9DDB5}"/>
              </a:ext>
            </a:extLst>
          </p:cNvPr>
          <p:cNvSpPr txBox="1">
            <a:spLocks/>
          </p:cNvSpPr>
          <p:nvPr/>
        </p:nvSpPr>
        <p:spPr>
          <a:xfrm>
            <a:off x="1665768" y="1794499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 err="1">
                <a:solidFill>
                  <a:sysClr val="windowText" lastClr="000000"/>
                </a:solidFill>
              </a:rPr>
              <a:t>X_train</a:t>
            </a:r>
            <a:endParaRPr lang="fr-FR" sz="2800" b="1" dirty="0">
              <a:solidFill>
                <a:sysClr val="windowText" lastClr="000000"/>
              </a:solidFill>
            </a:endParaRPr>
          </a:p>
          <a:p>
            <a:endParaRPr lang="fr-FR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7ACFE93B-6DAF-A440-8F62-99F8C5A3BFE2}"/>
              </a:ext>
            </a:extLst>
          </p:cNvPr>
          <p:cNvSpPr/>
          <p:nvPr/>
        </p:nvSpPr>
        <p:spPr>
          <a:xfrm rot="5400000">
            <a:off x="2338825" y="2314813"/>
            <a:ext cx="613821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780A6DB8-BFEF-1877-827D-A72706BB9E18}"/>
              </a:ext>
            </a:extLst>
          </p:cNvPr>
          <p:cNvSpPr txBox="1">
            <a:spLocks/>
          </p:cNvSpPr>
          <p:nvPr/>
        </p:nvSpPr>
        <p:spPr>
          <a:xfrm>
            <a:off x="1665768" y="3103224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TF-IDF</a:t>
            </a:r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A5B7F632-9D76-4616-6A1A-E838712F86BC}"/>
              </a:ext>
            </a:extLst>
          </p:cNvPr>
          <p:cNvSpPr/>
          <p:nvPr/>
        </p:nvSpPr>
        <p:spPr>
          <a:xfrm rot="5400000">
            <a:off x="2338825" y="3623538"/>
            <a:ext cx="613821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6767FB5C-5BB8-3FAE-4697-04C10860C416}"/>
              </a:ext>
            </a:extLst>
          </p:cNvPr>
          <p:cNvSpPr txBox="1">
            <a:spLocks/>
          </p:cNvSpPr>
          <p:nvPr/>
        </p:nvSpPr>
        <p:spPr>
          <a:xfrm>
            <a:off x="1665767" y="4411949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classifier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96F891FE-397A-E407-DA4D-021BD667BF6C}"/>
              </a:ext>
            </a:extLst>
          </p:cNvPr>
          <p:cNvSpPr txBox="1">
            <a:spLocks/>
          </p:cNvSpPr>
          <p:nvPr/>
        </p:nvSpPr>
        <p:spPr>
          <a:xfrm>
            <a:off x="4192770" y="4458022"/>
            <a:ext cx="6794205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 err="1">
                <a:solidFill>
                  <a:schemeClr val="accent4">
                    <a:lumMod val="75000"/>
                  </a:schemeClr>
                </a:solidFill>
              </a:rPr>
              <a:t>Logistic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fr-FR" sz="2800" b="1" dirty="0" err="1">
                <a:solidFill>
                  <a:schemeClr val="accent4">
                    <a:lumMod val="75000"/>
                  </a:schemeClr>
                </a:solidFill>
              </a:rPr>
              <a:t>Regression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fr-FR" sz="2800" b="1" dirty="0" err="1">
                <a:solidFill>
                  <a:schemeClr val="accent4">
                    <a:lumMod val="75000"/>
                  </a:schemeClr>
                </a:solidFill>
              </a:rPr>
              <a:t>Linear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 SVC, </a:t>
            </a:r>
            <a:r>
              <a:rPr lang="fr-FR" sz="2800" b="1" dirty="0" err="1">
                <a:solidFill>
                  <a:schemeClr val="accent4">
                    <a:lumMod val="75000"/>
                  </a:schemeClr>
                </a:solidFill>
              </a:rPr>
              <a:t>Complement</a:t>
            </a:r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 NB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443BFE38-1CCD-1F9C-EBEC-17C8738C7DA2}"/>
              </a:ext>
            </a:extLst>
          </p:cNvPr>
          <p:cNvSpPr txBox="1">
            <a:spLocks/>
          </p:cNvSpPr>
          <p:nvPr/>
        </p:nvSpPr>
        <p:spPr>
          <a:xfrm>
            <a:off x="4192770" y="3110310"/>
            <a:ext cx="6794205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Vectorise les variables d’entrées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BE15534B-4F9E-9B48-9466-3CFF6DE00E03}"/>
              </a:ext>
            </a:extLst>
          </p:cNvPr>
          <p:cNvSpPr txBox="1">
            <a:spLocks/>
          </p:cNvSpPr>
          <p:nvPr/>
        </p:nvSpPr>
        <p:spPr>
          <a:xfrm>
            <a:off x="4192770" y="1794499"/>
            <a:ext cx="6794205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Jeu d’entrainement filtré (~80,000 lignes)</a:t>
            </a: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9BD66BE9-067A-244F-931A-E8A4301F3EEE}"/>
              </a:ext>
            </a:extLst>
          </p:cNvPr>
          <p:cNvSpPr/>
          <p:nvPr/>
        </p:nvSpPr>
        <p:spPr>
          <a:xfrm rot="5400000">
            <a:off x="2338825" y="4932262"/>
            <a:ext cx="613820" cy="7702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F352896E-03CF-ADDA-6247-FA00FC2AE61F}"/>
              </a:ext>
            </a:extLst>
          </p:cNvPr>
          <p:cNvSpPr txBox="1">
            <a:spLocks/>
          </p:cNvSpPr>
          <p:nvPr/>
        </p:nvSpPr>
        <p:spPr>
          <a:xfrm>
            <a:off x="1665766" y="5720674"/>
            <a:ext cx="1959936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b="1" dirty="0">
                <a:solidFill>
                  <a:sysClr val="windowText" lastClr="000000"/>
                </a:solidFill>
              </a:rPr>
              <a:t>TAG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FB3ED2EA-E36E-0ACC-2C88-0D7DD5F6887C}"/>
              </a:ext>
            </a:extLst>
          </p:cNvPr>
          <p:cNvSpPr txBox="1">
            <a:spLocks/>
          </p:cNvSpPr>
          <p:nvPr/>
        </p:nvSpPr>
        <p:spPr>
          <a:xfrm>
            <a:off x="4192769" y="5720674"/>
            <a:ext cx="6794205" cy="50213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>
                <a:solidFill>
                  <a:schemeClr val="accent4">
                    <a:lumMod val="75000"/>
                  </a:schemeClr>
                </a:solidFill>
              </a:rPr>
              <a:t>Catégorie</a:t>
            </a:r>
          </a:p>
        </p:txBody>
      </p:sp>
    </p:spTree>
    <p:extLst>
      <p:ext uri="{BB962C8B-B14F-4D97-AF65-F5344CB8AC3E}">
        <p14:creationId xmlns:p14="http://schemas.microsoft.com/office/powerpoint/2010/main" val="3440520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6FF110-9CA5-9068-EFE8-ABB9F02A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3 modèles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A09931-DE41-34A4-DD60-0A02DCF13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Modèle 1 : TF-IDF + </a:t>
            </a:r>
            <a:r>
              <a:rPr lang="fr-FR" b="1" dirty="0" err="1"/>
              <a:t>Logistic</a:t>
            </a:r>
            <a:r>
              <a:rPr lang="fr-FR" b="1" dirty="0"/>
              <a:t> </a:t>
            </a:r>
            <a:r>
              <a:rPr lang="fr-FR" b="1" dirty="0" err="1"/>
              <a:t>Regression</a:t>
            </a:r>
            <a:endParaRPr lang="fr-FR" b="1" dirty="0"/>
          </a:p>
          <a:p>
            <a:r>
              <a:rPr lang="fr-FR" b="1" dirty="0"/>
              <a:t>Modèle 2 : TF-IDF + </a:t>
            </a:r>
            <a:r>
              <a:rPr lang="fr-FR" b="1" dirty="0" err="1"/>
              <a:t>Linear</a:t>
            </a:r>
            <a:r>
              <a:rPr lang="fr-FR" b="1" dirty="0"/>
              <a:t> SVM</a:t>
            </a:r>
          </a:p>
          <a:p>
            <a:r>
              <a:rPr lang="fr-FR" b="1" dirty="0"/>
              <a:t>Modèle 3 : TF-IDF + </a:t>
            </a:r>
            <a:r>
              <a:rPr lang="fr-FR" b="1" dirty="0" err="1"/>
              <a:t>Naive</a:t>
            </a:r>
            <a:r>
              <a:rPr lang="fr-FR" b="1" dirty="0"/>
              <a:t> Bayes</a:t>
            </a:r>
          </a:p>
        </p:txBody>
      </p:sp>
    </p:spTree>
    <p:extLst>
      <p:ext uri="{BB962C8B-B14F-4D97-AF65-F5344CB8AC3E}">
        <p14:creationId xmlns:p14="http://schemas.microsoft.com/office/powerpoint/2010/main" val="3081774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3E11-437C-FA87-91A8-4949ACBB8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434DF410-0DD5-2658-039B-4D8E0D7B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400" y="2971800"/>
            <a:ext cx="10778626" cy="170918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9FE63B3-5258-5E2E-47E0-CF0EE894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Approche ML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907A0-B71C-D0F5-C777-95B6BE708204}"/>
              </a:ext>
            </a:extLst>
          </p:cNvPr>
          <p:cNvSpPr/>
          <p:nvPr/>
        </p:nvSpPr>
        <p:spPr>
          <a:xfrm>
            <a:off x="932400" y="3858653"/>
            <a:ext cx="10778626" cy="36246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009FBA4-2518-4BFA-0D60-A9F2B8511C4A}"/>
              </a:ext>
            </a:extLst>
          </p:cNvPr>
          <p:cNvSpPr txBox="1"/>
          <p:nvPr/>
        </p:nvSpPr>
        <p:spPr>
          <a:xfrm rot="19347141">
            <a:off x="8949956" y="2038927"/>
            <a:ext cx="2065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Métrique principale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E4DFE25-8793-399E-E535-B3500591FBA7}"/>
              </a:ext>
            </a:extLst>
          </p:cNvPr>
          <p:cNvSpPr txBox="1"/>
          <p:nvPr/>
        </p:nvSpPr>
        <p:spPr>
          <a:xfrm rot="19347141">
            <a:off x="7758729" y="1964821"/>
            <a:ext cx="2308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Métrique secondaire</a:t>
            </a:r>
          </a:p>
        </p:txBody>
      </p:sp>
    </p:spTree>
    <p:extLst>
      <p:ext uri="{BB962C8B-B14F-4D97-AF65-F5344CB8AC3E}">
        <p14:creationId xmlns:p14="http://schemas.microsoft.com/office/powerpoint/2010/main" val="4073940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EC679-B508-3908-12DF-04B9C693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Analyse par catégorie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B599FC-2416-F3A6-BD73-B56BD2785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" y="2262188"/>
            <a:ext cx="11091861" cy="39147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024574-4473-7143-151C-1212AC58F899}"/>
              </a:ext>
            </a:extLst>
          </p:cNvPr>
          <p:cNvSpPr/>
          <p:nvPr/>
        </p:nvSpPr>
        <p:spPr>
          <a:xfrm>
            <a:off x="5422603" y="4129199"/>
            <a:ext cx="6316957" cy="27267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174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C04EB1A-7718-2E9C-C37B-EAF79173E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270" y="142686"/>
            <a:ext cx="7125665" cy="6572628"/>
          </a:xfrm>
        </p:spPr>
      </p:pic>
    </p:spTree>
    <p:extLst>
      <p:ext uri="{BB962C8B-B14F-4D97-AF65-F5344CB8AC3E}">
        <p14:creationId xmlns:p14="http://schemas.microsoft.com/office/powerpoint/2010/main" val="2187063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9CC3F-35D3-E96B-7DE3-02F914F18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FF3E20-34AF-25AD-C08B-D5B595252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Associer un texte automatiquement en fonction de la réclamation ?</a:t>
            </a:r>
          </a:p>
          <a:p>
            <a:endParaRPr lang="fr-FR" dirty="0"/>
          </a:p>
          <a:p>
            <a:r>
              <a:rPr lang="fr-FR" dirty="0"/>
              <a:t>Le modèle est globalement performant, mais les catégories très minoritaires restent difficiles à prédire.</a:t>
            </a:r>
          </a:p>
          <a:p>
            <a:endParaRPr lang="fr-FR" dirty="0"/>
          </a:p>
          <a:p>
            <a:r>
              <a:rPr lang="fr-FR" dirty="0"/>
              <a:t>Les performances varient fortement selon les catégories. Les catégories majoritaires et sémantiquement bien caractérisées sont correctement identifiées, tandis que les catégories minoritaires présentent un </a:t>
            </a:r>
            <a:r>
              <a:rPr lang="fr-FR" dirty="0" err="1"/>
              <a:t>recall</a:t>
            </a:r>
            <a:r>
              <a:rPr lang="fr-FR" dirty="0"/>
              <a:t> plus faible.</a:t>
            </a:r>
          </a:p>
        </p:txBody>
      </p:sp>
    </p:spTree>
    <p:extLst>
      <p:ext uri="{BB962C8B-B14F-4D97-AF65-F5344CB8AC3E}">
        <p14:creationId xmlns:p14="http://schemas.microsoft.com/office/powerpoint/2010/main" val="2215893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FA21-DD71-A5C3-5979-28F14EE1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LLM or large language model icon for AI website and apps 63132258 Vector  Art at Vecteezy">
            <a:extLst>
              <a:ext uri="{FF2B5EF4-FFF2-40B4-BE49-F238E27FC236}">
                <a16:creationId xmlns:a16="http://schemas.microsoft.com/office/drawing/2014/main" id="{C4BD43A4-3661-9DEA-CE2D-CF4E947B9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149" y="1562985"/>
            <a:ext cx="5116830" cy="503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FBD24B8-8AAB-EF76-7B2E-97FC6C9E2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Déploiement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L’approche </a:t>
            </a: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LLM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61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81055-AA53-040C-D698-1E0A7861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A5DB45-4ECF-E0EB-9494-A7A82AC8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LLM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A5419C-DE81-1F41-1C7D-5D66D1D6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29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Créer un </a:t>
            </a:r>
            <a:r>
              <a:rPr lang="fr-FR" b="1" dirty="0" err="1"/>
              <a:t>microservice</a:t>
            </a:r>
            <a:r>
              <a:rPr lang="fr-FR" b="1" dirty="0"/>
              <a:t> de classification dédiée</a:t>
            </a:r>
            <a:r>
              <a:rPr lang="fr-FR" dirty="0"/>
              <a:t>, qui expose une API HTTP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Ex: Fast API :</a:t>
            </a:r>
          </a:p>
          <a:p>
            <a:r>
              <a:rPr lang="fr-FR" dirty="0"/>
              <a:t>Interrogeable en ligne / en réseau local</a:t>
            </a:r>
          </a:p>
          <a:p>
            <a:r>
              <a:rPr lang="fr-FR" dirty="0"/>
              <a:t>Le backend </a:t>
            </a:r>
            <a:r>
              <a:rPr lang="fr-FR" dirty="0" err="1"/>
              <a:t>ZenAssist</a:t>
            </a:r>
            <a:r>
              <a:rPr lang="fr-FR" dirty="0"/>
              <a:t> n'a pas besoin de connaître </a:t>
            </a:r>
            <a:r>
              <a:rPr lang="fr-FR" dirty="0" err="1"/>
              <a:t>Faiss</a:t>
            </a:r>
            <a:r>
              <a:rPr lang="fr-FR" dirty="0"/>
              <a:t> ou Python</a:t>
            </a:r>
          </a:p>
          <a:p>
            <a:r>
              <a:rPr lang="fr-FR" dirty="0"/>
              <a:t>Déploiement simple avec </a:t>
            </a:r>
            <a:r>
              <a:rPr lang="fr-FR" dirty="0" err="1"/>
              <a:t>FastAPI</a:t>
            </a:r>
            <a:endParaRPr lang="fr-FR" dirty="0"/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5FF1A808-4EAA-E9E2-9CBD-F5DC71A03821}"/>
              </a:ext>
            </a:extLst>
          </p:cNvPr>
          <p:cNvGrpSpPr/>
          <p:nvPr/>
        </p:nvGrpSpPr>
        <p:grpSpPr>
          <a:xfrm>
            <a:off x="7658100" y="825500"/>
            <a:ext cx="4165600" cy="5778500"/>
            <a:chOff x="7658100" y="825500"/>
            <a:chExt cx="4165600" cy="5778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7AE7E8-8B25-78E4-2213-C295F0BEECCC}"/>
                </a:ext>
              </a:extLst>
            </p:cNvPr>
            <p:cNvSpPr/>
            <p:nvPr/>
          </p:nvSpPr>
          <p:spPr>
            <a:xfrm>
              <a:off x="7658100" y="825500"/>
              <a:ext cx="4165600" cy="5778500"/>
            </a:xfrm>
            <a:prstGeom prst="rect">
              <a:avLst/>
            </a:prstGeom>
            <a:gradFill>
              <a:gsLst>
                <a:gs pos="0">
                  <a:schemeClr val="accent5">
                    <a:satMod val="105000"/>
                    <a:tint val="67000"/>
                    <a:lumMod val="87000"/>
                    <a:lumOff val="13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</a:gradFill>
            <a:ln w="66675" cap="rnd">
              <a:rou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Flèche : droite 3">
              <a:extLst>
                <a:ext uri="{FF2B5EF4-FFF2-40B4-BE49-F238E27FC236}">
                  <a16:creationId xmlns:a16="http://schemas.microsoft.com/office/drawing/2014/main" id="{5A1E77D2-2F28-AFE1-7C6F-5003F94EECBF}"/>
                </a:ext>
              </a:extLst>
            </p:cNvPr>
            <p:cNvSpPr/>
            <p:nvPr/>
          </p:nvSpPr>
          <p:spPr>
            <a:xfrm rot="5400000">
              <a:off x="9518784" y="1478650"/>
              <a:ext cx="498147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F1E9955-75E5-1A60-3F4D-8461BE11B87F}"/>
                </a:ext>
              </a:extLst>
            </p:cNvPr>
            <p:cNvSpPr txBox="1"/>
            <p:nvPr/>
          </p:nvSpPr>
          <p:spPr>
            <a:xfrm>
              <a:off x="9005857" y="1071540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err="1"/>
                <a:t>ZenAssist</a:t>
              </a:r>
              <a:endParaRPr lang="fr-FR" b="1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6BF5516A-CEC6-974B-9D88-AFEB8017A71E}"/>
                </a:ext>
              </a:extLst>
            </p:cNvPr>
            <p:cNvSpPr txBox="1"/>
            <p:nvPr/>
          </p:nvSpPr>
          <p:spPr>
            <a:xfrm>
              <a:off x="9005857" y="1999005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Backend </a:t>
              </a:r>
              <a:r>
                <a:rPr lang="fr-FR" b="1" dirty="0" err="1"/>
                <a:t>ZenAssist</a:t>
              </a:r>
              <a:endParaRPr lang="fr-FR" b="1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6D32687D-1B37-E4FB-A129-7B5D97CF022E}"/>
                </a:ext>
              </a:extLst>
            </p:cNvPr>
            <p:cNvSpPr txBox="1"/>
            <p:nvPr/>
          </p:nvSpPr>
          <p:spPr>
            <a:xfrm>
              <a:off x="8767729" y="3203469"/>
              <a:ext cx="2000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Classification API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A72799A-52B3-D3A3-E5D2-ABB3DC1C9CAF}"/>
                </a:ext>
              </a:extLst>
            </p:cNvPr>
            <p:cNvSpPr txBox="1"/>
            <p:nvPr/>
          </p:nvSpPr>
          <p:spPr>
            <a:xfrm>
              <a:off x="8504213" y="5985862"/>
              <a:ext cx="25272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Catégorie prédite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80A46386-D383-976D-DABE-D3859C86B201}"/>
                </a:ext>
              </a:extLst>
            </p:cNvPr>
            <p:cNvSpPr txBox="1"/>
            <p:nvPr/>
          </p:nvSpPr>
          <p:spPr>
            <a:xfrm>
              <a:off x="8767729" y="4130934"/>
              <a:ext cx="2000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Prompt + RAG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C006DDF3-FA2B-35E3-E389-7AEBC8440DAF}"/>
                </a:ext>
              </a:extLst>
            </p:cNvPr>
            <p:cNvSpPr txBox="1"/>
            <p:nvPr/>
          </p:nvSpPr>
          <p:spPr>
            <a:xfrm>
              <a:off x="8767729" y="5058399"/>
              <a:ext cx="2000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API Mistral</a:t>
              </a:r>
            </a:p>
          </p:txBody>
        </p:sp>
        <p:sp>
          <p:nvSpPr>
            <p:cNvPr id="19" name="Flèche : droite 18">
              <a:extLst>
                <a:ext uri="{FF2B5EF4-FFF2-40B4-BE49-F238E27FC236}">
                  <a16:creationId xmlns:a16="http://schemas.microsoft.com/office/drawing/2014/main" id="{616108B1-BFC6-03C0-56D1-FD130DF50B94}"/>
                </a:ext>
              </a:extLst>
            </p:cNvPr>
            <p:cNvSpPr/>
            <p:nvPr/>
          </p:nvSpPr>
          <p:spPr>
            <a:xfrm rot="5400000">
              <a:off x="9518784" y="2683114"/>
              <a:ext cx="498147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Flèche : droite 19">
              <a:extLst>
                <a:ext uri="{FF2B5EF4-FFF2-40B4-BE49-F238E27FC236}">
                  <a16:creationId xmlns:a16="http://schemas.microsoft.com/office/drawing/2014/main" id="{7F87BDFB-75B2-E2F5-650B-368018CD90F9}"/>
                </a:ext>
              </a:extLst>
            </p:cNvPr>
            <p:cNvSpPr/>
            <p:nvPr/>
          </p:nvSpPr>
          <p:spPr>
            <a:xfrm rot="5400000">
              <a:off x="9518784" y="3610579"/>
              <a:ext cx="498147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Flèche : droite 20">
              <a:extLst>
                <a:ext uri="{FF2B5EF4-FFF2-40B4-BE49-F238E27FC236}">
                  <a16:creationId xmlns:a16="http://schemas.microsoft.com/office/drawing/2014/main" id="{8FF6D856-C0D7-AD22-CF7C-2B716EB072B0}"/>
                </a:ext>
              </a:extLst>
            </p:cNvPr>
            <p:cNvSpPr/>
            <p:nvPr/>
          </p:nvSpPr>
          <p:spPr>
            <a:xfrm rot="5400000">
              <a:off x="9518784" y="4538044"/>
              <a:ext cx="498147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Flèche : droite 21">
              <a:extLst>
                <a:ext uri="{FF2B5EF4-FFF2-40B4-BE49-F238E27FC236}">
                  <a16:creationId xmlns:a16="http://schemas.microsoft.com/office/drawing/2014/main" id="{CF394221-B52D-13DD-6905-686A868DF098}"/>
                </a:ext>
              </a:extLst>
            </p:cNvPr>
            <p:cNvSpPr/>
            <p:nvPr/>
          </p:nvSpPr>
          <p:spPr>
            <a:xfrm rot="5400000">
              <a:off x="9518784" y="5465509"/>
              <a:ext cx="498147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3" name="Picture 4" descr="LLM or large language model icon for AI website and apps 63132258 Vector  Art at Vecteezy">
              <a:extLst>
                <a:ext uri="{FF2B5EF4-FFF2-40B4-BE49-F238E27FC236}">
                  <a16:creationId xmlns:a16="http://schemas.microsoft.com/office/drawing/2014/main" id="{13A7660D-2AD6-2476-F1AA-9C77EB224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37884" y="930555"/>
              <a:ext cx="1075911" cy="1059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33673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995D-C304-A229-8A46-CF2352A2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achine Learning Certified Professional (MLCP)">
            <a:extLst>
              <a:ext uri="{FF2B5EF4-FFF2-40B4-BE49-F238E27FC236}">
                <a16:creationId xmlns:a16="http://schemas.microsoft.com/office/drawing/2014/main" id="{AB4FCF91-C02E-708B-5E93-B6A56E5B1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2" r="19121"/>
          <a:stretch>
            <a:fillRect/>
          </a:stretch>
        </p:blipFill>
        <p:spPr bwMode="auto">
          <a:xfrm>
            <a:off x="7804298" y="0"/>
            <a:ext cx="43593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A90ED79-6A33-2ED9-32E5-3DA57781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Déploiement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L’approche </a:t>
            </a: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ML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463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06377-49D4-E81A-45BC-2B0228B9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BD5CA-059C-492D-C598-162CF3AE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25C16C-1674-04CB-3E6E-93A0E6889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29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Créer un </a:t>
            </a:r>
            <a:r>
              <a:rPr lang="fr-FR" b="1" dirty="0" err="1"/>
              <a:t>microservice</a:t>
            </a:r>
            <a:r>
              <a:rPr lang="fr-FR" b="1" dirty="0"/>
              <a:t> de classification dédiée</a:t>
            </a:r>
            <a:r>
              <a:rPr lang="fr-FR" dirty="0"/>
              <a:t>, qui expose une API HTTP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Ex: </a:t>
            </a:r>
            <a:r>
              <a:rPr lang="fr-FR" dirty="0" err="1"/>
              <a:t>BentoML</a:t>
            </a:r>
            <a:r>
              <a:rPr lang="fr-FR" dirty="0"/>
              <a:t> :</a:t>
            </a:r>
          </a:p>
          <a:p>
            <a:r>
              <a:rPr lang="fr-FR" dirty="0"/>
              <a:t>Interrogeable en ligne / en réseau local</a:t>
            </a:r>
          </a:p>
          <a:p>
            <a:r>
              <a:rPr lang="fr-FR" dirty="0"/>
              <a:t>Le backend </a:t>
            </a:r>
            <a:r>
              <a:rPr lang="fr-FR" dirty="0" err="1"/>
              <a:t>ZenAssist</a:t>
            </a:r>
            <a:r>
              <a:rPr lang="fr-FR" dirty="0"/>
              <a:t> n'a pas besoin de connaître </a:t>
            </a:r>
            <a:r>
              <a:rPr lang="fr-FR" dirty="0" err="1"/>
              <a:t>scikit-learn</a:t>
            </a:r>
            <a:r>
              <a:rPr lang="fr-FR" dirty="0"/>
              <a:t>, TF-IDF ou </a:t>
            </a:r>
            <a:r>
              <a:rPr lang="fr-FR" dirty="0" err="1"/>
              <a:t>LinearSVC</a:t>
            </a:r>
            <a:endParaRPr lang="fr-FR" dirty="0"/>
          </a:p>
          <a:p>
            <a:r>
              <a:rPr lang="fr-FR" dirty="0"/>
              <a:t>Gérer un versioning des modèles</a:t>
            </a:r>
          </a:p>
          <a:p>
            <a:r>
              <a:rPr lang="fr-FR" dirty="0"/>
              <a:t>Déploiement simple depuis Python</a:t>
            </a:r>
          </a:p>
          <a:p>
            <a:r>
              <a:rPr lang="fr-FR" dirty="0"/>
              <a:t>Génération automatique du service API</a:t>
            </a: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E96F69D-43C0-A291-86BF-680218405B2A}"/>
              </a:ext>
            </a:extLst>
          </p:cNvPr>
          <p:cNvGrpSpPr/>
          <p:nvPr/>
        </p:nvGrpSpPr>
        <p:grpSpPr>
          <a:xfrm>
            <a:off x="7658100" y="814867"/>
            <a:ext cx="4165600" cy="5778500"/>
            <a:chOff x="7658100" y="814867"/>
            <a:chExt cx="4165600" cy="5778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D0C9967-7B2F-1FC8-F53D-FD86B39B53FE}"/>
                </a:ext>
              </a:extLst>
            </p:cNvPr>
            <p:cNvSpPr/>
            <p:nvPr/>
          </p:nvSpPr>
          <p:spPr>
            <a:xfrm>
              <a:off x="7658100" y="814867"/>
              <a:ext cx="4165600" cy="5778500"/>
            </a:xfrm>
            <a:prstGeom prst="rect">
              <a:avLst/>
            </a:prstGeom>
            <a:gradFill>
              <a:gsLst>
                <a:gs pos="0">
                  <a:schemeClr val="accent5">
                    <a:satMod val="105000"/>
                    <a:tint val="67000"/>
                    <a:lumMod val="87000"/>
                    <a:lumOff val="13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</a:gradFill>
            <a:ln w="66675" cap="rnd">
              <a:rou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Flèche : droite 3">
              <a:extLst>
                <a:ext uri="{FF2B5EF4-FFF2-40B4-BE49-F238E27FC236}">
                  <a16:creationId xmlns:a16="http://schemas.microsoft.com/office/drawing/2014/main" id="{7BFC2845-F7E4-AD22-2458-F59B96D485F2}"/>
                </a:ext>
              </a:extLst>
            </p:cNvPr>
            <p:cNvSpPr/>
            <p:nvPr/>
          </p:nvSpPr>
          <p:spPr>
            <a:xfrm rot="5400000">
              <a:off x="9469687" y="1755581"/>
              <a:ext cx="542425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9C454C45-4750-9266-1537-9FEB2E8C12CB}"/>
                </a:ext>
              </a:extLst>
            </p:cNvPr>
            <p:cNvSpPr txBox="1"/>
            <p:nvPr/>
          </p:nvSpPr>
          <p:spPr>
            <a:xfrm>
              <a:off x="8978899" y="1280999"/>
              <a:ext cx="152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err="1"/>
                <a:t>ZenAssist</a:t>
              </a:r>
              <a:endParaRPr lang="fr-FR" b="1" dirty="0"/>
            </a:p>
          </p:txBody>
        </p:sp>
        <p:sp>
          <p:nvSpPr>
            <p:cNvPr id="7" name="Flèche : droite 6">
              <a:extLst>
                <a:ext uri="{FF2B5EF4-FFF2-40B4-BE49-F238E27FC236}">
                  <a16:creationId xmlns:a16="http://schemas.microsoft.com/office/drawing/2014/main" id="{02ADF2B8-3384-A080-3FF6-D00B47C73F73}"/>
                </a:ext>
              </a:extLst>
            </p:cNvPr>
            <p:cNvSpPr/>
            <p:nvPr/>
          </p:nvSpPr>
          <p:spPr>
            <a:xfrm rot="5400000">
              <a:off x="9469687" y="3094989"/>
              <a:ext cx="542425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8F59B0E-30A5-8BD5-6865-62D137D14063}"/>
                </a:ext>
              </a:extLst>
            </p:cNvPr>
            <p:cNvSpPr txBox="1"/>
            <p:nvPr/>
          </p:nvSpPr>
          <p:spPr>
            <a:xfrm>
              <a:off x="8978899" y="2343408"/>
              <a:ext cx="152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/>
                <a:t>Backend </a:t>
              </a:r>
              <a:r>
                <a:rPr lang="fr-FR" b="1" dirty="0" err="1"/>
                <a:t>ZenAssist</a:t>
              </a:r>
              <a:endParaRPr lang="fr-FR" b="1" dirty="0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522EEFE2-87F4-4821-EBB5-9B38F00E0564}"/>
                </a:ext>
              </a:extLst>
            </p:cNvPr>
            <p:cNvSpPr txBox="1"/>
            <p:nvPr/>
          </p:nvSpPr>
          <p:spPr>
            <a:xfrm>
              <a:off x="8740771" y="3682816"/>
              <a:ext cx="2000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Classification API</a:t>
              </a:r>
            </a:p>
          </p:txBody>
        </p:sp>
        <p:sp>
          <p:nvSpPr>
            <p:cNvPr id="11" name="Flèche : droite 10">
              <a:extLst>
                <a:ext uri="{FF2B5EF4-FFF2-40B4-BE49-F238E27FC236}">
                  <a16:creationId xmlns:a16="http://schemas.microsoft.com/office/drawing/2014/main" id="{44731ADB-6A7A-B509-741F-75DFA04B5C1A}"/>
                </a:ext>
              </a:extLst>
            </p:cNvPr>
            <p:cNvSpPr/>
            <p:nvPr/>
          </p:nvSpPr>
          <p:spPr>
            <a:xfrm rot="5400000">
              <a:off x="9469687" y="5219806"/>
              <a:ext cx="542424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41141343-85D9-DB78-98DB-99A82BEF1E4F}"/>
                </a:ext>
              </a:extLst>
            </p:cNvPr>
            <p:cNvSpPr txBox="1"/>
            <p:nvPr/>
          </p:nvSpPr>
          <p:spPr>
            <a:xfrm>
              <a:off x="8477255" y="5807631"/>
              <a:ext cx="25272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Catégorie prédite</a:t>
              </a:r>
            </a:p>
          </p:txBody>
        </p:sp>
        <p:pic>
          <p:nvPicPr>
            <p:cNvPr id="16" name="Picture 6" descr="Machine Learning Certified Professional (MLCP)">
              <a:extLst>
                <a:ext uri="{FF2B5EF4-FFF2-40B4-BE49-F238E27FC236}">
                  <a16:creationId xmlns:a16="http://schemas.microsoft.com/office/drawing/2014/main" id="{A4334254-1F4D-3C25-A88D-CC6DDB5692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12" r="19121"/>
            <a:stretch>
              <a:fillRect/>
            </a:stretch>
          </p:blipFill>
          <p:spPr bwMode="auto">
            <a:xfrm>
              <a:off x="7747016" y="919419"/>
              <a:ext cx="1025747" cy="1613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Flèche : droite 8">
              <a:extLst>
                <a:ext uri="{FF2B5EF4-FFF2-40B4-BE49-F238E27FC236}">
                  <a16:creationId xmlns:a16="http://schemas.microsoft.com/office/drawing/2014/main" id="{1E77F62E-5FE1-1791-F4F8-8D8BA5B9233C}"/>
                </a:ext>
              </a:extLst>
            </p:cNvPr>
            <p:cNvSpPr/>
            <p:nvPr/>
          </p:nvSpPr>
          <p:spPr>
            <a:xfrm rot="5400000">
              <a:off x="9469687" y="4157398"/>
              <a:ext cx="542425" cy="482578"/>
            </a:xfrm>
            <a:prstGeom prst="rightArrow">
              <a:avLst>
                <a:gd name="adj1" fmla="val 46639"/>
                <a:gd name="adj2" fmla="val 3965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59CE47F-4494-9393-A05B-B0EF701628E4}"/>
                </a:ext>
              </a:extLst>
            </p:cNvPr>
            <p:cNvSpPr txBox="1"/>
            <p:nvPr/>
          </p:nvSpPr>
          <p:spPr>
            <a:xfrm>
              <a:off x="8740771" y="4745225"/>
              <a:ext cx="200025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Prédiction Modèle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7509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817A41-79CE-A54F-22AC-3B730A9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ML: Cycle de vie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09F327-368E-8AF5-1B34-20AFE87C8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688" y="1932623"/>
            <a:ext cx="3762512" cy="432871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0ABBB08-5FAC-1E8A-3C3B-925751BA7105}"/>
              </a:ext>
            </a:extLst>
          </p:cNvPr>
          <p:cNvSpPr txBox="1"/>
          <p:nvPr/>
        </p:nvSpPr>
        <p:spPr>
          <a:xfrm>
            <a:off x="5816600" y="1932622"/>
            <a:ext cx="5842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Une fois en production</a:t>
            </a:r>
          </a:p>
          <a:p>
            <a:endParaRPr lang="fr-FR" sz="2800" dirty="0"/>
          </a:p>
          <a:p>
            <a:r>
              <a:rPr lang="fr-FR" sz="2800" dirty="0"/>
              <a:t>Conserver pour chaque Réclamation</a:t>
            </a:r>
          </a:p>
          <a:p>
            <a:r>
              <a:rPr lang="fr-FR" sz="2800" dirty="0"/>
              <a:t>+ prédiction</a:t>
            </a:r>
          </a:p>
          <a:p>
            <a:r>
              <a:rPr lang="fr-FR" sz="2800" dirty="0"/>
              <a:t>+ score/confiance</a:t>
            </a:r>
          </a:p>
          <a:p>
            <a:r>
              <a:rPr lang="fr-FR" sz="2800" dirty="0"/>
              <a:t>+ correction éventuelle de l'utilisateur</a:t>
            </a:r>
          </a:p>
          <a:p>
            <a:endParaRPr lang="fr-FR" sz="2800" dirty="0"/>
          </a:p>
          <a:p>
            <a:r>
              <a:rPr lang="fr-FR" sz="2800" dirty="0"/>
              <a:t>Ces corrections peuvent ensuite constituer les données du prochain entraînement</a:t>
            </a:r>
          </a:p>
        </p:txBody>
      </p:sp>
    </p:spTree>
    <p:extLst>
      <p:ext uri="{BB962C8B-B14F-4D97-AF65-F5344CB8AC3E}">
        <p14:creationId xmlns:p14="http://schemas.microsoft.com/office/powerpoint/2010/main" val="224684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46DC3-6D1E-102E-8A89-524B92406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Machine Learning Certified Professional (MLCP)">
            <a:extLst>
              <a:ext uri="{FF2B5EF4-FFF2-40B4-BE49-F238E27FC236}">
                <a16:creationId xmlns:a16="http://schemas.microsoft.com/office/drawing/2014/main" id="{210C23D0-9B4E-B601-7D3D-1126268A0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2" r="19121"/>
          <a:stretch>
            <a:fillRect/>
          </a:stretch>
        </p:blipFill>
        <p:spPr bwMode="auto">
          <a:xfrm>
            <a:off x="9122736" y="0"/>
            <a:ext cx="2371060" cy="373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32A18EA-D942-F07E-B622-8D337327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966099" cy="3824103"/>
          </a:xfrm>
        </p:spPr>
        <p:txBody>
          <a:bodyPr>
            <a:normAutofit/>
          </a:bodyPr>
          <a:lstStyle/>
          <a:p>
            <a: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Déploiement</a:t>
            </a:r>
            <a:br>
              <a:rPr lang="fr-FR" sz="66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fr-FR" sz="4800" dirty="0">
                <a:solidFill>
                  <a:schemeClr val="accent1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L’approche </a:t>
            </a:r>
            <a:r>
              <a:rPr lang="fr-FR" sz="4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Hybride</a:t>
            </a:r>
            <a:endParaRPr lang="fr-FR" sz="6600" dirty="0">
              <a:solidFill>
                <a:srgbClr val="00B0F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3" name="Picture 4" descr="LLM or large language model icon for AI website and apps 63132258 Vector  Art at Vecteezy">
            <a:extLst>
              <a:ext uri="{FF2B5EF4-FFF2-40B4-BE49-F238E27FC236}">
                <a16:creationId xmlns:a16="http://schemas.microsoft.com/office/drawing/2014/main" id="{403682C3-1491-C86E-D194-266041382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351" y="3620386"/>
            <a:ext cx="2957829" cy="291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444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1B781DA-5960-F26A-D228-43A56B7F48C5}"/>
              </a:ext>
            </a:extLst>
          </p:cNvPr>
          <p:cNvSpPr/>
          <p:nvPr/>
        </p:nvSpPr>
        <p:spPr>
          <a:xfrm>
            <a:off x="6710608" y="714374"/>
            <a:ext cx="4165600" cy="5952239"/>
          </a:xfrm>
          <a:prstGeom prst="rect">
            <a:avLst/>
          </a:prstGeom>
          <a:gradFill>
            <a:gsLst>
              <a:gs pos="0">
                <a:schemeClr val="accent5">
                  <a:satMod val="105000"/>
                  <a:tint val="67000"/>
                  <a:lumMod val="87000"/>
                  <a:lumOff val="13000"/>
                </a:schemeClr>
              </a:gs>
              <a:gs pos="50000">
                <a:schemeClr val="accent5">
                  <a:lumMod val="105000"/>
                  <a:satMod val="103000"/>
                  <a:tint val="73000"/>
                </a:schemeClr>
              </a:gs>
              <a:gs pos="100000">
                <a:schemeClr val="accent5">
                  <a:lumMod val="105000"/>
                  <a:satMod val="109000"/>
                  <a:tint val="81000"/>
                </a:schemeClr>
              </a:gs>
            </a:gsLst>
          </a:gradFill>
          <a:ln w="66675" cap="rnd">
            <a:rou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3A6F50-75BD-3A05-DCA9-40A87F8D6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Déploiement Hybride</a:t>
            </a:r>
          </a:p>
        </p:txBody>
      </p:sp>
      <p:sp>
        <p:nvSpPr>
          <p:cNvPr id="18" name="Losange 17">
            <a:extLst>
              <a:ext uri="{FF2B5EF4-FFF2-40B4-BE49-F238E27FC236}">
                <a16:creationId xmlns:a16="http://schemas.microsoft.com/office/drawing/2014/main" id="{8B06099F-671E-E735-2836-0155CACC77CC}"/>
              </a:ext>
            </a:extLst>
          </p:cNvPr>
          <p:cNvSpPr/>
          <p:nvPr/>
        </p:nvSpPr>
        <p:spPr>
          <a:xfrm>
            <a:off x="8246274" y="2897221"/>
            <a:ext cx="946298" cy="946298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99F2090-8B4F-7512-F212-49284C54BCB0}"/>
              </a:ext>
            </a:extLst>
          </p:cNvPr>
          <p:cNvSpPr txBox="1"/>
          <p:nvPr/>
        </p:nvSpPr>
        <p:spPr>
          <a:xfrm>
            <a:off x="7574766" y="2524839"/>
            <a:ext cx="2284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confiance suffisante ?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DB84AB1-464E-F09E-2A3A-FE4D05D32C54}"/>
              </a:ext>
            </a:extLst>
          </p:cNvPr>
          <p:cNvSpPr txBox="1"/>
          <p:nvPr/>
        </p:nvSpPr>
        <p:spPr>
          <a:xfrm>
            <a:off x="7787511" y="3943197"/>
            <a:ext cx="66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OUI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FF6477D-8BD6-F918-B77F-9D76974097B5}"/>
              </a:ext>
            </a:extLst>
          </p:cNvPr>
          <p:cNvSpPr txBox="1"/>
          <p:nvPr/>
        </p:nvSpPr>
        <p:spPr>
          <a:xfrm>
            <a:off x="9008217" y="3943197"/>
            <a:ext cx="666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NON</a:t>
            </a:r>
          </a:p>
        </p:txBody>
      </p:sp>
      <p:pic>
        <p:nvPicPr>
          <p:cNvPr id="23" name="Picture 6" descr="Machine Learning Certified Professional (MLCP)">
            <a:extLst>
              <a:ext uri="{FF2B5EF4-FFF2-40B4-BE49-F238E27FC236}">
                <a16:creationId xmlns:a16="http://schemas.microsoft.com/office/drawing/2014/main" id="{5566884B-6D3F-4459-B2D3-E50E028D89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12" r="19121"/>
          <a:stretch>
            <a:fillRect/>
          </a:stretch>
        </p:blipFill>
        <p:spPr bwMode="auto">
          <a:xfrm>
            <a:off x="8204008" y="861836"/>
            <a:ext cx="1025747" cy="161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LLM or large language model icon for AI website and apps 63132258 Vector  Art at Vecteezy">
            <a:extLst>
              <a:ext uri="{FF2B5EF4-FFF2-40B4-BE49-F238E27FC236}">
                <a16:creationId xmlns:a16="http://schemas.microsoft.com/office/drawing/2014/main" id="{865DFE6B-5024-1B74-C0C6-B5C18C25B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536" y="4402235"/>
            <a:ext cx="1207785" cy="118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59DED2C-D15A-49AF-3944-2F8AF7EAD704}"/>
              </a:ext>
            </a:extLst>
          </p:cNvPr>
          <p:cNvCxnSpPr>
            <a:cxnSpLocks/>
          </p:cNvCxnSpPr>
          <p:nvPr/>
        </p:nvCxnSpPr>
        <p:spPr>
          <a:xfrm flipH="1">
            <a:off x="8120723" y="3650137"/>
            <a:ext cx="233917" cy="233917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0D9F5550-C6FE-3850-36FB-3418F948D6BE}"/>
              </a:ext>
            </a:extLst>
          </p:cNvPr>
          <p:cNvCxnSpPr>
            <a:cxnSpLocks/>
          </p:cNvCxnSpPr>
          <p:nvPr/>
        </p:nvCxnSpPr>
        <p:spPr>
          <a:xfrm>
            <a:off x="9107512" y="3650137"/>
            <a:ext cx="233917" cy="233917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112D8E29-173A-A22D-65DC-FF222786ABBD}"/>
              </a:ext>
            </a:extLst>
          </p:cNvPr>
          <p:cNvCxnSpPr>
            <a:cxnSpLocks/>
          </p:cNvCxnSpPr>
          <p:nvPr/>
        </p:nvCxnSpPr>
        <p:spPr>
          <a:xfrm>
            <a:off x="8120723" y="4353505"/>
            <a:ext cx="0" cy="1354547"/>
          </a:xfrm>
          <a:prstGeom prst="straightConnector1">
            <a:avLst/>
          </a:prstGeom>
          <a:ln w="539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ccolade fermante 32">
            <a:extLst>
              <a:ext uri="{FF2B5EF4-FFF2-40B4-BE49-F238E27FC236}">
                <a16:creationId xmlns:a16="http://schemas.microsoft.com/office/drawing/2014/main" id="{26758E6B-8BBA-AF70-4B66-77F67F7608BC}"/>
              </a:ext>
            </a:extLst>
          </p:cNvPr>
          <p:cNvSpPr/>
          <p:nvPr/>
        </p:nvSpPr>
        <p:spPr>
          <a:xfrm rot="5400000">
            <a:off x="8543946" y="5008745"/>
            <a:ext cx="345867" cy="1923893"/>
          </a:xfrm>
          <a:prstGeom prst="rightBrace">
            <a:avLst>
              <a:gd name="adj1" fmla="val 63668"/>
              <a:gd name="adj2" fmla="val 50000"/>
            </a:avLst>
          </a:prstGeom>
          <a:ln w="539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2392B02-C9D3-63CB-1ADA-3649A74A2984}"/>
              </a:ext>
            </a:extLst>
          </p:cNvPr>
          <p:cNvSpPr txBox="1"/>
          <p:nvPr/>
        </p:nvSpPr>
        <p:spPr>
          <a:xfrm>
            <a:off x="7930933" y="6172871"/>
            <a:ext cx="15718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ZenAssist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8796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9E4868-4666-3534-A147-B25C432A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des deux mises en production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EBEBFFA8-1646-0C4F-0209-11F722195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8973691"/>
              </p:ext>
            </p:extLst>
          </p:nvPr>
        </p:nvGraphicFramePr>
        <p:xfrm>
          <a:off x="838200" y="1690688"/>
          <a:ext cx="10641864" cy="509155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547288">
                  <a:extLst>
                    <a:ext uri="{9D8B030D-6E8A-4147-A177-3AD203B41FA5}">
                      <a16:colId xmlns:a16="http://schemas.microsoft.com/office/drawing/2014/main" val="1437890628"/>
                    </a:ext>
                  </a:extLst>
                </a:gridCol>
                <a:gridCol w="3547288">
                  <a:extLst>
                    <a:ext uri="{9D8B030D-6E8A-4147-A177-3AD203B41FA5}">
                      <a16:colId xmlns:a16="http://schemas.microsoft.com/office/drawing/2014/main" val="3250688917"/>
                    </a:ext>
                  </a:extLst>
                </a:gridCol>
                <a:gridCol w="3547288">
                  <a:extLst>
                    <a:ext uri="{9D8B030D-6E8A-4147-A177-3AD203B41FA5}">
                      <a16:colId xmlns:a16="http://schemas.microsoft.com/office/drawing/2014/main" val="3491845410"/>
                    </a:ext>
                  </a:extLst>
                </a:gridCol>
              </a:tblGrid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Critère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ML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LLM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519457471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Hébergement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Interne/cloud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API Mistral ou LLM interne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53358722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/>
                        <a:t>Latence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Très faible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Plus élevée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13768974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Coût par requête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Très faible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Coût API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770880341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Internet nécessaire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Non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Oui si API externe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34876339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Mise à jour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Réentraînement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Prompt/RAG/modèle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1584881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Données envoyées à un tiers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Non nécessaire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Oui avec API externe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795769970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Monitoring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Classique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Classique + coûts/tokens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823374554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Scalabilité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Très facile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Facile mais coûteuse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52919813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Maintenance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Modèle à réentraîner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Prompt + RAG + modèle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038879346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Dépendance fournisseur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/>
                        <a:t>Faible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Forte si API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933167915"/>
                  </a:ext>
                </a:extLst>
              </a:tr>
              <a:tr h="42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b="1" dirty="0"/>
                        <a:t>Taux traitement heure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~ 3 600 000 / h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/>
                        <a:t>~ 1 000 / h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164165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3350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1444</Words>
  <Application>Microsoft Office PowerPoint</Application>
  <PresentationFormat>Grand écran</PresentationFormat>
  <Paragraphs>273</Paragraphs>
  <Slides>32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9" baseType="lpstr">
      <vt:lpstr>Arial</vt:lpstr>
      <vt:lpstr>Arial Black</vt:lpstr>
      <vt:lpstr>Calibri</vt:lpstr>
      <vt:lpstr>Calibri Light</vt:lpstr>
      <vt:lpstr>Segoe UI Black</vt:lpstr>
      <vt:lpstr>Symbol</vt:lpstr>
      <vt:lpstr>Thème Office</vt:lpstr>
      <vt:lpstr>Zen-Assist</vt:lpstr>
      <vt:lpstr>Contexte</vt:lpstr>
      <vt:lpstr>Analyse exploratoire des données</vt:lpstr>
      <vt:lpstr>DataFrame</vt:lpstr>
      <vt:lpstr>Présentation PowerPoint</vt:lpstr>
      <vt:lpstr>Présentation PowerPoint</vt:lpstr>
      <vt:lpstr>Cible (catégorie)</vt:lpstr>
      <vt:lpstr>Dispersion Texte / Catégorie</vt:lpstr>
      <vt:lpstr>Dataset</vt:lpstr>
      <vt:lpstr>Split train / test</vt:lpstr>
      <vt:lpstr>Les métriques SCORES</vt:lpstr>
      <vt:lpstr>Métriques</vt:lpstr>
      <vt:lpstr>Implémentation L’approche LLM</vt:lpstr>
      <vt:lpstr>Approche LLM</vt:lpstr>
      <vt:lpstr>Approche LLM</vt:lpstr>
      <vt:lpstr>Approche LLM</vt:lpstr>
      <vt:lpstr>Analyse par catégorie</vt:lpstr>
      <vt:lpstr>Implémentation L’approche ML</vt:lpstr>
      <vt:lpstr>Approche ML</vt:lpstr>
      <vt:lpstr>3 modèles</vt:lpstr>
      <vt:lpstr>Approche ML</vt:lpstr>
      <vt:lpstr>Analyse par catégorie</vt:lpstr>
      <vt:lpstr>Présentation PowerPoint</vt:lpstr>
      <vt:lpstr>Présentation PowerPoint</vt:lpstr>
      <vt:lpstr>Déploiement L’approche LLM</vt:lpstr>
      <vt:lpstr>Déploiement LLM</vt:lpstr>
      <vt:lpstr>Déploiement L’approche ML</vt:lpstr>
      <vt:lpstr>Déploiement ML</vt:lpstr>
      <vt:lpstr>Déploiement ML: Cycle de vie</vt:lpstr>
      <vt:lpstr>Déploiement L’approche Hybride</vt:lpstr>
      <vt:lpstr>Déploiement Hybride</vt:lpstr>
      <vt:lpstr>Comparaison des deux mises en production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111</cp:revision>
  <dcterms:created xsi:type="dcterms:W3CDTF">2026-08-19T10:14:18Z</dcterms:created>
  <dcterms:modified xsi:type="dcterms:W3CDTF">2026-08-25T15:45:09Z</dcterms:modified>
</cp:coreProperties>
</file>