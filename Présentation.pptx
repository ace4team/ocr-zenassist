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9" r:id="rId2"/>
    <p:sldId id="260" r:id="rId3"/>
    <p:sldId id="258" r:id="rId4"/>
    <p:sldId id="263" r:id="rId5"/>
    <p:sldId id="257" r:id="rId6"/>
    <p:sldId id="262" r:id="rId7"/>
    <p:sldId id="278" r:id="rId8"/>
    <p:sldId id="269" r:id="rId9"/>
    <p:sldId id="280" r:id="rId10"/>
    <p:sldId id="267" r:id="rId11"/>
    <p:sldId id="272" r:id="rId12"/>
    <p:sldId id="271" r:id="rId13"/>
    <p:sldId id="274" r:id="rId14"/>
    <p:sldId id="265" r:id="rId15"/>
    <p:sldId id="289" r:id="rId16"/>
    <p:sldId id="268" r:id="rId17"/>
    <p:sldId id="273" r:id="rId18"/>
    <p:sldId id="275" r:id="rId19"/>
    <p:sldId id="279" r:id="rId20"/>
    <p:sldId id="283" r:id="rId21"/>
    <p:sldId id="284" r:id="rId22"/>
    <p:sldId id="281" r:id="rId23"/>
    <p:sldId id="282" r:id="rId24"/>
    <p:sldId id="285" r:id="rId25"/>
    <p:sldId id="286" r:id="rId26"/>
    <p:sldId id="287" r:id="rId27"/>
    <p:sldId id="288" r:id="rId28"/>
    <p:sldId id="276" r:id="rId29"/>
    <p:sldId id="290" r:id="rId3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74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FD4443E-F989-4FC4-A0C8-D5A2AF1F390B}" styleName="Style foncé 1 - Accentuation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75DCB02-9BB8-47FD-8907-85C794F793BA}" styleName="Style à thème 1 - Accentuation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3471" autoAdjust="0"/>
  </p:normalViewPr>
  <p:slideViewPr>
    <p:cSldViewPr snapToGrid="0">
      <p:cViewPr varScale="1">
        <p:scale>
          <a:sx n="95" d="100"/>
          <a:sy n="95" d="100"/>
        </p:scale>
        <p:origin x="113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E1AE0-F169-4B04-AC31-32DDA66614B2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34364E-57BD-44F2-A53B-320C3BD2F0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9810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E96AE-B874-9034-D75B-3302F54B9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83F4D3-FA79-A676-4F0E-65E641B5B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E08A445-B6C8-5EF0-1626-9DC3F137F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Exception de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à la consommation » </a:t>
            </a:r>
            <a:r>
              <a:rPr lang="fr-FR" dirty="0"/>
              <a:t>dont le sens métier doit être définit par rapport à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sur salaire, prêt sur gage ou prêt personne 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 autres variables tel que la société, l’adresse, l’état du dossier ou la méthode de transmission ne donnent pas assez d’informations à elles seules pour prédire une catégorie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B5003E-E9A2-CD10-2CF9-A29F155819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78230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Exception de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à la consommation » </a:t>
            </a:r>
            <a:r>
              <a:rPr lang="fr-FR" dirty="0"/>
              <a:t>dont le sens métier doit être définit par rapport à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sur salaire, prêt sur gage ou prêt personne »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9779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ABCFC-C601-FC86-72E6-68A2F6B2D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4C068F6-3811-D51D-BE0C-400BEDEE5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87915BC-08E2-112D-1A65-C7CE166BD2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labels ont été normalisés vers la nomenclature récente afin d'obtenir une cible cohérente pour l'apprentissage.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6560D0-8889-9F40-E525-B04C39C2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1558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nombre de textes associés à plusieurs catégories est de seulement : 164 = 152 + 11 + 1</a:t>
            </a:r>
          </a:p>
          <a:p>
            <a:r>
              <a:rPr lang="fr-FR" dirty="0"/>
              <a:t>L’apprentissage ne sera pas biaisé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36549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Consumer Claim = principale variable prédictive</a:t>
            </a:r>
          </a:p>
          <a:p>
            <a:r>
              <a:rPr lang="fr-FR" dirty="0"/>
              <a:t>Mais :</a:t>
            </a:r>
          </a:p>
          <a:p>
            <a:r>
              <a:rPr lang="fr-FR" dirty="0"/>
              <a:t>valeurs manquantes</a:t>
            </a:r>
          </a:p>
          <a:p>
            <a:r>
              <a:rPr lang="fr-FR" dirty="0"/>
              <a:t>texte dépendant du canal de soumission</a:t>
            </a:r>
          </a:p>
          <a:p>
            <a:r>
              <a:rPr lang="fr-FR" dirty="0"/>
              <a:t>couverture limitée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69126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Stratify</a:t>
            </a:r>
            <a:r>
              <a:rPr lang="fr-FR" dirty="0"/>
              <a:t> est particulièrement utile dans le </a:t>
            </a:r>
            <a:r>
              <a:rPr lang="fr-FR" dirty="0" err="1"/>
              <a:t>dataset</a:t>
            </a:r>
            <a:r>
              <a:rPr lang="fr-FR" dirty="0"/>
              <a:t> parce que certaines catégories sont beaucoup moins représentées que d'autres.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63217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Temps moyen </a:t>
            </a:r>
            <a:r>
              <a:rPr lang="fr-FR" dirty="0"/>
              <a:t>« Combien de temps prend une requête en moyenne ? »</a:t>
            </a:r>
            <a:endParaRPr lang="fr-FR" b="1" dirty="0"/>
          </a:p>
          <a:p>
            <a:r>
              <a:rPr lang="fr-FR" dirty="0"/>
              <a:t>C'est la moyenne de tous les temps</a:t>
            </a:r>
          </a:p>
          <a:p>
            <a:r>
              <a:rPr lang="fr-FR" b="1" dirty="0"/>
              <a:t>Temps médian </a:t>
            </a:r>
            <a:r>
              <a:rPr lang="fr-FR" dirty="0"/>
              <a:t>« Quel est le temps d'une requête typique ? »</a:t>
            </a:r>
            <a:endParaRPr lang="fr-FR" b="1" dirty="0"/>
          </a:p>
          <a:p>
            <a:r>
              <a:rPr lang="fr-FR" dirty="0"/>
              <a:t>La médiane correspond au </a:t>
            </a:r>
            <a:r>
              <a:rPr lang="fr-FR" b="1" dirty="0"/>
              <a:t>50e percentile (P50)</a:t>
            </a:r>
            <a:r>
              <a:rPr lang="fr-FR" dirty="0"/>
              <a:t>.</a:t>
            </a:r>
          </a:p>
          <a:p>
            <a:r>
              <a:rPr lang="it-IT" b="1" dirty="0"/>
              <a:t>P95 </a:t>
            </a:r>
            <a:r>
              <a:rPr lang="fr-FR" dirty="0"/>
              <a:t>« Quel temps de traitement ne dépasse pas 95 % des requêtes ? »</a:t>
            </a:r>
            <a:endParaRPr lang="it-IT" b="1" dirty="0"/>
          </a:p>
          <a:p>
            <a:r>
              <a:rPr lang="it-IT" dirty="0"/>
              <a:t>Le P95 signifie </a:t>
            </a:r>
            <a:r>
              <a:rPr lang="it-IT" b="1" dirty="0"/>
              <a:t>95e percentile</a:t>
            </a:r>
            <a:r>
              <a:rPr lang="it-IT" dirty="0"/>
              <a:t>.</a:t>
            </a:r>
          </a:p>
          <a:p>
            <a:endParaRPr lang="fr-FR" dirty="0"/>
          </a:p>
          <a:p>
            <a:r>
              <a:rPr lang="fr-FR" b="1" dirty="0"/>
              <a:t>macro</a:t>
            </a:r>
          </a:p>
          <a:p>
            <a:r>
              <a:rPr lang="fr-FR" dirty="0"/>
              <a:t>« Quelle est la précision moyenne si toutes les catégories ont la même importance ? »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1065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i="1" dirty="0"/>
              <a:t>Note : La recherche d'exemples ciblés s'appuie sur le modèle d'</a:t>
            </a:r>
            <a:r>
              <a:rPr lang="fr-FR" i="1" dirty="0" err="1"/>
              <a:t>embedding</a:t>
            </a:r>
            <a:r>
              <a:rPr lang="fr-FR" i="1" dirty="0"/>
              <a:t> </a:t>
            </a:r>
            <a:r>
              <a:rPr lang="fr-FR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sentence-</a:t>
            </a:r>
            <a:r>
              <a:rPr lang="fr-FR" sz="1200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transformers</a:t>
            </a:r>
            <a:r>
              <a:rPr lang="fr-FR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/all-MiniLM-L6-v2</a:t>
            </a:r>
            <a:r>
              <a:rPr lang="fr-FR" i="1" dirty="0"/>
              <a:t>.</a:t>
            </a:r>
            <a:endParaRPr lang="fr-FR" dirty="0"/>
          </a:p>
          <a:p>
            <a:r>
              <a:rPr lang="fr-FR" b="1" dirty="0"/>
              <a:t>Points clés à souligner dans votre analyse</a:t>
            </a:r>
          </a:p>
          <a:p>
            <a:r>
              <a:rPr lang="fr-FR" b="1" dirty="0"/>
              <a:t>L'impact du Few-Shot ciblé (RAG / </a:t>
            </a:r>
            <a:r>
              <a:rPr lang="fr-FR" b="1" dirty="0" err="1"/>
              <a:t>Similarity</a:t>
            </a:r>
            <a:r>
              <a:rPr lang="fr-FR" b="1" dirty="0"/>
              <a:t> </a:t>
            </a:r>
            <a:r>
              <a:rPr lang="fr-FR" b="1" dirty="0" err="1"/>
              <a:t>Search</a:t>
            </a:r>
            <a:r>
              <a:rPr lang="fr-FR" b="1" dirty="0"/>
              <a:t>) :</a:t>
            </a:r>
            <a:r>
              <a:rPr lang="fr-FR" dirty="0"/>
              <a:t> La sélection dynamique d'exemples proches via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all-MiniLM-L6-v2</a:t>
            </a:r>
            <a:r>
              <a:rPr lang="fr-FR" dirty="0"/>
              <a:t> apporte le gain de précision le plus fort (+25 % d'</a:t>
            </a:r>
            <a:r>
              <a:rPr lang="fr-FR" dirty="0" err="1"/>
              <a:t>Accuracy</a:t>
            </a:r>
            <a:r>
              <a:rPr lang="fr-FR" dirty="0"/>
              <a:t> et +22,17 % de F1 </a:t>
            </a:r>
            <a:r>
              <a:rPr lang="fr-FR" dirty="0" err="1"/>
              <a:t>Weighted</a:t>
            </a:r>
            <a:r>
              <a:rPr lang="fr-FR" dirty="0"/>
              <a:t> sur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small</a:t>
            </a:r>
            <a:r>
              <a:rPr lang="fr-FR" dirty="0"/>
              <a:t>).</a:t>
            </a:r>
          </a:p>
          <a:p>
            <a:r>
              <a:rPr lang="fr-FR" b="1" dirty="0"/>
              <a:t>L'écart Macro vs </a:t>
            </a:r>
            <a:r>
              <a:rPr lang="fr-FR" b="1" dirty="0" err="1"/>
              <a:t>Weighted</a:t>
            </a:r>
            <a:r>
              <a:rPr lang="fr-FR" b="1" dirty="0"/>
              <a:t> (Déséquilibre de classes) :</a:t>
            </a:r>
            <a:r>
              <a:rPr lang="fr-FR" dirty="0"/>
              <a:t> Le </a:t>
            </a:r>
            <a:r>
              <a:rPr lang="fr-FR" b="1" dirty="0"/>
              <a:t>F1 </a:t>
            </a:r>
            <a:r>
              <a:rPr lang="fr-FR" b="1" dirty="0" err="1"/>
              <a:t>Weighted</a:t>
            </a:r>
            <a:r>
              <a:rPr lang="fr-FR" dirty="0"/>
              <a:t> est nettement supérieur au </a:t>
            </a:r>
            <a:r>
              <a:rPr lang="fr-FR" b="1" dirty="0"/>
              <a:t>F1 Macro</a:t>
            </a:r>
            <a:r>
              <a:rPr lang="fr-FR" dirty="0"/>
              <a:t> (ex. 69,20 % vs 40,92 % sur le test final). Cela indique que le modèle fonctionne très bien sur les classes majoritaires, mais peine sur les catégories sous-représentées.</a:t>
            </a:r>
          </a:p>
          <a:p>
            <a:r>
              <a:rPr lang="fr-FR" b="1" dirty="0"/>
              <a:t>Le compromis Précision / Latence (Small vs Medium) :</a:t>
            </a:r>
            <a:endParaRPr lang="fr-FR" dirty="0"/>
          </a:p>
          <a:p>
            <a:pPr lvl="1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mistral-medium</a:t>
            </a:r>
            <a:r>
              <a:rPr lang="fr-FR" dirty="0"/>
              <a:t> offre la meilleure performance globale (</a:t>
            </a:r>
            <a:r>
              <a:rPr lang="fr-FR" b="1" dirty="0"/>
              <a:t>85 % </a:t>
            </a:r>
            <a:r>
              <a:rPr lang="fr-FR" b="1" dirty="0" err="1"/>
              <a:t>Accuracy</a:t>
            </a:r>
            <a:r>
              <a:rPr lang="fr-FR" dirty="0"/>
              <a:t>), mais avec une latence P95 prohibitive (</a:t>
            </a:r>
            <a:r>
              <a:rPr lang="fr-FR" b="1" dirty="0"/>
              <a:t>61 secondes</a:t>
            </a:r>
            <a:r>
              <a:rPr lang="fr-FR" dirty="0"/>
              <a:t>), inadaptée à un usage temps réel.</a:t>
            </a:r>
          </a:p>
          <a:p>
            <a:pPr lvl="1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small</a:t>
            </a:r>
            <a:r>
              <a:rPr lang="fr-FR" dirty="0"/>
              <a:t> avec RAG constitue le meilleur compromis opérationnel, maintenant un temps médian autour de </a:t>
            </a:r>
            <a:r>
              <a:rPr lang="fr-FR" b="1" dirty="0"/>
              <a:t>0,45 s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4269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0B7C1-2385-033B-FA1E-812CEFA4A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B941A9-547E-7E08-941E-A4016114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56E9F8-FA21-3695-0200-A00AD1D88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accuracy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globale de 86 % ne permet pas de savoir si le modèle sait correctement traiter les petites catégories.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E5DCC56-F300-2000-E61E-AD294C0D45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5984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 err="1"/>
              <a:t>weighted</a:t>
            </a:r>
            <a:r>
              <a:rPr lang="fr-FR" dirty="0"/>
              <a:t> → le modèle est très performant sur les grosses catégories</a:t>
            </a:r>
          </a:p>
          <a:p>
            <a:r>
              <a:rPr lang="fr-FR" dirty="0"/>
              <a:t>macro → certaines petites catégories sont beaucoup moins bien classifiées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22742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Première conclusion : le modèle fonctionne bien sur les catégories principales</a:t>
            </a:r>
          </a:p>
          <a:p>
            <a:r>
              <a:rPr lang="fr-FR" dirty="0"/>
              <a:t>Les résultats sont globalement bons pour les catégories fortement représentées :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Les trois principales zones de difficulté sont :</a:t>
            </a:r>
          </a:p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Credit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reporting</a:t>
            </a:r>
            <a:r>
              <a:rPr lang="fr-FR" b="1" dirty="0"/>
              <a:t> ↔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Debt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collection</a:t>
            </a:r>
            <a:r>
              <a:rPr lang="fr-FR" b="1" dirty="0"/>
              <a:t> </a:t>
            </a:r>
          </a:p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Vehicle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loan</a:t>
            </a:r>
            <a:r>
              <a:rPr lang="fr-FR" b="1" dirty="0"/>
              <a:t> ↔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Payday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personal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loan</a:t>
            </a:r>
            <a:r>
              <a:rPr lang="fr-FR" b="1" dirty="0"/>
              <a:t> </a:t>
            </a:r>
          </a:p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Credit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</a:t>
            </a:r>
            <a:r>
              <a:rPr lang="fr-FR" b="1" dirty="0"/>
              <a:t> ↔ 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Checking/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savings</a:t>
            </a:r>
            <a:r>
              <a:rPr lang="fr-FR" b="1" dirty="0"/>
              <a:t> </a:t>
            </a:r>
          </a:p>
          <a:p>
            <a:r>
              <a:rPr lang="fr-FR" dirty="0"/>
              <a:t>Et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financial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service</a:t>
            </a:r>
            <a:r>
              <a:rPr lang="fr-FR" b="1" dirty="0"/>
              <a:t> </a:t>
            </a:r>
            <a:r>
              <a:rPr lang="fr-FR" dirty="0"/>
              <a:t>constitue un problème particulier à traiter séparément.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4921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BADF4-27BB-0737-A29A-504A8D667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8A8711-70EE-0C5C-51FD-EE8A71B0E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A577E85-9D77-DEEE-793F-5A4A4E62E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97DC9EF-48E1-0B42-9EEB-C8DB6A994A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99261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71277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Cela permettrait de réserver l'utilisation du LLM aux cas difficiles.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33055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5466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AC790-54F0-77E6-0495-4B726974AC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D0A0C0B-06F1-C6D3-D31D-721CD1E76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FBEF1A-12FC-7C30-F911-36EF9601F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B7408-50A4-15D0-D40F-145FF7652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F9AC22B-49BE-5771-0D1D-2EF067499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9927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44A896-587F-94A2-FE53-C9FFEE4F5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7AA686-D8E5-7A60-F264-DE984D23A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524EDA-7181-58F4-43F4-ABA065845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880104-3534-1A2B-1BF0-F8D73ED29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2C57B4B-AD54-3402-0A02-39A738B6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4737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3606B5-D084-0503-2EB1-71F9E4E8A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AB5AC34-2708-C40F-1630-1F4D1A913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19395D-E99E-CE64-2ECE-47677975F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8E16BF-E2CD-AF7D-22E8-2BC871B8E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CA4A53-6C7B-9556-6AAA-E905E0E1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0223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9FA28-6DC7-0B13-C1B1-4C8EEC3A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6BFCA9-905F-7E2F-DFD9-567B9FD4C7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2984400-8C4F-C118-3AED-BAD41AE447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65490-9973-7AA2-E692-B2220B31D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46BF53-CC54-ADC2-E218-793569CFF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01DC64-7016-3799-837F-3FB2719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7303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1C640-8912-FB46-FFC5-4E0878201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E7B651-E953-286A-BF21-3133D44E81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4ACF0B5-7A0F-8ACF-CB1B-4204A7373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16C1DF0-F53B-E3D3-8298-A772F8D4C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B5D932D-414E-E3CE-F62E-308ED95B23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5850181-365A-3AAD-CE67-9BF3651B4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8FAE459-3126-29D9-5D38-183D498B8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F44B411-765B-6A88-8CF6-FA4B870C3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964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AB012C-2EBC-136B-2EC7-7A9686EAD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4273742-CA3C-4DFB-2101-7D9692EC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7440EAB-1083-A553-C642-10C7601BE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3EAE0B9-B310-F842-BA47-D882BA9B8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1376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A7882F1-904D-C824-903E-2343CBD2A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3DFF9AE-6A37-0C3E-9B26-63BEF0C7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E8E6A06-317E-4034-C32D-AAC42A413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902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66925A-6D3A-CA88-C062-E462E6A30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5EADB8-B735-D895-C4EC-2713F1C2E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FB80BA1-BFD2-DC8F-DDD6-33CB2AFD7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BE016F-EC11-C5B8-D92E-0017EA49D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434A821-C63C-B58F-1989-8337D843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27417BD-7570-3566-DEEC-58CC0A7C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9842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444DBF-F190-4A2A-50CA-4FDA1E026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55683D-8C5C-E087-CE4A-C244235933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10C0C53-3C36-63A8-A7FF-0C09AE8F1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B03AD9-75DB-6F2E-3232-63082F07B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EB17CF3-7312-719D-5896-3D292EC02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25C999A-6A02-9175-630E-364CAC47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858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05210-BD15-4CE9-A78D-73B4F81FC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61BBCDF-23B6-91FA-A701-F5A4DB5A3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E8F324-000B-B1C6-C2CD-65A25A042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A32961A-B483-491D-4905-B41380AE8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A8E2CF-AC95-D909-DA9B-B2AEF9E6D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9006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CC9262D-83A1-01B4-532D-2E67A9741A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7D7CAE-074C-CB2B-773A-383BE08EF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EB7261-E5D4-CDD8-106F-86C5E9FB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D22489-E9CB-0776-9C29-8740858B3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291AA1-7E4A-98EA-F234-8C227B1E6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7954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C80B7AC-CB1F-1391-6A05-280FAC9B1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5B04DD-F619-628F-B169-33EBEEE1C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DA1877-540F-903B-52B7-FEF2D8CA81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1BD361-66C9-484E-B214-6DC7693ABA43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334CBB-2909-19BD-004D-1D22881360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A5BDDA-D098-9091-C08C-EB3F397A12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254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E47326-BC3E-AE01-B8E5-5C0FC58C8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772" y="460818"/>
            <a:ext cx="10515600" cy="1049005"/>
          </a:xfrm>
          <a:solidFill>
            <a:srgbClr val="1974B4"/>
          </a:solidFill>
          <a:ln w="381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txBody>
          <a:bodyPr>
            <a:normAutofit fontScale="90000"/>
          </a:bodyPr>
          <a:lstStyle/>
          <a:p>
            <a:pPr marL="792000">
              <a:lnSpc>
                <a:spcPct val="100000"/>
              </a:lnSpc>
            </a:pPr>
            <a:r>
              <a:rPr lang="fr-FR" sz="6600" dirty="0">
                <a:solidFill>
                  <a:schemeClr val="bg1"/>
                </a:solidFill>
                <a:latin typeface="Arial Black" panose="020B0A04020102020204" pitchFamily="34" charset="0"/>
              </a:rPr>
              <a:t>Zen-Assist</a:t>
            </a:r>
            <a:endParaRPr lang="fr-FR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E80457F-CF9C-70F5-482D-B2523A2897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00000">
            <a:off x="9962134" y="79428"/>
            <a:ext cx="1905888" cy="1905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EC758DE-EEDC-03D4-A339-4DE1B2832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3944" y="5955028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267;p34">
            <a:extLst>
              <a:ext uri="{FF2B5EF4-FFF2-40B4-BE49-F238E27FC236}">
                <a16:creationId xmlns:a16="http://schemas.microsoft.com/office/drawing/2014/main" id="{9D4FBF3F-4AB3-5727-2530-A1E144B46AC9}"/>
              </a:ext>
            </a:extLst>
          </p:cNvPr>
          <p:cNvSpPr txBox="1">
            <a:spLocks/>
          </p:cNvSpPr>
          <p:nvPr/>
        </p:nvSpPr>
        <p:spPr>
          <a:xfrm>
            <a:off x="763772" y="5045850"/>
            <a:ext cx="8232720" cy="179348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fr-FR" sz="4400" i="1" dirty="0">
                <a:solidFill>
                  <a:schemeClr val="bg1">
                    <a:lumMod val="65000"/>
                  </a:schemeClr>
                </a:solidFill>
              </a:rPr>
              <a:t>Formation Développeur IA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FR" sz="4400" i="1" dirty="0">
                <a:solidFill>
                  <a:schemeClr val="bg1">
                    <a:lumMod val="65000"/>
                  </a:schemeClr>
                </a:solidFill>
              </a:rPr>
              <a:t>Août 2026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CC1350B-E508-81B1-EEBD-381C600F6AF7}"/>
              </a:ext>
            </a:extLst>
          </p:cNvPr>
          <p:cNvSpPr txBox="1"/>
          <p:nvPr/>
        </p:nvSpPr>
        <p:spPr>
          <a:xfrm>
            <a:off x="763772" y="2525564"/>
            <a:ext cx="1123861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>
                <a:latin typeface="Segoe UI Black" panose="020B0A02040204020203" pitchFamily="34" charset="0"/>
                <a:ea typeface="Segoe UI Black" panose="020B0A02040204020203" pitchFamily="34" charset="0"/>
              </a:rPr>
              <a:t>Solution d’étiquetage automatique</a:t>
            </a:r>
          </a:p>
          <a:p>
            <a:pPr algn="r"/>
            <a:r>
              <a:rPr lang="fr-FR" sz="4400" dirty="0">
                <a:latin typeface="Segoe UI Black" panose="020B0A02040204020203" pitchFamily="34" charset="0"/>
                <a:ea typeface="Segoe UI Black" panose="020B0A02040204020203" pitchFamily="34" charset="0"/>
              </a:rPr>
              <a:t>LLM / ML</a:t>
            </a:r>
          </a:p>
        </p:txBody>
      </p:sp>
    </p:spTree>
    <p:extLst>
      <p:ext uri="{BB962C8B-B14F-4D97-AF65-F5344CB8AC3E}">
        <p14:creationId xmlns:p14="http://schemas.microsoft.com/office/powerpoint/2010/main" val="3865238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5CCCC7-B8DB-ADF3-5AF8-D124C6BC2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30B59B-9256-F687-FB0F-F72677E2A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Objectif : automatiser le routage des réclamations vers le bon service.</a:t>
            </a:r>
          </a:p>
          <a:p>
            <a:r>
              <a:rPr lang="fr-FR" dirty="0"/>
              <a:t>Approche: comparer un système de classification LLM et ML</a:t>
            </a:r>
          </a:p>
        </p:txBody>
      </p:sp>
    </p:spTree>
    <p:extLst>
      <p:ext uri="{BB962C8B-B14F-4D97-AF65-F5344CB8AC3E}">
        <p14:creationId xmlns:p14="http://schemas.microsoft.com/office/powerpoint/2010/main" val="4181197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0CB97F-097E-0FEC-42EB-89420D604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5360581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Analyse exploratoire des données</a:t>
            </a:r>
          </a:p>
        </p:txBody>
      </p:sp>
      <p:pic>
        <p:nvPicPr>
          <p:cNvPr id="2050" name="Picture 2" descr="Analyse exploratoire - Icônes ordinateur gratuites">
            <a:extLst>
              <a:ext uri="{FF2B5EF4-FFF2-40B4-BE49-F238E27FC236}">
                <a16:creationId xmlns:a16="http://schemas.microsoft.com/office/drawing/2014/main" id="{AD618C70-2F2B-E7F8-3413-9BB4F19C3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6731" y="1554126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8818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07C94-B671-42C3-1737-1B8FAA81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AE9FDB-9593-9FAD-EBD2-EB411873A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7243"/>
            <a:ext cx="10515600" cy="3389719"/>
          </a:xfrm>
        </p:spPr>
        <p:txBody>
          <a:bodyPr>
            <a:normAutofit/>
          </a:bodyPr>
          <a:lstStyle/>
          <a:p>
            <a:r>
              <a:rPr lang="fr-FR" dirty="0"/>
              <a:t>70% Valeurs manquantes dans la variable </a:t>
            </a:r>
            <a:r>
              <a:rPr lang="fr-FR" i="1" dirty="0">
                <a:solidFill>
                  <a:schemeClr val="accent2">
                    <a:lumMod val="75000"/>
                  </a:schemeClr>
                </a:solidFill>
              </a:rPr>
              <a:t>Consumer Claim</a:t>
            </a:r>
          </a:p>
          <a:p>
            <a:r>
              <a:rPr lang="fr-FR" dirty="0"/>
              <a:t>Seule la </a:t>
            </a:r>
            <a:r>
              <a:rPr lang="fr-FR" b="1" dirty="0"/>
              <a:t>soumission «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Web</a:t>
            </a:r>
            <a:r>
              <a:rPr lang="fr-FR" dirty="0"/>
              <a:t> » contient des réclamations avec un texte</a:t>
            </a:r>
          </a:p>
          <a:p>
            <a:r>
              <a:rPr lang="fr-FR" dirty="0"/>
              <a:t>Seules les réclamations </a:t>
            </a:r>
            <a:r>
              <a:rPr lang="fr-FR" b="1" dirty="0"/>
              <a:t>avec consentement </a:t>
            </a:r>
            <a:r>
              <a:rPr lang="fr-FR" dirty="0"/>
              <a:t>contiennent un texte</a:t>
            </a:r>
          </a:p>
          <a:p>
            <a:r>
              <a:rPr lang="fr-FR" dirty="0"/>
              <a:t>Les valeurs manquantes semblent structurelles plutôt qu'aléatoires</a:t>
            </a:r>
          </a:p>
          <a:p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06F9D9E8-DDEC-908D-ABCC-7B1C0733DF8D}"/>
              </a:ext>
            </a:extLst>
          </p:cNvPr>
          <p:cNvSpPr txBox="1">
            <a:spLocks/>
          </p:cNvSpPr>
          <p:nvPr/>
        </p:nvSpPr>
        <p:spPr>
          <a:xfrm>
            <a:off x="1524000" y="365679"/>
            <a:ext cx="9144000" cy="9616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u="sng"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Variable(s)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443F918-F80D-EC94-B2A5-A74BEF1CF7E4}"/>
              </a:ext>
            </a:extLst>
          </p:cNvPr>
          <p:cNvSpPr txBox="1"/>
          <p:nvPr/>
        </p:nvSpPr>
        <p:spPr>
          <a:xfrm>
            <a:off x="3047114" y="1614803"/>
            <a:ext cx="60977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15 colonnes dont </a:t>
            </a:r>
            <a:r>
              <a:rPr lang="fr-FR" i="1" dirty="0">
                <a:solidFill>
                  <a:schemeClr val="accent2">
                    <a:lumMod val="75000"/>
                  </a:schemeClr>
                </a:solidFill>
              </a:rPr>
              <a:t>Consumer Claim </a:t>
            </a:r>
            <a:r>
              <a:rPr lang="fr-FR" sz="1800" dirty="0"/>
              <a:t>est la principale variable de prédiction pour identifier l’étiquette à assigner</a:t>
            </a:r>
          </a:p>
        </p:txBody>
      </p:sp>
    </p:spTree>
    <p:extLst>
      <p:ext uri="{BB962C8B-B14F-4D97-AF65-F5344CB8AC3E}">
        <p14:creationId xmlns:p14="http://schemas.microsoft.com/office/powerpoint/2010/main" val="446294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115817-FDF6-900F-9B3C-4963B9B73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Ambiguïté dans la nomenclature des classes</a:t>
            </a:r>
          </a:p>
          <a:p>
            <a:r>
              <a:rPr lang="fr-FR" dirty="0"/>
              <a:t>Les </a:t>
            </a:r>
            <a:r>
              <a:rPr lang="fr-FR" b="1" dirty="0"/>
              <a:t>anciennes nomenclatures </a:t>
            </a:r>
            <a:r>
              <a:rPr lang="fr-FR" dirty="0"/>
              <a:t>sont </a:t>
            </a:r>
            <a:r>
              <a:rPr lang="fr-FR" b="1" dirty="0"/>
              <a:t>généralement incluses </a:t>
            </a:r>
            <a:r>
              <a:rPr lang="fr-FR" dirty="0"/>
              <a:t>dans les nouvelles (plus fournies)</a:t>
            </a:r>
          </a:p>
          <a:p>
            <a:r>
              <a:rPr lang="fr-FR" b="1" dirty="0"/>
              <a:t>LLM ne doit pas avoir à prendre une décision artificielle </a:t>
            </a:r>
            <a:r>
              <a:rPr lang="fr-FR" dirty="0"/>
              <a:t>entre deux catégories qui correspondent simplement à deux versions historiques de la nomenclature</a:t>
            </a:r>
          </a:p>
          <a:p>
            <a:r>
              <a:rPr lang="fr-FR" dirty="0"/>
              <a:t>Exception de « </a:t>
            </a:r>
            <a:r>
              <a:rPr lang="fr-FR" b="1" dirty="0"/>
              <a:t>Consumer Loan </a:t>
            </a:r>
            <a:r>
              <a:rPr lang="fr-FR" dirty="0"/>
              <a:t>» dont le sens métier doit être définit par rapport à « </a:t>
            </a:r>
            <a:r>
              <a:rPr lang="en-US" b="1" dirty="0"/>
              <a:t>Payday loan, title loan, or personal loan</a:t>
            </a:r>
            <a:r>
              <a:rPr lang="fr-FR" b="1" dirty="0"/>
              <a:t> </a:t>
            </a:r>
            <a:r>
              <a:rPr lang="fr-FR" dirty="0"/>
              <a:t>»</a:t>
            </a: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60E3862B-4D17-A85F-5E51-6083E4D86581}"/>
              </a:ext>
            </a:extLst>
          </p:cNvPr>
          <p:cNvSpPr txBox="1">
            <a:spLocks/>
          </p:cNvSpPr>
          <p:nvPr/>
        </p:nvSpPr>
        <p:spPr>
          <a:xfrm>
            <a:off x="1524000" y="365679"/>
            <a:ext cx="9144000" cy="9616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u="sng"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Cible (catégorie)</a:t>
            </a:r>
          </a:p>
        </p:txBody>
      </p:sp>
    </p:spTree>
    <p:extLst>
      <p:ext uri="{BB962C8B-B14F-4D97-AF65-F5344CB8AC3E}">
        <p14:creationId xmlns:p14="http://schemas.microsoft.com/office/powerpoint/2010/main" val="296425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B1C63-B589-571E-98AE-05E8ED47E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1F03410F-C6C0-88B6-E9B9-F239740F9C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4" t="12720" r="11565" b="10083"/>
          <a:stretch>
            <a:fillRect/>
          </a:stretch>
        </p:blipFill>
        <p:spPr>
          <a:xfrm>
            <a:off x="8735478" y="5003043"/>
            <a:ext cx="2355218" cy="178770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86E0A8D-CB0A-B2AB-137B-9805AF52F5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65679"/>
            <a:ext cx="9144000" cy="961618"/>
          </a:xfrm>
        </p:spPr>
        <p:txBody>
          <a:bodyPr/>
          <a:lstStyle/>
          <a:p>
            <a:r>
              <a:rPr lang="fr-FR" u="sng" dirty="0"/>
              <a:t>Cible (catégorie)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C9766-7877-6612-4E2D-4B18A58FA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049680"/>
            <a:ext cx="5536018" cy="1257041"/>
          </a:xfrm>
          <a:solidFill>
            <a:schemeClr val="accent2">
              <a:lumMod val="60000"/>
              <a:lumOff val="40000"/>
            </a:schemeClr>
          </a:solidFill>
        </p:spPr>
        <p:txBody>
          <a:bodyPr>
            <a:normAutofit lnSpcReduction="10000"/>
          </a:bodyPr>
          <a:lstStyle/>
          <a:p>
            <a:r>
              <a:rPr lang="fr-FR" dirty="0"/>
              <a:t>2011 à 2016</a:t>
            </a:r>
          </a:p>
          <a:p>
            <a:r>
              <a:rPr lang="fr-FR" dirty="0"/>
              <a:t> Ancienne Nomenclature</a:t>
            </a:r>
          </a:p>
          <a:p>
            <a:r>
              <a:rPr lang="fr-FR" dirty="0"/>
              <a:t>(plus détaillé)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4C90DDE-E233-1253-6B7A-B3E690DA10C0}"/>
              </a:ext>
            </a:extLst>
          </p:cNvPr>
          <p:cNvSpPr txBox="1">
            <a:spLocks/>
          </p:cNvSpPr>
          <p:nvPr/>
        </p:nvSpPr>
        <p:spPr>
          <a:xfrm>
            <a:off x="7060018" y="2049681"/>
            <a:ext cx="3607981" cy="125704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2017 à 2019</a:t>
            </a:r>
          </a:p>
          <a:p>
            <a:r>
              <a:rPr lang="fr-FR" dirty="0"/>
              <a:t>Nouvelle Nomenclature</a:t>
            </a:r>
          </a:p>
          <a:p>
            <a:r>
              <a:rPr lang="fr-FR" dirty="0"/>
              <a:t>(plus généraliste)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B55D0B1D-6B89-AA49-7573-8DE0C1828AFF}"/>
              </a:ext>
            </a:extLst>
          </p:cNvPr>
          <p:cNvSpPr txBox="1">
            <a:spLocks/>
          </p:cNvSpPr>
          <p:nvPr/>
        </p:nvSpPr>
        <p:spPr>
          <a:xfrm>
            <a:off x="2867246" y="4186824"/>
            <a:ext cx="3703675" cy="138932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Remplace les anciennes catégories par les nouvelles</a:t>
            </a: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pic>
        <p:nvPicPr>
          <p:cNvPr id="1026" name="Picture 2" descr="Images sur Supprimer : Téléchargement gratuit sur Magnific (anciennement  Freepik)">
            <a:extLst>
              <a:ext uri="{FF2B5EF4-FFF2-40B4-BE49-F238E27FC236}">
                <a16:creationId xmlns:a16="http://schemas.microsoft.com/office/drawing/2014/main" id="{6426B220-CE0B-29C7-D006-78A78F50F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837" y="3504568"/>
            <a:ext cx="2392326" cy="2392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250E3995-0EB7-A592-C349-723F39E8FFF6}"/>
              </a:ext>
            </a:extLst>
          </p:cNvPr>
          <p:cNvSpPr/>
          <p:nvPr/>
        </p:nvSpPr>
        <p:spPr>
          <a:xfrm>
            <a:off x="6868630" y="4369978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6B9A69D7-E143-4867-EC2B-A6A0FD64C6CF}"/>
              </a:ext>
            </a:extLst>
          </p:cNvPr>
          <p:cNvSpPr txBox="1">
            <a:spLocks/>
          </p:cNvSpPr>
          <p:nvPr/>
        </p:nvSpPr>
        <p:spPr>
          <a:xfrm>
            <a:off x="8172891" y="4190370"/>
            <a:ext cx="3480393" cy="138932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Tag devient une catégorie unique</a:t>
            </a: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069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DFB690-A046-0763-0BE7-A07B84B01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fr-FR" sz="6000" u="sng" dirty="0"/>
              <a:t>Dispersion Texte / Catégorie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8E0763A6-65DE-2E9C-A72F-AEFD7BFBA2C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358694422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0122833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Indicateur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/>
                        <a:t>Résultat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8522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Réclamations avec texte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/>
                        <a:t>383 564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1604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Textes uniques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/>
                        <a:t>366 945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210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Textes répétés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/>
                        <a:t>16 619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745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Textes associés à 1 seule catégorie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/>
                        <a:t>366 781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924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Textes associés à 2 catégories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/>
                        <a:t>152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159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Textes associés à 3 catégories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/>
                        <a:t>11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303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Textes associés à 5 catégories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 dirty="0"/>
                        <a:t>1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929655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4C61CB05-4176-A71B-1B88-3E1795220B00}"/>
              </a:ext>
            </a:extLst>
          </p:cNvPr>
          <p:cNvSpPr/>
          <p:nvPr/>
        </p:nvSpPr>
        <p:spPr>
          <a:xfrm>
            <a:off x="838200" y="4381500"/>
            <a:ext cx="10515600" cy="1082834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1476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00C72A-6975-F8C3-D588-A84C967A9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sz="6000" u="sng" dirty="0" err="1"/>
              <a:t>Dataset</a:t>
            </a:r>
            <a:endParaRPr lang="fr-FR" sz="6000" u="sng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1B14DB11-00B6-6475-8EA7-14A9E9B992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30456"/>
              </p:ext>
            </p:extLst>
          </p:nvPr>
        </p:nvGraphicFramePr>
        <p:xfrm>
          <a:off x="660400" y="1739900"/>
          <a:ext cx="11023600" cy="4905372"/>
        </p:xfrm>
        <a:graphic>
          <a:graphicData uri="http://schemas.openxmlformats.org/drawingml/2006/table">
            <a:tbl>
              <a:tblPr>
                <a:tableStyleId>{8FD4443E-F989-4FC4-A0C8-D5A2AF1F390B}</a:tableStyleId>
              </a:tblPr>
              <a:tblGrid>
                <a:gridCol w="6959600">
                  <a:extLst>
                    <a:ext uri="{9D8B030D-6E8A-4147-A177-3AD203B41FA5}">
                      <a16:colId xmlns:a16="http://schemas.microsoft.com/office/drawing/2014/main" val="352620805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6497133"/>
                    </a:ext>
                  </a:extLst>
                </a:gridCol>
              </a:tblGrid>
              <a:tr h="56749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combien de réclamations ?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1.282,355 (~ 400 / jours)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7973425"/>
                  </a:ext>
                </a:extLst>
              </a:tr>
              <a:tr h="56749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combien de catégories ?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18 (10 normalisé)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924686"/>
                  </a:ext>
                </a:extLst>
              </a:tr>
              <a:tr h="6588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quelle est la répartition des catégories ?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Déséquilibre très important des classes. 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844308"/>
                  </a:ext>
                </a:extLst>
              </a:tr>
              <a:tr h="56749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quelle proportion de Consumer Claim est manquante ?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898,791 (70%) reste 383,564 textes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708950"/>
                  </a:ext>
                </a:extLst>
              </a:tr>
              <a:tr h="6588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les valeurs manquantes dépendent-elles de </a:t>
                      </a:r>
                      <a:r>
                        <a:rPr lang="fr-FR" sz="1800" b="0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Submitted</a:t>
                      </a: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 via ?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Oui: Seul « </a:t>
                      </a:r>
                      <a:r>
                        <a:rPr lang="fr-FR" sz="1800" b="0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Submitted</a:t>
                      </a: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 via Web » renseigne du texte </a:t>
                      </a:r>
                      <a:r>
                        <a:rPr lang="fr-FR" sz="14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(et pour seulement 40%)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9580647"/>
                  </a:ext>
                </a:extLst>
              </a:tr>
              <a:tr h="6588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les valeurs manquantes dépendent-elles de Consumer consent </a:t>
                      </a:r>
                      <a:r>
                        <a:rPr lang="fr-FR" sz="1800" b="0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provided</a:t>
                      </a: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 ?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Oui: 99% des textes renseignés définissent Consent </a:t>
                      </a:r>
                      <a:r>
                        <a:rPr lang="fr-FR" sz="1800" b="0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provided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67778"/>
                  </a:ext>
                </a:extLst>
              </a:tr>
              <a:tr h="6588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>
                          <a:solidFill>
                            <a:schemeClr val="bg1"/>
                          </a:solidFill>
                          <a:effectLst/>
                        </a:rPr>
                        <a:t>quelle longueur ont les réclamations ?</a:t>
                      </a:r>
                      <a:endParaRPr lang="fr-FR" sz="18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Une réclamation renseignée contient en moyenne environ 1 082 caractères.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279985"/>
                  </a:ext>
                </a:extLst>
              </a:tr>
              <a:tr h="56749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existe-t-il des doublons parmi les réclamations ?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Oui: 16,619 (~4% des réclamations)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7818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8606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387BAE-1479-8FE5-7C51-ACB6677BC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Split train / test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79386C9-9156-2BDB-6415-CF3DD948EB0C}"/>
              </a:ext>
            </a:extLst>
          </p:cNvPr>
          <p:cNvSpPr txBox="1"/>
          <p:nvPr/>
        </p:nvSpPr>
        <p:spPr>
          <a:xfrm>
            <a:off x="5257800" y="2109584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/>
              <a:t>20 % des données pour le test</a:t>
            </a:r>
          </a:p>
          <a:p>
            <a:pPr lvl="2"/>
            <a:r>
              <a:rPr lang="fr-FR" sz="2800" dirty="0"/>
              <a:t>=&gt; 76 700 réclamations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/>
              <a:t>80 % restants pour l'entraînement</a:t>
            </a:r>
          </a:p>
          <a:p>
            <a:pPr marL="1200150" lvl="2" indent="-285750">
              <a:buFont typeface="Symbol" panose="05050102010706020507" pitchFamily="18" charset="2"/>
              <a:buChar char="Þ"/>
            </a:pPr>
            <a:r>
              <a:rPr lang="fr-FR" sz="2800" dirty="0"/>
              <a:t>306 800 réclamations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/>
              <a:t>Tirage aléatoire avec </a:t>
            </a:r>
            <a:r>
              <a:rPr lang="fr-FR" sz="2800" b="1" dirty="0" err="1"/>
              <a:t>seed</a:t>
            </a:r>
            <a:r>
              <a:rPr lang="fr-FR" sz="2800" b="1" dirty="0"/>
              <a:t> pour reproduire l'expérience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/>
              <a:t>Conserve</a:t>
            </a:r>
            <a:r>
              <a:rPr lang="fr-FR" sz="2800" dirty="0"/>
              <a:t> </a:t>
            </a:r>
            <a:r>
              <a:rPr lang="fr-FR" sz="2800" b="1" dirty="0"/>
              <a:t>les mêmes proportions de chaque catégorie dans le train et dans le test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91D3656-2410-C07C-A500-B61473E9B9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918280"/>
            <a:ext cx="4419600" cy="435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858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BC2C2-4E49-C851-E469-6931F2B3B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71DDA4-0747-AD4E-47D4-FF5F68CCF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Les métriques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SCORES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3080" name="Picture 8" descr="Succès métrique icône pour la toile, application, infographie, etc 45630880  Art vectoriel chez Vecteezy">
            <a:extLst>
              <a:ext uri="{FF2B5EF4-FFF2-40B4-BE49-F238E27FC236}">
                <a16:creationId xmlns:a16="http://schemas.microsoft.com/office/drawing/2014/main" id="{79090343-9D4D-703D-F46C-00A3D261CD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7855" y="1956391"/>
            <a:ext cx="4465674" cy="446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40091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9042BD-93A0-DAB6-8F58-1A73789CF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Métriques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344CC8-D55D-75FD-115F-ECFAEEC09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4626" y="1924465"/>
            <a:ext cx="4813300" cy="4247735"/>
          </a:xfrm>
        </p:spPr>
        <p:txBody>
          <a:bodyPr>
            <a:normAutofit fontScale="92500" lnSpcReduction="20000"/>
          </a:bodyPr>
          <a:lstStyle/>
          <a:p>
            <a:r>
              <a:rPr lang="fr-FR" dirty="0" err="1"/>
              <a:t>Accuracy</a:t>
            </a:r>
            <a:r>
              <a:rPr lang="fr-FR" dirty="0"/>
              <a:t> (%)</a:t>
            </a:r>
          </a:p>
          <a:p>
            <a:r>
              <a:rPr lang="fr-FR" dirty="0" err="1"/>
              <a:t>Precision</a:t>
            </a:r>
            <a:r>
              <a:rPr lang="fr-FR" dirty="0"/>
              <a:t> (macro) (%)</a:t>
            </a:r>
          </a:p>
          <a:p>
            <a:r>
              <a:rPr lang="fr-FR" dirty="0" err="1"/>
              <a:t>Recall</a:t>
            </a:r>
            <a:r>
              <a:rPr lang="fr-FR" dirty="0"/>
              <a:t> (macro) (%)</a:t>
            </a:r>
          </a:p>
          <a:p>
            <a:r>
              <a:rPr lang="fr-FR" dirty="0"/>
              <a:t>F1 (macro) (%)</a:t>
            </a:r>
          </a:p>
          <a:p>
            <a:r>
              <a:rPr lang="fr-FR" dirty="0" err="1"/>
              <a:t>Precision</a:t>
            </a:r>
            <a:r>
              <a:rPr lang="fr-FR" dirty="0"/>
              <a:t> (</a:t>
            </a:r>
            <a:r>
              <a:rPr lang="fr-FR" dirty="0" err="1"/>
              <a:t>weighted</a:t>
            </a:r>
            <a:r>
              <a:rPr lang="fr-FR" dirty="0"/>
              <a:t>) </a:t>
            </a:r>
          </a:p>
          <a:p>
            <a:r>
              <a:rPr lang="fr-FR" dirty="0" err="1"/>
              <a:t>Recall</a:t>
            </a:r>
            <a:r>
              <a:rPr lang="fr-FR" dirty="0"/>
              <a:t> (</a:t>
            </a:r>
            <a:r>
              <a:rPr lang="fr-FR" dirty="0" err="1"/>
              <a:t>weighted</a:t>
            </a:r>
            <a:r>
              <a:rPr lang="fr-FR" dirty="0"/>
              <a:t>)</a:t>
            </a:r>
          </a:p>
          <a:p>
            <a:r>
              <a:rPr lang="fr-FR" dirty="0"/>
              <a:t>F1 (</a:t>
            </a:r>
            <a:r>
              <a:rPr lang="fr-FR" dirty="0" err="1"/>
              <a:t>weighted</a:t>
            </a:r>
            <a:r>
              <a:rPr lang="fr-FR" dirty="0"/>
              <a:t>)</a:t>
            </a:r>
          </a:p>
          <a:p>
            <a:r>
              <a:rPr lang="fr-FR" dirty="0"/>
              <a:t>Temps moyen (s)</a:t>
            </a:r>
          </a:p>
          <a:p>
            <a:r>
              <a:rPr lang="fr-FR" dirty="0"/>
              <a:t>Temps médian (s)</a:t>
            </a:r>
          </a:p>
          <a:p>
            <a:r>
              <a:rPr lang="fr-FR" dirty="0"/>
              <a:t>Temps P95 (s)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489AD26-BEAA-7A40-8CDD-CB8A4D546545}"/>
              </a:ext>
            </a:extLst>
          </p:cNvPr>
          <p:cNvSpPr txBox="1"/>
          <p:nvPr/>
        </p:nvSpPr>
        <p:spPr>
          <a:xfrm>
            <a:off x="2621268" y="3079751"/>
            <a:ext cx="2065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/>
              <a:t>Métrique principale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9F51975-8232-7EBE-B9A1-2896AB80018E}"/>
              </a:ext>
            </a:extLst>
          </p:cNvPr>
          <p:cNvSpPr txBox="1"/>
          <p:nvPr/>
        </p:nvSpPr>
        <p:spPr>
          <a:xfrm>
            <a:off x="2378067" y="1881188"/>
            <a:ext cx="2308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/>
              <a:t>Métrique secondaire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6C2F5112-FE9F-D71A-DDB5-832722E77ADF}"/>
              </a:ext>
            </a:extLst>
          </p:cNvPr>
          <p:cNvCxnSpPr/>
          <p:nvPr/>
        </p:nvCxnSpPr>
        <p:spPr>
          <a:xfrm>
            <a:off x="2070100" y="2250520"/>
            <a:ext cx="7810500" cy="0"/>
          </a:xfrm>
          <a:prstGeom prst="line">
            <a:avLst/>
          </a:prstGeom>
          <a:ln w="539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D49E0545-1A2F-295F-591C-36C615459BB3}"/>
              </a:ext>
            </a:extLst>
          </p:cNvPr>
          <p:cNvCxnSpPr/>
          <p:nvPr/>
        </p:nvCxnSpPr>
        <p:spPr>
          <a:xfrm>
            <a:off x="2070100" y="3441700"/>
            <a:ext cx="7810500" cy="0"/>
          </a:xfrm>
          <a:prstGeom prst="line">
            <a:avLst/>
          </a:prstGeom>
          <a:ln w="539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CD43FFF0-DB62-3B32-8CA7-C8AC3D3C5AEC}"/>
              </a:ext>
            </a:extLst>
          </p:cNvPr>
          <p:cNvCxnSpPr/>
          <p:nvPr/>
        </p:nvCxnSpPr>
        <p:spPr>
          <a:xfrm>
            <a:off x="2070100" y="4710519"/>
            <a:ext cx="7810500" cy="0"/>
          </a:xfrm>
          <a:prstGeom prst="line">
            <a:avLst/>
          </a:prstGeom>
          <a:ln w="539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270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1F45C-DBFB-59D2-5A3E-98F17293F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 descr="LLM or large language model icon for AI website and apps 63132258 Vector  Art at Vecteezy">
            <a:extLst>
              <a:ext uri="{FF2B5EF4-FFF2-40B4-BE49-F238E27FC236}">
                <a16:creationId xmlns:a16="http://schemas.microsoft.com/office/drawing/2014/main" id="{301584CD-F61F-5D13-D2BB-21FEF5A8F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4149" y="1562985"/>
            <a:ext cx="5116830" cy="5039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DDB4469-838C-09F1-F352-BA5D5DFA9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Implémentation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0374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E4439-9561-207C-7C8C-812EADE9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B5BAE3-F0D0-87D1-D615-23C4DD333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Approche LLM</a:t>
            </a:r>
            <a:endParaRPr lang="fr-FR" dirty="0"/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33223D3-CCC3-E07E-FEC8-7FDFF43C1C0E}"/>
              </a:ext>
            </a:extLst>
          </p:cNvPr>
          <p:cNvSpPr txBox="1">
            <a:spLocks/>
          </p:cNvSpPr>
          <p:nvPr/>
        </p:nvSpPr>
        <p:spPr>
          <a:xfrm>
            <a:off x="1665768" y="1794499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 err="1">
                <a:solidFill>
                  <a:sysClr val="windowText" lastClr="000000"/>
                </a:solidFill>
              </a:rPr>
              <a:t>X_train</a:t>
            </a:r>
            <a:endParaRPr lang="fr-FR" sz="2800" b="1" dirty="0">
              <a:solidFill>
                <a:sysClr val="windowText" lastClr="000000"/>
              </a:solidFill>
            </a:endParaRP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sp>
        <p:nvSpPr>
          <p:cNvPr id="5" name="Flèche : droite 4">
            <a:extLst>
              <a:ext uri="{FF2B5EF4-FFF2-40B4-BE49-F238E27FC236}">
                <a16:creationId xmlns:a16="http://schemas.microsoft.com/office/drawing/2014/main" id="{5DDC3051-3358-9EFB-4150-393E0A26DFA7}"/>
              </a:ext>
            </a:extLst>
          </p:cNvPr>
          <p:cNvSpPr/>
          <p:nvPr/>
        </p:nvSpPr>
        <p:spPr>
          <a:xfrm rot="5400000">
            <a:off x="2315607" y="2345459"/>
            <a:ext cx="660258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86D32DCE-24AD-9413-21A8-B1BA6502B6EF}"/>
              </a:ext>
            </a:extLst>
          </p:cNvPr>
          <p:cNvSpPr txBox="1">
            <a:spLocks/>
          </p:cNvSpPr>
          <p:nvPr/>
        </p:nvSpPr>
        <p:spPr>
          <a:xfrm>
            <a:off x="1665768" y="3231405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 err="1">
                <a:solidFill>
                  <a:sysClr val="windowText" lastClr="000000"/>
                </a:solidFill>
              </a:rPr>
              <a:t>Faiss</a:t>
            </a:r>
            <a:endParaRPr lang="fr-FR" sz="2800" b="1" dirty="0">
              <a:solidFill>
                <a:sysClr val="windowText" lastClr="000000"/>
              </a:solidFill>
            </a:endParaRPr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D918D3A1-D7D8-9052-B814-39299D0D5A9C}"/>
              </a:ext>
            </a:extLst>
          </p:cNvPr>
          <p:cNvSpPr/>
          <p:nvPr/>
        </p:nvSpPr>
        <p:spPr>
          <a:xfrm rot="5400000">
            <a:off x="2315606" y="3782365"/>
            <a:ext cx="66025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ACF8244E-FDBF-415C-FA50-7B1F216824F0}"/>
              </a:ext>
            </a:extLst>
          </p:cNvPr>
          <p:cNvSpPr txBox="1">
            <a:spLocks/>
          </p:cNvSpPr>
          <p:nvPr/>
        </p:nvSpPr>
        <p:spPr>
          <a:xfrm>
            <a:off x="1665767" y="4630211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prompt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5055341C-544E-C42F-C9C3-0E8F759A282E}"/>
              </a:ext>
            </a:extLst>
          </p:cNvPr>
          <p:cNvSpPr txBox="1">
            <a:spLocks/>
          </p:cNvSpPr>
          <p:nvPr/>
        </p:nvSpPr>
        <p:spPr>
          <a:xfrm>
            <a:off x="4192770" y="4630211"/>
            <a:ext cx="7747593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Classification par prompt avec exemples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FB5F0CCD-F181-7852-444C-5A6B91A7D381}"/>
              </a:ext>
            </a:extLst>
          </p:cNvPr>
          <p:cNvSpPr txBox="1">
            <a:spLocks/>
          </p:cNvSpPr>
          <p:nvPr/>
        </p:nvSpPr>
        <p:spPr>
          <a:xfrm>
            <a:off x="4192770" y="3231405"/>
            <a:ext cx="7747593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Vectorise le jeu d’entrainement pour extraire des exemples pertinents</a:t>
            </a:r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2DF4AA5F-B1CB-5819-5E50-97D34C34E055}"/>
              </a:ext>
            </a:extLst>
          </p:cNvPr>
          <p:cNvSpPr txBox="1">
            <a:spLocks/>
          </p:cNvSpPr>
          <p:nvPr/>
        </p:nvSpPr>
        <p:spPr>
          <a:xfrm>
            <a:off x="4192770" y="1794499"/>
            <a:ext cx="7747593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Jeu d’entrainement filtré (~300,000 lignes)</a:t>
            </a: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8AAC20A-EF2D-5E76-23C8-57BC2C8FB12A}"/>
              </a:ext>
            </a:extLst>
          </p:cNvPr>
          <p:cNvSpPr/>
          <p:nvPr/>
        </p:nvSpPr>
        <p:spPr>
          <a:xfrm rot="5400000">
            <a:off x="2338825" y="5157950"/>
            <a:ext cx="613820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110581D0-ED33-6AD0-D853-7B6A3FBA41CE}"/>
              </a:ext>
            </a:extLst>
          </p:cNvPr>
          <p:cNvSpPr txBox="1">
            <a:spLocks/>
          </p:cNvSpPr>
          <p:nvPr/>
        </p:nvSpPr>
        <p:spPr>
          <a:xfrm>
            <a:off x="1665766" y="5946362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TAG</a:t>
            </a:r>
          </a:p>
        </p:txBody>
      </p:sp>
      <p:sp>
        <p:nvSpPr>
          <p:cNvPr id="13" name="Sous-titre 2">
            <a:extLst>
              <a:ext uri="{FF2B5EF4-FFF2-40B4-BE49-F238E27FC236}">
                <a16:creationId xmlns:a16="http://schemas.microsoft.com/office/drawing/2014/main" id="{5D5EE8A6-FA82-79ED-2FCC-227B7701BF90}"/>
              </a:ext>
            </a:extLst>
          </p:cNvPr>
          <p:cNvSpPr txBox="1">
            <a:spLocks/>
          </p:cNvSpPr>
          <p:nvPr/>
        </p:nvSpPr>
        <p:spPr>
          <a:xfrm>
            <a:off x="4192769" y="5946362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Catégorie</a:t>
            </a:r>
          </a:p>
        </p:txBody>
      </p:sp>
    </p:spTree>
    <p:extLst>
      <p:ext uri="{BB962C8B-B14F-4D97-AF65-F5344CB8AC3E}">
        <p14:creationId xmlns:p14="http://schemas.microsoft.com/office/powerpoint/2010/main" val="3310418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A931B94-C1FB-9BE2-3281-36826804F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829" y="3286636"/>
            <a:ext cx="11221144" cy="2409311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C6005B1D-AC92-C379-9562-8AB029E26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Approche LLM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EF4E60-A0CC-4334-F459-3A1D25315BE7}"/>
              </a:ext>
            </a:extLst>
          </p:cNvPr>
          <p:cNvSpPr/>
          <p:nvPr/>
        </p:nvSpPr>
        <p:spPr>
          <a:xfrm>
            <a:off x="534829" y="5379102"/>
            <a:ext cx="11221144" cy="33020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816E5B-F882-6DAD-DA0B-F378BB66B04D}"/>
              </a:ext>
            </a:extLst>
          </p:cNvPr>
          <p:cNvSpPr txBox="1"/>
          <p:nvPr/>
        </p:nvSpPr>
        <p:spPr>
          <a:xfrm rot="19347141">
            <a:off x="8227337" y="2208148"/>
            <a:ext cx="2065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Métrique principale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69927C8-0A6B-EE47-4273-BA21A27DFBBC}"/>
              </a:ext>
            </a:extLst>
          </p:cNvPr>
          <p:cNvSpPr txBox="1"/>
          <p:nvPr/>
        </p:nvSpPr>
        <p:spPr>
          <a:xfrm rot="19347141">
            <a:off x="7036110" y="2134042"/>
            <a:ext cx="2308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Métrique secondaire</a:t>
            </a:r>
          </a:p>
        </p:txBody>
      </p:sp>
    </p:spTree>
    <p:extLst>
      <p:ext uri="{BB962C8B-B14F-4D97-AF65-F5344CB8AC3E}">
        <p14:creationId xmlns:p14="http://schemas.microsoft.com/office/powerpoint/2010/main" val="19514742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1399C-C410-2002-6A3F-F4BE9AFA4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D780736-8801-047C-7DC4-7DE42C126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928" y="2150344"/>
            <a:ext cx="10847615" cy="365929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9087E6C8-007C-76AE-D004-5A876F7C1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Analyse par catégorie</a:t>
            </a:r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3D2887-F45F-FA98-46FC-AE8B0336E24F}"/>
              </a:ext>
            </a:extLst>
          </p:cNvPr>
          <p:cNvSpPr/>
          <p:nvPr/>
        </p:nvSpPr>
        <p:spPr>
          <a:xfrm>
            <a:off x="5220586" y="3924466"/>
            <a:ext cx="6316957" cy="27267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21B556-AA0A-275F-2A33-BD76597E0D63}"/>
              </a:ext>
            </a:extLst>
          </p:cNvPr>
          <p:cNvSpPr/>
          <p:nvPr/>
        </p:nvSpPr>
        <p:spPr>
          <a:xfrm>
            <a:off x="3958523" y="4167001"/>
            <a:ext cx="7579020" cy="27267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778992-C07D-2345-98DA-A9C15EACBD98}"/>
              </a:ext>
            </a:extLst>
          </p:cNvPr>
          <p:cNvSpPr/>
          <p:nvPr/>
        </p:nvSpPr>
        <p:spPr>
          <a:xfrm>
            <a:off x="5220586" y="4616609"/>
            <a:ext cx="6316957" cy="27267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33F423-DEB6-9128-EF17-CCCB4FE59618}"/>
              </a:ext>
            </a:extLst>
          </p:cNvPr>
          <p:cNvSpPr/>
          <p:nvPr/>
        </p:nvSpPr>
        <p:spPr>
          <a:xfrm>
            <a:off x="5220586" y="3272564"/>
            <a:ext cx="6316957" cy="27267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354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336A1-9489-38FC-CFC0-F1470FFA6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Machine Learning Certified Professional (MLCP)">
            <a:extLst>
              <a:ext uri="{FF2B5EF4-FFF2-40B4-BE49-F238E27FC236}">
                <a16:creationId xmlns:a16="http://schemas.microsoft.com/office/drawing/2014/main" id="{E0159E87-2505-5F28-A71E-3E9EAA5E70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2" r="19121"/>
          <a:stretch>
            <a:fillRect/>
          </a:stretch>
        </p:blipFill>
        <p:spPr bwMode="auto">
          <a:xfrm>
            <a:off x="7804298" y="0"/>
            <a:ext cx="435934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2ABA96C-0BF8-98F9-09DF-02D9BC1A2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Implémentation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9419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5A7270-7718-F18D-E911-C4ABC1A6A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Approche ML</a:t>
            </a:r>
            <a:endParaRPr lang="fr-FR" dirty="0"/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5B84969B-8B0F-DC1D-C65B-75CCE3E9DDB5}"/>
              </a:ext>
            </a:extLst>
          </p:cNvPr>
          <p:cNvSpPr txBox="1">
            <a:spLocks/>
          </p:cNvSpPr>
          <p:nvPr/>
        </p:nvSpPr>
        <p:spPr>
          <a:xfrm>
            <a:off x="1665768" y="1794499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 err="1">
                <a:solidFill>
                  <a:sysClr val="windowText" lastClr="000000"/>
                </a:solidFill>
              </a:rPr>
              <a:t>X_train</a:t>
            </a:r>
            <a:endParaRPr lang="fr-FR" sz="2800" b="1" dirty="0">
              <a:solidFill>
                <a:sysClr val="windowText" lastClr="000000"/>
              </a:solidFill>
            </a:endParaRP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sp>
        <p:nvSpPr>
          <p:cNvPr id="5" name="Flèche : droite 4">
            <a:extLst>
              <a:ext uri="{FF2B5EF4-FFF2-40B4-BE49-F238E27FC236}">
                <a16:creationId xmlns:a16="http://schemas.microsoft.com/office/drawing/2014/main" id="{7ACFE93B-6DAF-A440-8F62-99F8C5A3BFE2}"/>
              </a:ext>
            </a:extLst>
          </p:cNvPr>
          <p:cNvSpPr/>
          <p:nvPr/>
        </p:nvSpPr>
        <p:spPr>
          <a:xfrm rot="5400000">
            <a:off x="2338825" y="2314813"/>
            <a:ext cx="613821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780A6DB8-BFEF-1877-827D-A72706BB9E18}"/>
              </a:ext>
            </a:extLst>
          </p:cNvPr>
          <p:cNvSpPr txBox="1">
            <a:spLocks/>
          </p:cNvSpPr>
          <p:nvPr/>
        </p:nvSpPr>
        <p:spPr>
          <a:xfrm>
            <a:off x="1665768" y="3103224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TF-IDF</a:t>
            </a:r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A5B7F632-9D76-4616-6A1A-E838712F86BC}"/>
              </a:ext>
            </a:extLst>
          </p:cNvPr>
          <p:cNvSpPr/>
          <p:nvPr/>
        </p:nvSpPr>
        <p:spPr>
          <a:xfrm rot="5400000">
            <a:off x="2338825" y="3623538"/>
            <a:ext cx="613821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6767FB5C-5BB8-3FAE-4697-04C10860C416}"/>
              </a:ext>
            </a:extLst>
          </p:cNvPr>
          <p:cNvSpPr txBox="1">
            <a:spLocks/>
          </p:cNvSpPr>
          <p:nvPr/>
        </p:nvSpPr>
        <p:spPr>
          <a:xfrm>
            <a:off x="1665767" y="4411949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classifier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96F891FE-397A-E407-DA4D-021BD667BF6C}"/>
              </a:ext>
            </a:extLst>
          </p:cNvPr>
          <p:cNvSpPr txBox="1">
            <a:spLocks/>
          </p:cNvSpPr>
          <p:nvPr/>
        </p:nvSpPr>
        <p:spPr>
          <a:xfrm>
            <a:off x="4192770" y="4458022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Logistic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Regression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Linear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 SVC, </a:t>
            </a:r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Complement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 NB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443BFE38-1CCD-1F9C-EBEC-17C8738C7DA2}"/>
              </a:ext>
            </a:extLst>
          </p:cNvPr>
          <p:cNvSpPr txBox="1">
            <a:spLocks/>
          </p:cNvSpPr>
          <p:nvPr/>
        </p:nvSpPr>
        <p:spPr>
          <a:xfrm>
            <a:off x="4192770" y="3110310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Vectorise les variables d’entrées</a:t>
            </a:r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BE15534B-4F9E-9B48-9466-3CFF6DE00E03}"/>
              </a:ext>
            </a:extLst>
          </p:cNvPr>
          <p:cNvSpPr txBox="1">
            <a:spLocks/>
          </p:cNvSpPr>
          <p:nvPr/>
        </p:nvSpPr>
        <p:spPr>
          <a:xfrm>
            <a:off x="4192770" y="1794499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Jeu d’entrainement filtré (~300,000 lignes)</a:t>
            </a: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9BD66BE9-067A-244F-931A-E8A4301F3EEE}"/>
              </a:ext>
            </a:extLst>
          </p:cNvPr>
          <p:cNvSpPr/>
          <p:nvPr/>
        </p:nvSpPr>
        <p:spPr>
          <a:xfrm rot="5400000">
            <a:off x="2338825" y="4932262"/>
            <a:ext cx="613820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F352896E-03CF-ADDA-6247-FA00FC2AE61F}"/>
              </a:ext>
            </a:extLst>
          </p:cNvPr>
          <p:cNvSpPr txBox="1">
            <a:spLocks/>
          </p:cNvSpPr>
          <p:nvPr/>
        </p:nvSpPr>
        <p:spPr>
          <a:xfrm>
            <a:off x="1665766" y="5720674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TAG</a:t>
            </a:r>
          </a:p>
        </p:txBody>
      </p:sp>
      <p:sp>
        <p:nvSpPr>
          <p:cNvPr id="13" name="Sous-titre 2">
            <a:extLst>
              <a:ext uri="{FF2B5EF4-FFF2-40B4-BE49-F238E27FC236}">
                <a16:creationId xmlns:a16="http://schemas.microsoft.com/office/drawing/2014/main" id="{FB3ED2EA-E36E-0ACC-2C88-0D7DD5F6887C}"/>
              </a:ext>
            </a:extLst>
          </p:cNvPr>
          <p:cNvSpPr txBox="1">
            <a:spLocks/>
          </p:cNvSpPr>
          <p:nvPr/>
        </p:nvSpPr>
        <p:spPr>
          <a:xfrm>
            <a:off x="4192769" y="5720674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Catégorie</a:t>
            </a:r>
          </a:p>
        </p:txBody>
      </p:sp>
    </p:spTree>
    <p:extLst>
      <p:ext uri="{BB962C8B-B14F-4D97-AF65-F5344CB8AC3E}">
        <p14:creationId xmlns:p14="http://schemas.microsoft.com/office/powerpoint/2010/main" val="3440520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33E11-437C-FA87-91A8-4949ACBB8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152356CF-B318-DB1A-C1C0-96749DB341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98" y="3153513"/>
            <a:ext cx="11249991" cy="145833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39FE63B3-5258-5E2E-47E0-CF0EE894F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Approche ML</a:t>
            </a:r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5907A0-B71C-D0F5-C777-95B6BE708204}"/>
              </a:ext>
            </a:extLst>
          </p:cNvPr>
          <p:cNvSpPr/>
          <p:nvPr/>
        </p:nvSpPr>
        <p:spPr>
          <a:xfrm>
            <a:off x="647700" y="3913250"/>
            <a:ext cx="11249990" cy="36246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009FBA4-2518-4BFA-0D60-A9F2B8511C4A}"/>
              </a:ext>
            </a:extLst>
          </p:cNvPr>
          <p:cNvSpPr txBox="1"/>
          <p:nvPr/>
        </p:nvSpPr>
        <p:spPr>
          <a:xfrm rot="19347141">
            <a:off x="8073655" y="2160350"/>
            <a:ext cx="2065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Métrique principale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E4DFE25-8793-399E-E535-B3500591FBA7}"/>
              </a:ext>
            </a:extLst>
          </p:cNvPr>
          <p:cNvSpPr txBox="1"/>
          <p:nvPr/>
        </p:nvSpPr>
        <p:spPr>
          <a:xfrm rot="19347141">
            <a:off x="6882428" y="2086244"/>
            <a:ext cx="2308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Métrique secondaire</a:t>
            </a:r>
          </a:p>
        </p:txBody>
      </p:sp>
    </p:spTree>
    <p:extLst>
      <p:ext uri="{BB962C8B-B14F-4D97-AF65-F5344CB8AC3E}">
        <p14:creationId xmlns:p14="http://schemas.microsoft.com/office/powerpoint/2010/main" val="40739401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C97F0851-CA3A-FD32-89BC-A8D747A4D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75" y="2240196"/>
            <a:ext cx="11371477" cy="3874076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45EC679-B508-3908-12DF-04B9C693F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Analyse par catégorie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024574-4473-7143-151C-1212AC58F899}"/>
              </a:ext>
            </a:extLst>
          </p:cNvPr>
          <p:cNvSpPr/>
          <p:nvPr/>
        </p:nvSpPr>
        <p:spPr>
          <a:xfrm>
            <a:off x="5422603" y="4129199"/>
            <a:ext cx="6316957" cy="27267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19B489-7C8A-0548-F993-D87381E8A52E}"/>
              </a:ext>
            </a:extLst>
          </p:cNvPr>
          <p:cNvSpPr/>
          <p:nvPr/>
        </p:nvSpPr>
        <p:spPr>
          <a:xfrm>
            <a:off x="5462795" y="4856976"/>
            <a:ext cx="6316957" cy="27267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9A7C73-A802-E626-1CCF-7AD01CC2E515}"/>
              </a:ext>
            </a:extLst>
          </p:cNvPr>
          <p:cNvSpPr/>
          <p:nvPr/>
        </p:nvSpPr>
        <p:spPr>
          <a:xfrm>
            <a:off x="3786395" y="4401878"/>
            <a:ext cx="7993357" cy="236794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0174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8FA21-DD71-A5C3-5979-28F14EE15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 descr="LLM or large language model icon for AI website and apps 63132258 Vector  Art at Vecteezy">
            <a:extLst>
              <a:ext uri="{FF2B5EF4-FFF2-40B4-BE49-F238E27FC236}">
                <a16:creationId xmlns:a16="http://schemas.microsoft.com/office/drawing/2014/main" id="{C4BD43A4-3661-9DEA-CE2D-CF4E947B9A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4149" y="1562985"/>
            <a:ext cx="5116830" cy="5039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FBD24B8-8AAB-EF76-7B2E-97FC6C9E2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Déploiement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9618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81055-AA53-040C-D698-1E0A7861C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A5DB45-4ECF-E0EB-9494-A7A82AC87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LLM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A5419C-DE81-1F41-1C7D-5D66D1D6E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929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Créer un </a:t>
            </a:r>
            <a:r>
              <a:rPr lang="fr-FR" b="1" dirty="0" err="1"/>
              <a:t>microservice</a:t>
            </a:r>
            <a:r>
              <a:rPr lang="fr-FR" b="1" dirty="0"/>
              <a:t> de classification dédiée</a:t>
            </a:r>
            <a:r>
              <a:rPr lang="fr-FR" dirty="0"/>
              <a:t>, qui expose une API HTTP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Ex: Fast API :</a:t>
            </a:r>
          </a:p>
          <a:p>
            <a:r>
              <a:rPr lang="fr-FR" dirty="0"/>
              <a:t>Interrogeable en ligne / en réseau local</a:t>
            </a:r>
          </a:p>
          <a:p>
            <a:r>
              <a:rPr lang="fr-FR" dirty="0"/>
              <a:t>Le backend </a:t>
            </a:r>
            <a:r>
              <a:rPr lang="fr-FR" dirty="0" err="1"/>
              <a:t>ZenAssist</a:t>
            </a:r>
            <a:r>
              <a:rPr lang="fr-FR" dirty="0"/>
              <a:t> n'a pas besoin de connaître </a:t>
            </a:r>
            <a:r>
              <a:rPr lang="fr-FR" dirty="0" err="1"/>
              <a:t>Faiss</a:t>
            </a:r>
            <a:r>
              <a:rPr lang="fr-FR" dirty="0"/>
              <a:t> ou Python</a:t>
            </a:r>
          </a:p>
          <a:p>
            <a:r>
              <a:rPr lang="fr-FR" dirty="0"/>
              <a:t>Déploiement simple avec </a:t>
            </a:r>
            <a:r>
              <a:rPr lang="fr-FR" dirty="0" err="1"/>
              <a:t>FastAPI</a:t>
            </a:r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5FF1A808-4EAA-E9E2-9CBD-F5DC71A03821}"/>
              </a:ext>
            </a:extLst>
          </p:cNvPr>
          <p:cNvGrpSpPr/>
          <p:nvPr/>
        </p:nvGrpSpPr>
        <p:grpSpPr>
          <a:xfrm>
            <a:off x="7658100" y="825500"/>
            <a:ext cx="4165600" cy="5778500"/>
            <a:chOff x="7658100" y="825500"/>
            <a:chExt cx="4165600" cy="57785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B7AE7E8-8B25-78E4-2213-C295F0BEECCC}"/>
                </a:ext>
              </a:extLst>
            </p:cNvPr>
            <p:cNvSpPr/>
            <p:nvPr/>
          </p:nvSpPr>
          <p:spPr>
            <a:xfrm>
              <a:off x="7658100" y="825500"/>
              <a:ext cx="4165600" cy="5778500"/>
            </a:xfrm>
            <a:prstGeom prst="rect">
              <a:avLst/>
            </a:prstGeom>
            <a:gradFill>
              <a:gsLst>
                <a:gs pos="0">
                  <a:schemeClr val="accent5">
                    <a:satMod val="105000"/>
                    <a:tint val="67000"/>
                    <a:lumMod val="87000"/>
                    <a:lumOff val="13000"/>
                  </a:schemeClr>
                </a:gs>
                <a:gs pos="50000">
                  <a:schemeClr val="accent5">
                    <a:lumMod val="105000"/>
                    <a:satMod val="103000"/>
                    <a:tint val="73000"/>
                  </a:schemeClr>
                </a:gs>
                <a:gs pos="100000">
                  <a:schemeClr val="accent5">
                    <a:lumMod val="105000"/>
                    <a:satMod val="109000"/>
                    <a:tint val="81000"/>
                  </a:schemeClr>
                </a:gs>
              </a:gsLst>
            </a:gradFill>
            <a:ln w="66675" cap="rnd">
              <a:round/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Flèche : droite 3">
              <a:extLst>
                <a:ext uri="{FF2B5EF4-FFF2-40B4-BE49-F238E27FC236}">
                  <a16:creationId xmlns:a16="http://schemas.microsoft.com/office/drawing/2014/main" id="{5A1E77D2-2F28-AFE1-7C6F-5003F94EECBF}"/>
                </a:ext>
              </a:extLst>
            </p:cNvPr>
            <p:cNvSpPr/>
            <p:nvPr/>
          </p:nvSpPr>
          <p:spPr>
            <a:xfrm rot="5400000">
              <a:off x="9518784" y="1478650"/>
              <a:ext cx="498147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7F1E9955-75E5-1A60-3F4D-8461BE11B87F}"/>
                </a:ext>
              </a:extLst>
            </p:cNvPr>
            <p:cNvSpPr txBox="1"/>
            <p:nvPr/>
          </p:nvSpPr>
          <p:spPr>
            <a:xfrm>
              <a:off x="9005857" y="1071540"/>
              <a:ext cx="1524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 err="1"/>
                <a:t>ZenAssist</a:t>
              </a:r>
              <a:endParaRPr lang="fr-FR" b="1" dirty="0"/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BF5516A-CEC6-974B-9D88-AFEB8017A71E}"/>
                </a:ext>
              </a:extLst>
            </p:cNvPr>
            <p:cNvSpPr txBox="1"/>
            <p:nvPr/>
          </p:nvSpPr>
          <p:spPr>
            <a:xfrm>
              <a:off x="9005857" y="1999005"/>
              <a:ext cx="1524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/>
                <a:t>Backend </a:t>
              </a:r>
              <a:r>
                <a:rPr lang="fr-FR" b="1" dirty="0" err="1"/>
                <a:t>ZenAssist</a:t>
              </a:r>
              <a:endParaRPr lang="fr-FR" b="1" dirty="0"/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6D32687D-1B37-E4FB-A129-7B5D97CF022E}"/>
                </a:ext>
              </a:extLst>
            </p:cNvPr>
            <p:cNvSpPr txBox="1"/>
            <p:nvPr/>
          </p:nvSpPr>
          <p:spPr>
            <a:xfrm>
              <a:off x="8767729" y="3203469"/>
              <a:ext cx="20002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API Classification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4A72799A-52B3-D3A3-E5D2-ABB3DC1C9CAF}"/>
                </a:ext>
              </a:extLst>
            </p:cNvPr>
            <p:cNvSpPr txBox="1"/>
            <p:nvPr/>
          </p:nvSpPr>
          <p:spPr>
            <a:xfrm>
              <a:off x="8504213" y="5985862"/>
              <a:ext cx="252728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Catégorie prédite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80A46386-D383-976D-DABE-D3859C86B201}"/>
                </a:ext>
              </a:extLst>
            </p:cNvPr>
            <p:cNvSpPr txBox="1"/>
            <p:nvPr/>
          </p:nvSpPr>
          <p:spPr>
            <a:xfrm>
              <a:off x="8767729" y="4130934"/>
              <a:ext cx="20002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Prompt + RAG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C006DDF3-FA2B-35E3-E389-7AEBC8440DAF}"/>
                </a:ext>
              </a:extLst>
            </p:cNvPr>
            <p:cNvSpPr txBox="1"/>
            <p:nvPr/>
          </p:nvSpPr>
          <p:spPr>
            <a:xfrm>
              <a:off x="8767729" y="5058399"/>
              <a:ext cx="20002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API Mistral</a:t>
              </a:r>
            </a:p>
          </p:txBody>
        </p:sp>
        <p:sp>
          <p:nvSpPr>
            <p:cNvPr id="19" name="Flèche : droite 18">
              <a:extLst>
                <a:ext uri="{FF2B5EF4-FFF2-40B4-BE49-F238E27FC236}">
                  <a16:creationId xmlns:a16="http://schemas.microsoft.com/office/drawing/2014/main" id="{616108B1-BFC6-03C0-56D1-FD130DF50B94}"/>
                </a:ext>
              </a:extLst>
            </p:cNvPr>
            <p:cNvSpPr/>
            <p:nvPr/>
          </p:nvSpPr>
          <p:spPr>
            <a:xfrm rot="5400000">
              <a:off x="9518784" y="2683114"/>
              <a:ext cx="498147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lèche : droite 19">
              <a:extLst>
                <a:ext uri="{FF2B5EF4-FFF2-40B4-BE49-F238E27FC236}">
                  <a16:creationId xmlns:a16="http://schemas.microsoft.com/office/drawing/2014/main" id="{7F87BDFB-75B2-E2F5-650B-368018CD90F9}"/>
                </a:ext>
              </a:extLst>
            </p:cNvPr>
            <p:cNvSpPr/>
            <p:nvPr/>
          </p:nvSpPr>
          <p:spPr>
            <a:xfrm rot="5400000">
              <a:off x="9518784" y="3610579"/>
              <a:ext cx="498147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Flèche : droite 20">
              <a:extLst>
                <a:ext uri="{FF2B5EF4-FFF2-40B4-BE49-F238E27FC236}">
                  <a16:creationId xmlns:a16="http://schemas.microsoft.com/office/drawing/2014/main" id="{8FF6D856-C0D7-AD22-CF7C-2B716EB072B0}"/>
                </a:ext>
              </a:extLst>
            </p:cNvPr>
            <p:cNvSpPr/>
            <p:nvPr/>
          </p:nvSpPr>
          <p:spPr>
            <a:xfrm rot="5400000">
              <a:off x="9518784" y="4538044"/>
              <a:ext cx="498147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lèche : droite 21">
              <a:extLst>
                <a:ext uri="{FF2B5EF4-FFF2-40B4-BE49-F238E27FC236}">
                  <a16:creationId xmlns:a16="http://schemas.microsoft.com/office/drawing/2014/main" id="{CF394221-B52D-13DD-6905-686A868DF098}"/>
                </a:ext>
              </a:extLst>
            </p:cNvPr>
            <p:cNvSpPr/>
            <p:nvPr/>
          </p:nvSpPr>
          <p:spPr>
            <a:xfrm rot="5400000">
              <a:off x="9518784" y="5465509"/>
              <a:ext cx="498147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3" name="Picture 4" descr="LLM or large language model icon for AI website and apps 63132258 Vector  Art at Vecteezy">
              <a:extLst>
                <a:ext uri="{FF2B5EF4-FFF2-40B4-BE49-F238E27FC236}">
                  <a16:creationId xmlns:a16="http://schemas.microsoft.com/office/drawing/2014/main" id="{13A7660D-2AD6-2476-F1AA-9C77EB2242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37884" y="930555"/>
              <a:ext cx="1075911" cy="1059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336733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8995D-C304-A229-8A46-CF2352A24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Machine Learning Certified Professional (MLCP)">
            <a:extLst>
              <a:ext uri="{FF2B5EF4-FFF2-40B4-BE49-F238E27FC236}">
                <a16:creationId xmlns:a16="http://schemas.microsoft.com/office/drawing/2014/main" id="{AB4FCF91-C02E-708B-5E93-B6A56E5B1A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2" r="19121"/>
          <a:stretch>
            <a:fillRect/>
          </a:stretch>
        </p:blipFill>
        <p:spPr bwMode="auto">
          <a:xfrm>
            <a:off x="7804298" y="0"/>
            <a:ext cx="435934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A90ED79-6A33-2ED9-32E5-3DA577813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Déploiement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4635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06377-49D4-E81A-45BC-2B0228B9D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EBD5CA-059C-492D-C598-162CF3AEF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ML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25C16C-1674-04CB-3E6E-93A0E6889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929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FR" dirty="0"/>
              <a:t>Créer un </a:t>
            </a:r>
            <a:r>
              <a:rPr lang="fr-FR" b="1" dirty="0" err="1"/>
              <a:t>microservice</a:t>
            </a:r>
            <a:r>
              <a:rPr lang="fr-FR" b="1" dirty="0"/>
              <a:t> de classification dédiée</a:t>
            </a:r>
            <a:r>
              <a:rPr lang="fr-FR" dirty="0"/>
              <a:t>, qui expose une API HTTP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Ex: </a:t>
            </a:r>
            <a:r>
              <a:rPr lang="fr-FR" dirty="0" err="1"/>
              <a:t>BentoML</a:t>
            </a:r>
            <a:r>
              <a:rPr lang="fr-FR" dirty="0"/>
              <a:t> :</a:t>
            </a:r>
          </a:p>
          <a:p>
            <a:r>
              <a:rPr lang="fr-FR" dirty="0"/>
              <a:t>Interrogeable en ligne / en réseau local</a:t>
            </a:r>
          </a:p>
          <a:p>
            <a:r>
              <a:rPr lang="fr-FR" dirty="0"/>
              <a:t>Le backend </a:t>
            </a:r>
            <a:r>
              <a:rPr lang="fr-FR" dirty="0" err="1"/>
              <a:t>ZenAssist</a:t>
            </a:r>
            <a:r>
              <a:rPr lang="fr-FR" dirty="0"/>
              <a:t> n'a pas besoin de connaître </a:t>
            </a:r>
            <a:r>
              <a:rPr lang="fr-FR" dirty="0" err="1"/>
              <a:t>scikit-learn</a:t>
            </a:r>
            <a:r>
              <a:rPr lang="fr-FR" dirty="0"/>
              <a:t>, TF-IDF ou </a:t>
            </a:r>
            <a:r>
              <a:rPr lang="fr-FR" dirty="0" err="1"/>
              <a:t>LinearSVC</a:t>
            </a:r>
            <a:endParaRPr lang="fr-FR" dirty="0"/>
          </a:p>
          <a:p>
            <a:r>
              <a:rPr lang="fr-FR" dirty="0"/>
              <a:t>Gérer un versioning des modèles</a:t>
            </a:r>
          </a:p>
          <a:p>
            <a:r>
              <a:rPr lang="fr-FR" dirty="0"/>
              <a:t>Déploiement simple depuis Python</a:t>
            </a:r>
          </a:p>
          <a:p>
            <a:r>
              <a:rPr lang="fr-FR" dirty="0"/>
              <a:t>Génération automatique du service API</a:t>
            </a: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EE96F69D-43C0-A291-86BF-680218405B2A}"/>
              </a:ext>
            </a:extLst>
          </p:cNvPr>
          <p:cNvGrpSpPr/>
          <p:nvPr/>
        </p:nvGrpSpPr>
        <p:grpSpPr>
          <a:xfrm>
            <a:off x="7658100" y="814867"/>
            <a:ext cx="4165600" cy="5778500"/>
            <a:chOff x="7658100" y="814867"/>
            <a:chExt cx="4165600" cy="57785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D0C9967-7B2F-1FC8-F53D-FD86B39B53FE}"/>
                </a:ext>
              </a:extLst>
            </p:cNvPr>
            <p:cNvSpPr/>
            <p:nvPr/>
          </p:nvSpPr>
          <p:spPr>
            <a:xfrm>
              <a:off x="7658100" y="814867"/>
              <a:ext cx="4165600" cy="5778500"/>
            </a:xfrm>
            <a:prstGeom prst="rect">
              <a:avLst/>
            </a:prstGeom>
            <a:gradFill>
              <a:gsLst>
                <a:gs pos="0">
                  <a:schemeClr val="accent5">
                    <a:satMod val="105000"/>
                    <a:tint val="67000"/>
                    <a:lumMod val="87000"/>
                    <a:lumOff val="13000"/>
                  </a:schemeClr>
                </a:gs>
                <a:gs pos="50000">
                  <a:schemeClr val="accent5">
                    <a:lumMod val="105000"/>
                    <a:satMod val="103000"/>
                    <a:tint val="73000"/>
                  </a:schemeClr>
                </a:gs>
                <a:gs pos="100000">
                  <a:schemeClr val="accent5">
                    <a:lumMod val="105000"/>
                    <a:satMod val="109000"/>
                    <a:tint val="81000"/>
                  </a:schemeClr>
                </a:gs>
              </a:gsLst>
            </a:gradFill>
            <a:ln w="66675" cap="rnd">
              <a:round/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Flèche : droite 3">
              <a:extLst>
                <a:ext uri="{FF2B5EF4-FFF2-40B4-BE49-F238E27FC236}">
                  <a16:creationId xmlns:a16="http://schemas.microsoft.com/office/drawing/2014/main" id="{7BFC2845-F7E4-AD22-2458-F59B96D485F2}"/>
                </a:ext>
              </a:extLst>
            </p:cNvPr>
            <p:cNvSpPr/>
            <p:nvPr/>
          </p:nvSpPr>
          <p:spPr>
            <a:xfrm rot="5400000">
              <a:off x="9469687" y="1755581"/>
              <a:ext cx="542425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9C454C45-4750-9266-1537-9FEB2E8C12CB}"/>
                </a:ext>
              </a:extLst>
            </p:cNvPr>
            <p:cNvSpPr txBox="1"/>
            <p:nvPr/>
          </p:nvSpPr>
          <p:spPr>
            <a:xfrm>
              <a:off x="8978899" y="1280999"/>
              <a:ext cx="1524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 err="1"/>
                <a:t>ZenAssist</a:t>
              </a:r>
              <a:endParaRPr lang="fr-FR" b="1" dirty="0"/>
            </a:p>
          </p:txBody>
        </p:sp>
        <p:sp>
          <p:nvSpPr>
            <p:cNvPr id="7" name="Flèche : droite 6">
              <a:extLst>
                <a:ext uri="{FF2B5EF4-FFF2-40B4-BE49-F238E27FC236}">
                  <a16:creationId xmlns:a16="http://schemas.microsoft.com/office/drawing/2014/main" id="{02ADF2B8-3384-A080-3FF6-D00B47C73F73}"/>
                </a:ext>
              </a:extLst>
            </p:cNvPr>
            <p:cNvSpPr/>
            <p:nvPr/>
          </p:nvSpPr>
          <p:spPr>
            <a:xfrm rot="5400000">
              <a:off x="9469687" y="3094989"/>
              <a:ext cx="542425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8F59B0E-30A5-8BD5-6865-62D137D14063}"/>
                </a:ext>
              </a:extLst>
            </p:cNvPr>
            <p:cNvSpPr txBox="1"/>
            <p:nvPr/>
          </p:nvSpPr>
          <p:spPr>
            <a:xfrm>
              <a:off x="8978899" y="2343408"/>
              <a:ext cx="1524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/>
                <a:t>Backend </a:t>
              </a:r>
              <a:r>
                <a:rPr lang="fr-FR" b="1" dirty="0" err="1"/>
                <a:t>ZenAssist</a:t>
              </a:r>
              <a:endParaRPr lang="fr-FR" b="1" dirty="0"/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522EEFE2-87F4-4821-EBB5-9B38F00E0564}"/>
                </a:ext>
              </a:extLst>
            </p:cNvPr>
            <p:cNvSpPr txBox="1"/>
            <p:nvPr/>
          </p:nvSpPr>
          <p:spPr>
            <a:xfrm>
              <a:off x="8740771" y="3682816"/>
              <a:ext cx="20002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API Classification</a:t>
              </a:r>
            </a:p>
          </p:txBody>
        </p:sp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44731ADB-6A7A-B509-741F-75DFA04B5C1A}"/>
                </a:ext>
              </a:extLst>
            </p:cNvPr>
            <p:cNvSpPr/>
            <p:nvPr/>
          </p:nvSpPr>
          <p:spPr>
            <a:xfrm rot="5400000">
              <a:off x="9469687" y="5219806"/>
              <a:ext cx="542424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41141343-85D9-DB78-98DB-99A82BEF1E4F}"/>
                </a:ext>
              </a:extLst>
            </p:cNvPr>
            <p:cNvSpPr txBox="1"/>
            <p:nvPr/>
          </p:nvSpPr>
          <p:spPr>
            <a:xfrm>
              <a:off x="8477255" y="5807631"/>
              <a:ext cx="252728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Catégorie prédite</a:t>
              </a:r>
            </a:p>
          </p:txBody>
        </p:sp>
        <p:pic>
          <p:nvPicPr>
            <p:cNvPr id="16" name="Picture 6" descr="Machine Learning Certified Professional (MLCP)">
              <a:extLst>
                <a:ext uri="{FF2B5EF4-FFF2-40B4-BE49-F238E27FC236}">
                  <a16:creationId xmlns:a16="http://schemas.microsoft.com/office/drawing/2014/main" id="{A4334254-1F4D-3C25-A88D-CC6DDB5692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312" r="19121"/>
            <a:stretch>
              <a:fillRect/>
            </a:stretch>
          </p:blipFill>
          <p:spPr bwMode="auto">
            <a:xfrm>
              <a:off x="7747016" y="919419"/>
              <a:ext cx="1025747" cy="16136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Flèche : droite 8">
              <a:extLst>
                <a:ext uri="{FF2B5EF4-FFF2-40B4-BE49-F238E27FC236}">
                  <a16:creationId xmlns:a16="http://schemas.microsoft.com/office/drawing/2014/main" id="{1E77F62E-5FE1-1791-F4F8-8D8BA5B9233C}"/>
                </a:ext>
              </a:extLst>
            </p:cNvPr>
            <p:cNvSpPr/>
            <p:nvPr/>
          </p:nvSpPr>
          <p:spPr>
            <a:xfrm rot="5400000">
              <a:off x="9469687" y="4157398"/>
              <a:ext cx="542425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259CE47F-4494-9393-A05B-B0EF701628E4}"/>
                </a:ext>
              </a:extLst>
            </p:cNvPr>
            <p:cNvSpPr txBox="1"/>
            <p:nvPr/>
          </p:nvSpPr>
          <p:spPr>
            <a:xfrm>
              <a:off x="8740771" y="4745225"/>
              <a:ext cx="20002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Prédiction Modèle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775095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817A41-79CE-A54F-22AC-3B730A9F3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Cycle de vie ML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0ABBB08-5FAC-1E8A-3C3B-925751BA7105}"/>
              </a:ext>
            </a:extLst>
          </p:cNvPr>
          <p:cNvSpPr txBox="1"/>
          <p:nvPr/>
        </p:nvSpPr>
        <p:spPr>
          <a:xfrm>
            <a:off x="838199" y="1690688"/>
            <a:ext cx="58420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/>
              <a:t>Une fois en production</a:t>
            </a:r>
          </a:p>
          <a:p>
            <a:endParaRPr lang="fr-FR" sz="2800" dirty="0"/>
          </a:p>
          <a:p>
            <a:r>
              <a:rPr lang="fr-FR" sz="2800" dirty="0"/>
              <a:t>Conserver pour chaque Réclamation</a:t>
            </a:r>
          </a:p>
          <a:p>
            <a:r>
              <a:rPr lang="fr-FR" sz="2800" dirty="0"/>
              <a:t>+ prédiction</a:t>
            </a:r>
          </a:p>
          <a:p>
            <a:r>
              <a:rPr lang="fr-FR" sz="2800" dirty="0"/>
              <a:t>+ score/confiance</a:t>
            </a:r>
          </a:p>
          <a:p>
            <a:r>
              <a:rPr lang="fr-FR" sz="2800" dirty="0"/>
              <a:t>+ correction éventuelle de l'utilisateur</a:t>
            </a:r>
          </a:p>
          <a:p>
            <a:endParaRPr lang="fr-FR" sz="2800" dirty="0"/>
          </a:p>
          <a:p>
            <a:r>
              <a:rPr lang="fr-FR" sz="2800" dirty="0"/>
              <a:t>Ces corrections peuvent ensuite constituer les données du prochain entraînement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C5C27A30-45D9-FFA8-578C-DC09B8CBB6F7}"/>
              </a:ext>
            </a:extLst>
          </p:cNvPr>
          <p:cNvGrpSpPr/>
          <p:nvPr/>
        </p:nvGrpSpPr>
        <p:grpSpPr>
          <a:xfrm>
            <a:off x="7801374" y="895128"/>
            <a:ext cx="4165600" cy="5778500"/>
            <a:chOff x="5419681" y="714375"/>
            <a:chExt cx="4165600" cy="57785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0736048-A567-70CD-5B7C-2DC5137D4C1C}"/>
                </a:ext>
              </a:extLst>
            </p:cNvPr>
            <p:cNvSpPr/>
            <p:nvPr/>
          </p:nvSpPr>
          <p:spPr>
            <a:xfrm>
              <a:off x="5419681" y="714375"/>
              <a:ext cx="4165600" cy="5778500"/>
            </a:xfrm>
            <a:prstGeom prst="rect">
              <a:avLst/>
            </a:prstGeom>
            <a:gradFill>
              <a:gsLst>
                <a:gs pos="0">
                  <a:schemeClr val="accent5">
                    <a:satMod val="105000"/>
                    <a:tint val="67000"/>
                    <a:lumMod val="87000"/>
                    <a:lumOff val="13000"/>
                  </a:schemeClr>
                </a:gs>
                <a:gs pos="50000">
                  <a:schemeClr val="accent5">
                    <a:lumMod val="105000"/>
                    <a:satMod val="103000"/>
                    <a:tint val="73000"/>
                  </a:schemeClr>
                </a:gs>
                <a:gs pos="100000">
                  <a:schemeClr val="accent5">
                    <a:lumMod val="105000"/>
                    <a:satMod val="109000"/>
                    <a:tint val="81000"/>
                  </a:schemeClr>
                </a:gs>
              </a:gsLst>
            </a:gradFill>
            <a:ln w="66675" cap="rnd">
              <a:round/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lèche : droite 7">
              <a:extLst>
                <a:ext uri="{FF2B5EF4-FFF2-40B4-BE49-F238E27FC236}">
                  <a16:creationId xmlns:a16="http://schemas.microsoft.com/office/drawing/2014/main" id="{FDB3FDB6-9E57-0D65-1E84-C7623D600C22}"/>
                </a:ext>
              </a:extLst>
            </p:cNvPr>
            <p:cNvSpPr/>
            <p:nvPr/>
          </p:nvSpPr>
          <p:spPr>
            <a:xfrm rot="5400000">
              <a:off x="7368616" y="1569556"/>
              <a:ext cx="369330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0551EAA3-743F-D3B2-D8F4-4CB78419B054}"/>
                </a:ext>
              </a:extLst>
            </p:cNvPr>
            <p:cNvSpPr txBox="1"/>
            <p:nvPr/>
          </p:nvSpPr>
          <p:spPr>
            <a:xfrm>
              <a:off x="6791281" y="1259025"/>
              <a:ext cx="1524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/>
                <a:t>Production</a:t>
              </a:r>
            </a:p>
          </p:txBody>
        </p:sp>
        <p:sp>
          <p:nvSpPr>
            <p:cNvPr id="10" name="Flèche : droite 9">
              <a:extLst>
                <a:ext uri="{FF2B5EF4-FFF2-40B4-BE49-F238E27FC236}">
                  <a16:creationId xmlns:a16="http://schemas.microsoft.com/office/drawing/2014/main" id="{173AD24E-01BE-45B3-8C94-92EDC4EE4060}"/>
                </a:ext>
              </a:extLst>
            </p:cNvPr>
            <p:cNvSpPr/>
            <p:nvPr/>
          </p:nvSpPr>
          <p:spPr>
            <a:xfrm rot="5400000">
              <a:off x="7368617" y="2303864"/>
              <a:ext cx="369329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B7DBA189-2A9D-6FC4-F089-02CEA4982E14}"/>
                </a:ext>
              </a:extLst>
            </p:cNvPr>
            <p:cNvSpPr txBox="1"/>
            <p:nvPr/>
          </p:nvSpPr>
          <p:spPr>
            <a:xfrm>
              <a:off x="6791281" y="1993333"/>
              <a:ext cx="1524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/>
                <a:t>Prédictions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553FA679-779C-E9D1-13BA-43F0D644D90B}"/>
                </a:ext>
              </a:extLst>
            </p:cNvPr>
            <p:cNvSpPr txBox="1"/>
            <p:nvPr/>
          </p:nvSpPr>
          <p:spPr>
            <a:xfrm>
              <a:off x="5703216" y="2727640"/>
              <a:ext cx="370013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Corrections humaines</a:t>
              </a:r>
            </a:p>
          </p:txBody>
        </p:sp>
        <p:sp>
          <p:nvSpPr>
            <p:cNvPr id="13" name="Flèche : droite 12">
              <a:extLst>
                <a:ext uri="{FF2B5EF4-FFF2-40B4-BE49-F238E27FC236}">
                  <a16:creationId xmlns:a16="http://schemas.microsoft.com/office/drawing/2014/main" id="{749CF3DA-F183-F0A0-F77C-49B02E6032E7}"/>
                </a:ext>
              </a:extLst>
            </p:cNvPr>
            <p:cNvSpPr/>
            <p:nvPr/>
          </p:nvSpPr>
          <p:spPr>
            <a:xfrm rot="5400000">
              <a:off x="7368616" y="3772478"/>
              <a:ext cx="369330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DBF8D74E-16C5-69D9-6A20-755410B043AC}"/>
                </a:ext>
              </a:extLst>
            </p:cNvPr>
            <p:cNvSpPr txBox="1"/>
            <p:nvPr/>
          </p:nvSpPr>
          <p:spPr>
            <a:xfrm>
              <a:off x="6289637" y="4196255"/>
              <a:ext cx="252728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Réentrainement</a:t>
              </a:r>
            </a:p>
          </p:txBody>
        </p:sp>
        <p:pic>
          <p:nvPicPr>
            <p:cNvPr id="15" name="Picture 6" descr="Machine Learning Certified Professional (MLCP)">
              <a:extLst>
                <a:ext uri="{FF2B5EF4-FFF2-40B4-BE49-F238E27FC236}">
                  <a16:creationId xmlns:a16="http://schemas.microsoft.com/office/drawing/2014/main" id="{83E3658E-101F-038A-BC99-872D45292E6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312" r="19121"/>
            <a:stretch>
              <a:fillRect/>
            </a:stretch>
          </p:blipFill>
          <p:spPr bwMode="auto">
            <a:xfrm>
              <a:off x="5524516" y="818927"/>
              <a:ext cx="1025747" cy="16136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Flèche : droite 15">
              <a:extLst>
                <a:ext uri="{FF2B5EF4-FFF2-40B4-BE49-F238E27FC236}">
                  <a16:creationId xmlns:a16="http://schemas.microsoft.com/office/drawing/2014/main" id="{EFA3270A-17F1-D3A1-AA8E-C39992BE0B9A}"/>
                </a:ext>
              </a:extLst>
            </p:cNvPr>
            <p:cNvSpPr/>
            <p:nvPr/>
          </p:nvSpPr>
          <p:spPr>
            <a:xfrm rot="5400000">
              <a:off x="7368617" y="3038171"/>
              <a:ext cx="369329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904F76B7-6B4C-406B-6C02-6E07D6FD7BC3}"/>
                </a:ext>
              </a:extLst>
            </p:cNvPr>
            <p:cNvSpPr txBox="1"/>
            <p:nvPr/>
          </p:nvSpPr>
          <p:spPr>
            <a:xfrm>
              <a:off x="5521282" y="3461947"/>
              <a:ext cx="40639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Nouvelles données labellisées</a:t>
              </a:r>
            </a:p>
          </p:txBody>
        </p:sp>
        <p:sp>
          <p:nvSpPr>
            <p:cNvPr id="18" name="Flèche : droite 17">
              <a:extLst>
                <a:ext uri="{FF2B5EF4-FFF2-40B4-BE49-F238E27FC236}">
                  <a16:creationId xmlns:a16="http://schemas.microsoft.com/office/drawing/2014/main" id="{DA1962EC-3718-CCF6-AF2A-D1DBC1EE04CE}"/>
                </a:ext>
              </a:extLst>
            </p:cNvPr>
            <p:cNvSpPr/>
            <p:nvPr/>
          </p:nvSpPr>
          <p:spPr>
            <a:xfrm rot="5400000">
              <a:off x="7368616" y="4506786"/>
              <a:ext cx="369330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3211E388-0BB7-40EF-B857-042C186286DC}"/>
                </a:ext>
              </a:extLst>
            </p:cNvPr>
            <p:cNvSpPr txBox="1"/>
            <p:nvPr/>
          </p:nvSpPr>
          <p:spPr>
            <a:xfrm>
              <a:off x="6289637" y="4930563"/>
              <a:ext cx="252728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Validation</a:t>
              </a:r>
            </a:p>
          </p:txBody>
        </p:sp>
        <p:sp>
          <p:nvSpPr>
            <p:cNvPr id="20" name="Flèche : droite 19">
              <a:extLst>
                <a:ext uri="{FF2B5EF4-FFF2-40B4-BE49-F238E27FC236}">
                  <a16:creationId xmlns:a16="http://schemas.microsoft.com/office/drawing/2014/main" id="{1E8B3C1F-7A9E-5404-79AE-51725BE2823C}"/>
                </a:ext>
              </a:extLst>
            </p:cNvPr>
            <p:cNvSpPr/>
            <p:nvPr/>
          </p:nvSpPr>
          <p:spPr>
            <a:xfrm rot="5400000">
              <a:off x="7368616" y="5241094"/>
              <a:ext cx="369330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2D8926D2-71BA-8956-92AE-63CC5750147F}"/>
                </a:ext>
              </a:extLst>
            </p:cNvPr>
            <p:cNvSpPr txBox="1"/>
            <p:nvPr/>
          </p:nvSpPr>
          <p:spPr>
            <a:xfrm>
              <a:off x="5521282" y="5664876"/>
              <a:ext cx="406399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Nouvelle version du modèle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84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46DC3-6D1E-102E-8A89-524B9240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Machine Learning Certified Professional (MLCP)">
            <a:extLst>
              <a:ext uri="{FF2B5EF4-FFF2-40B4-BE49-F238E27FC236}">
                <a16:creationId xmlns:a16="http://schemas.microsoft.com/office/drawing/2014/main" id="{210C23D0-9B4E-B601-7D3D-1126268A0F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2" r="19121"/>
          <a:stretch>
            <a:fillRect/>
          </a:stretch>
        </p:blipFill>
        <p:spPr bwMode="auto">
          <a:xfrm>
            <a:off x="9122736" y="0"/>
            <a:ext cx="2371060" cy="3730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32A18EA-D942-F07E-B622-8D337327E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Déploiement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Hybride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3" name="Picture 4" descr="LLM or large language model icon for AI website and apps 63132258 Vector  Art at Vecteezy">
            <a:extLst>
              <a:ext uri="{FF2B5EF4-FFF2-40B4-BE49-F238E27FC236}">
                <a16:creationId xmlns:a16="http://schemas.microsoft.com/office/drawing/2014/main" id="{403682C3-1491-C86E-D194-266041382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351" y="3620386"/>
            <a:ext cx="2957829" cy="2913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14440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3A6F50-75BD-3A05-DCA9-40A87F8D6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Hybride</a:t>
            </a:r>
          </a:p>
        </p:txBody>
      </p: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D92A275C-84EF-3CCB-EECD-99B8DEB25573}"/>
              </a:ext>
            </a:extLst>
          </p:cNvPr>
          <p:cNvGrpSpPr/>
          <p:nvPr/>
        </p:nvGrpSpPr>
        <p:grpSpPr>
          <a:xfrm>
            <a:off x="7444255" y="618681"/>
            <a:ext cx="4165600" cy="5952239"/>
            <a:chOff x="6710608" y="714374"/>
            <a:chExt cx="4165600" cy="5952239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1B781DA-5960-F26A-D228-43A56B7F48C5}"/>
                </a:ext>
              </a:extLst>
            </p:cNvPr>
            <p:cNvSpPr/>
            <p:nvPr/>
          </p:nvSpPr>
          <p:spPr>
            <a:xfrm>
              <a:off x="6710608" y="714374"/>
              <a:ext cx="4165600" cy="5952239"/>
            </a:xfrm>
            <a:prstGeom prst="rect">
              <a:avLst/>
            </a:prstGeom>
            <a:gradFill>
              <a:gsLst>
                <a:gs pos="0">
                  <a:schemeClr val="accent5">
                    <a:satMod val="105000"/>
                    <a:tint val="67000"/>
                    <a:lumMod val="87000"/>
                    <a:lumOff val="13000"/>
                  </a:schemeClr>
                </a:gs>
                <a:gs pos="50000">
                  <a:schemeClr val="accent5">
                    <a:lumMod val="105000"/>
                    <a:satMod val="103000"/>
                    <a:tint val="73000"/>
                  </a:schemeClr>
                </a:gs>
                <a:gs pos="100000">
                  <a:schemeClr val="accent5">
                    <a:lumMod val="105000"/>
                    <a:satMod val="109000"/>
                    <a:tint val="81000"/>
                  </a:schemeClr>
                </a:gs>
              </a:gsLst>
            </a:gradFill>
            <a:ln w="66675" cap="rnd">
              <a:round/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Losange 17">
              <a:extLst>
                <a:ext uri="{FF2B5EF4-FFF2-40B4-BE49-F238E27FC236}">
                  <a16:creationId xmlns:a16="http://schemas.microsoft.com/office/drawing/2014/main" id="{8B06099F-671E-E735-2836-0155CACC77CC}"/>
                </a:ext>
              </a:extLst>
            </p:cNvPr>
            <p:cNvSpPr/>
            <p:nvPr/>
          </p:nvSpPr>
          <p:spPr>
            <a:xfrm>
              <a:off x="8246274" y="2897221"/>
              <a:ext cx="946298" cy="946298"/>
            </a:xfrm>
            <a:prstGeom prst="diamon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899F2090-8B4F-7512-F212-49284C54BCB0}"/>
                </a:ext>
              </a:extLst>
            </p:cNvPr>
            <p:cNvSpPr txBox="1"/>
            <p:nvPr/>
          </p:nvSpPr>
          <p:spPr>
            <a:xfrm>
              <a:off x="7574766" y="2524839"/>
              <a:ext cx="228422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confiance suffisante ?</a:t>
              </a:r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BDB84AB1-464E-F09E-2A3A-FE4D05D32C54}"/>
                </a:ext>
              </a:extLst>
            </p:cNvPr>
            <p:cNvSpPr txBox="1"/>
            <p:nvPr/>
          </p:nvSpPr>
          <p:spPr>
            <a:xfrm>
              <a:off x="7787511" y="3943197"/>
              <a:ext cx="66642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OUI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9FF6477D-8BD6-F918-B77F-9D76974097B5}"/>
                </a:ext>
              </a:extLst>
            </p:cNvPr>
            <p:cNvSpPr txBox="1"/>
            <p:nvPr/>
          </p:nvSpPr>
          <p:spPr>
            <a:xfrm>
              <a:off x="9008217" y="3943197"/>
              <a:ext cx="66642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NON</a:t>
              </a:r>
            </a:p>
          </p:txBody>
        </p:sp>
        <p:pic>
          <p:nvPicPr>
            <p:cNvPr id="23" name="Picture 6" descr="Machine Learning Certified Professional (MLCP)">
              <a:extLst>
                <a:ext uri="{FF2B5EF4-FFF2-40B4-BE49-F238E27FC236}">
                  <a16:creationId xmlns:a16="http://schemas.microsoft.com/office/drawing/2014/main" id="{5566884B-6D3F-4459-B2D3-E50E028D89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312" r="19121"/>
            <a:stretch>
              <a:fillRect/>
            </a:stretch>
          </p:blipFill>
          <p:spPr bwMode="auto">
            <a:xfrm>
              <a:off x="8204008" y="861836"/>
              <a:ext cx="1025747" cy="16136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4" descr="LLM or large language model icon for AI website and apps 63132258 Vector  Art at Vecteezy">
              <a:extLst>
                <a:ext uri="{FF2B5EF4-FFF2-40B4-BE49-F238E27FC236}">
                  <a16:creationId xmlns:a16="http://schemas.microsoft.com/office/drawing/2014/main" id="{865DFE6B-5024-1B74-C0C6-B5C18C25B6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7536" y="4402235"/>
              <a:ext cx="1207785" cy="1189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avec flèche 27">
              <a:extLst>
                <a:ext uri="{FF2B5EF4-FFF2-40B4-BE49-F238E27FC236}">
                  <a16:creationId xmlns:a16="http://schemas.microsoft.com/office/drawing/2014/main" id="{759DED2C-D15A-49AF-3944-2F8AF7EAD7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20723" y="3650137"/>
              <a:ext cx="233917" cy="233917"/>
            </a:xfrm>
            <a:prstGeom prst="straightConnector1">
              <a:avLst/>
            </a:prstGeom>
            <a:ln w="539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droit avec flèche 28">
              <a:extLst>
                <a:ext uri="{FF2B5EF4-FFF2-40B4-BE49-F238E27FC236}">
                  <a16:creationId xmlns:a16="http://schemas.microsoft.com/office/drawing/2014/main" id="{0D9F5550-C6FE-3850-36FB-3418F948D6BE}"/>
                </a:ext>
              </a:extLst>
            </p:cNvPr>
            <p:cNvCxnSpPr>
              <a:cxnSpLocks/>
            </p:cNvCxnSpPr>
            <p:nvPr/>
          </p:nvCxnSpPr>
          <p:spPr>
            <a:xfrm>
              <a:off x="9107512" y="3650137"/>
              <a:ext cx="233917" cy="233917"/>
            </a:xfrm>
            <a:prstGeom prst="straightConnector1">
              <a:avLst/>
            </a:prstGeom>
            <a:ln w="539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avec flèche 29">
              <a:extLst>
                <a:ext uri="{FF2B5EF4-FFF2-40B4-BE49-F238E27FC236}">
                  <a16:creationId xmlns:a16="http://schemas.microsoft.com/office/drawing/2014/main" id="{112D8E29-173A-A22D-65DC-FF222786ABBD}"/>
                </a:ext>
              </a:extLst>
            </p:cNvPr>
            <p:cNvCxnSpPr>
              <a:cxnSpLocks/>
            </p:cNvCxnSpPr>
            <p:nvPr/>
          </p:nvCxnSpPr>
          <p:spPr>
            <a:xfrm>
              <a:off x="8120723" y="4353505"/>
              <a:ext cx="0" cy="1354547"/>
            </a:xfrm>
            <a:prstGeom prst="straightConnector1">
              <a:avLst/>
            </a:prstGeom>
            <a:ln w="539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Accolade fermante 32">
              <a:extLst>
                <a:ext uri="{FF2B5EF4-FFF2-40B4-BE49-F238E27FC236}">
                  <a16:creationId xmlns:a16="http://schemas.microsoft.com/office/drawing/2014/main" id="{26758E6B-8BBA-AF70-4B66-77F67F7608BC}"/>
                </a:ext>
              </a:extLst>
            </p:cNvPr>
            <p:cNvSpPr/>
            <p:nvPr/>
          </p:nvSpPr>
          <p:spPr>
            <a:xfrm rot="5400000">
              <a:off x="8543946" y="5008745"/>
              <a:ext cx="345867" cy="1923893"/>
            </a:xfrm>
            <a:prstGeom prst="rightBrace">
              <a:avLst>
                <a:gd name="adj1" fmla="val 63668"/>
                <a:gd name="adj2" fmla="val 50000"/>
              </a:avLst>
            </a:prstGeom>
            <a:ln w="53975"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E2392B02-C9D3-63CB-1ADA-3649A74A2984}"/>
                </a:ext>
              </a:extLst>
            </p:cNvPr>
            <p:cNvSpPr txBox="1"/>
            <p:nvPr/>
          </p:nvSpPr>
          <p:spPr>
            <a:xfrm>
              <a:off x="7930933" y="6172871"/>
              <a:ext cx="157189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 err="1"/>
                <a:t>ZenAssist</a:t>
              </a:r>
              <a:endParaRPr lang="fr-FR" dirty="0"/>
            </a:p>
          </p:txBody>
        </p: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F7CF9B3B-403C-7D26-8CC2-5AE325862004}"/>
              </a:ext>
            </a:extLst>
          </p:cNvPr>
          <p:cNvSpPr txBox="1"/>
          <p:nvPr/>
        </p:nvSpPr>
        <p:spPr>
          <a:xfrm>
            <a:off x="838199" y="1690688"/>
            <a:ext cx="584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/>
              <a:t>Réserver l'utilisation du LLM aux cas difficiles.</a:t>
            </a:r>
          </a:p>
        </p:txBody>
      </p:sp>
    </p:spTree>
    <p:extLst>
      <p:ext uri="{BB962C8B-B14F-4D97-AF65-F5344CB8AC3E}">
        <p14:creationId xmlns:p14="http://schemas.microsoft.com/office/powerpoint/2010/main" val="32587961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9E4868-4666-3534-A147-B25C432A1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Comparaison des deux mises en production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EBEBFFA8-1646-0C4F-0209-11F7221958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6044339"/>
              </p:ext>
            </p:extLst>
          </p:nvPr>
        </p:nvGraphicFramePr>
        <p:xfrm>
          <a:off x="838200" y="1576179"/>
          <a:ext cx="10641864" cy="4754412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3547288">
                  <a:extLst>
                    <a:ext uri="{9D8B030D-6E8A-4147-A177-3AD203B41FA5}">
                      <a16:colId xmlns:a16="http://schemas.microsoft.com/office/drawing/2014/main" val="1437890628"/>
                    </a:ext>
                  </a:extLst>
                </a:gridCol>
                <a:gridCol w="3547288">
                  <a:extLst>
                    <a:ext uri="{9D8B030D-6E8A-4147-A177-3AD203B41FA5}">
                      <a16:colId xmlns:a16="http://schemas.microsoft.com/office/drawing/2014/main" val="3250688917"/>
                    </a:ext>
                  </a:extLst>
                </a:gridCol>
                <a:gridCol w="3547288">
                  <a:extLst>
                    <a:ext uri="{9D8B030D-6E8A-4147-A177-3AD203B41FA5}">
                      <a16:colId xmlns:a16="http://schemas.microsoft.com/office/drawing/2014/main" val="3491845410"/>
                    </a:ext>
                  </a:extLst>
                </a:gridCol>
              </a:tblGrid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Critère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ML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LLM (Mistral Small)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519457471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Hébergement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Interne/cloud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API Mistral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3453358722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Taux erreurs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15.04%</a:t>
                      </a:r>
                      <a:endParaRPr lang="fr-FR" sz="1600" dirty="0"/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XXXXXXXXXX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4113768974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Coût pour 1000 requêtes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Très faible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~ 0,54 $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2770880341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Taux traitement heure</a:t>
                      </a:r>
                      <a:r>
                        <a:rPr lang="fr-FR" sz="1600" dirty="0"/>
                        <a:t> (synchrone)</a:t>
                      </a:r>
                      <a:endParaRPr lang="fr-FR" sz="1600" b="1" dirty="0"/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~ 3 600 000 requêtes / h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~ 1 000 requêtes / h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219782378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Internet nécessaire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Non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Oui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3834876339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Mise à jour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Réentraînement modèle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 err="1"/>
                        <a:t>MaJ</a:t>
                      </a:r>
                      <a:r>
                        <a:rPr lang="fr-FR" sz="1600" dirty="0"/>
                        <a:t> Prompt/RAG/modèle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391584881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Données envoyées à un tiers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Non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Oui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795769970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Monitoring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Classique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Classique + coûts/tokens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823374554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Scalabilité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Très facile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Facile mais coûteuse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052919813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Maintenance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Modèle à réentraîner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Prompt + RAG + modèle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2038879346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Dépendance fournisseur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Faible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Forte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2933167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0335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59CC3F-35D3-E96B-7DE3-02F914F18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 résumé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FF3E20-34AF-25AD-C08B-D5B595252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FR" dirty="0"/>
              <a:t>Associer un texte automatiquement en fonction de la réclamation pour étendre la surface de prise en charge</a:t>
            </a:r>
          </a:p>
          <a:p>
            <a:endParaRPr lang="fr-FR" dirty="0"/>
          </a:p>
          <a:p>
            <a:r>
              <a:rPr lang="fr-FR" dirty="0"/>
              <a:t>Le modèle est globalement performant, mais les catégories très minoritaires restent difficiles à prédire. La catégorie « </a:t>
            </a:r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financial</a:t>
            </a:r>
            <a:r>
              <a:rPr lang="fr-FR" dirty="0"/>
              <a:t> service » est trop vague</a:t>
            </a:r>
          </a:p>
          <a:p>
            <a:endParaRPr lang="fr-FR" dirty="0"/>
          </a:p>
          <a:p>
            <a:r>
              <a:rPr lang="fr-FR" dirty="0"/>
              <a:t>Certains textes mal classés peuvent faire l’objet d’une interprétation différente. Le modèle peut apprendre « Consumer Loan » à partir d'exemples qui, selon le contenu, semblent relever de « </a:t>
            </a:r>
            <a:r>
              <a:rPr lang="fr-FR" dirty="0" err="1"/>
              <a:t>Vehicle</a:t>
            </a:r>
            <a:r>
              <a:rPr lang="fr-FR" dirty="0"/>
              <a:t> </a:t>
            </a:r>
            <a:r>
              <a:rPr lang="fr-FR" dirty="0" err="1"/>
              <a:t>loan</a:t>
            </a:r>
            <a:r>
              <a:rPr lang="fr-FR" dirty="0"/>
              <a:t> or </a:t>
            </a:r>
            <a:r>
              <a:rPr lang="fr-FR" dirty="0" err="1"/>
              <a:t>lease</a:t>
            </a:r>
            <a:r>
              <a:rPr lang="fr-FR" dirty="0"/>
              <a:t> ».</a:t>
            </a:r>
          </a:p>
          <a:p>
            <a:endParaRPr lang="fr-FR" dirty="0"/>
          </a:p>
          <a:p>
            <a:r>
              <a:rPr lang="fr-FR" dirty="0" err="1"/>
              <a:t>CalibratedClassifierCV</a:t>
            </a:r>
            <a:r>
              <a:rPr lang="fr-FR" dirty="0"/>
              <a:t> peut être utilisé comme base de </a:t>
            </a:r>
            <a:r>
              <a:rPr lang="fr-FR" dirty="0" err="1"/>
              <a:t>scoring</a:t>
            </a:r>
            <a:r>
              <a:rPr lang="fr-FR" dirty="0"/>
              <a:t> pour la confiance d’une prédiction. Si le score est trop bas, envisager une autre méthode de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2158935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merci – Simple Slide">
            <a:extLst>
              <a:ext uri="{FF2B5EF4-FFF2-40B4-BE49-F238E27FC236}">
                <a16:creationId xmlns:a16="http://schemas.microsoft.com/office/drawing/2014/main" id="{BB5EE8A3-759E-0507-EF57-72BF1F193F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0975" y="2814638"/>
            <a:ext cx="4210050" cy="1228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825367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4737</TotalTime>
  <Words>1495</Words>
  <Application>Microsoft Office PowerPoint</Application>
  <PresentationFormat>Grand écran</PresentationFormat>
  <Paragraphs>266</Paragraphs>
  <Slides>29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6" baseType="lpstr">
      <vt:lpstr>Arial</vt:lpstr>
      <vt:lpstr>Arial Black</vt:lpstr>
      <vt:lpstr>Calibri</vt:lpstr>
      <vt:lpstr>Calibri Light</vt:lpstr>
      <vt:lpstr>Segoe UI Black</vt:lpstr>
      <vt:lpstr>Symbol</vt:lpstr>
      <vt:lpstr>Thème Office</vt:lpstr>
      <vt:lpstr>Zen-Assist</vt:lpstr>
      <vt:lpstr>Contexte</vt:lpstr>
      <vt:lpstr>Analyse exploratoire des données</vt:lpstr>
      <vt:lpstr>Présentation PowerPoint</vt:lpstr>
      <vt:lpstr>Présentation PowerPoint</vt:lpstr>
      <vt:lpstr>Cible (catégorie)</vt:lpstr>
      <vt:lpstr>Dispersion Texte / Catégorie</vt:lpstr>
      <vt:lpstr>Dataset</vt:lpstr>
      <vt:lpstr>Split train / test</vt:lpstr>
      <vt:lpstr>Les métriques SCORES</vt:lpstr>
      <vt:lpstr>Métriques</vt:lpstr>
      <vt:lpstr>Implémentation L’approche LLM</vt:lpstr>
      <vt:lpstr>Approche LLM</vt:lpstr>
      <vt:lpstr>Approche LLM</vt:lpstr>
      <vt:lpstr>Analyse par catégorie</vt:lpstr>
      <vt:lpstr>Implémentation L’approche ML</vt:lpstr>
      <vt:lpstr>Approche ML</vt:lpstr>
      <vt:lpstr>Approche ML</vt:lpstr>
      <vt:lpstr>Analyse par catégorie</vt:lpstr>
      <vt:lpstr>Déploiement L’approche LLM</vt:lpstr>
      <vt:lpstr>Déploiement LLM</vt:lpstr>
      <vt:lpstr>Déploiement L’approche ML</vt:lpstr>
      <vt:lpstr>Déploiement ML</vt:lpstr>
      <vt:lpstr>Cycle de vie ML</vt:lpstr>
      <vt:lpstr>Déploiement L’approche Hybride</vt:lpstr>
      <vt:lpstr>Déploiement Hybride</vt:lpstr>
      <vt:lpstr>Comparaison des deux mises en production</vt:lpstr>
      <vt:lpstr>En résumé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174</cp:revision>
  <dcterms:created xsi:type="dcterms:W3CDTF">2026-08-19T10:14:18Z</dcterms:created>
  <dcterms:modified xsi:type="dcterms:W3CDTF">2026-08-28T15:28:17Z</dcterms:modified>
</cp:coreProperties>
</file>