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32"/>
  </p:notesMasterIdLst>
  <p:sldIdLst>
    <p:sldId id="259" r:id="rId2"/>
    <p:sldId id="260" r:id="rId3"/>
    <p:sldId id="258" r:id="rId4"/>
    <p:sldId id="263" r:id="rId5"/>
    <p:sldId id="257" r:id="rId6"/>
    <p:sldId id="262" r:id="rId7"/>
    <p:sldId id="278" r:id="rId8"/>
    <p:sldId id="269" r:id="rId9"/>
    <p:sldId id="280" r:id="rId10"/>
    <p:sldId id="267" r:id="rId11"/>
    <p:sldId id="272" r:id="rId12"/>
    <p:sldId id="271" r:id="rId13"/>
    <p:sldId id="274" r:id="rId14"/>
    <p:sldId id="265" r:id="rId15"/>
    <p:sldId id="289" r:id="rId16"/>
    <p:sldId id="268" r:id="rId17"/>
    <p:sldId id="273" r:id="rId18"/>
    <p:sldId id="275" r:id="rId19"/>
    <p:sldId id="279" r:id="rId20"/>
    <p:sldId id="277" r:id="rId21"/>
    <p:sldId id="283" r:id="rId22"/>
    <p:sldId id="284" r:id="rId23"/>
    <p:sldId id="281" r:id="rId24"/>
    <p:sldId id="282" r:id="rId25"/>
    <p:sldId id="285" r:id="rId26"/>
    <p:sldId id="286" r:id="rId27"/>
    <p:sldId id="287" r:id="rId28"/>
    <p:sldId id="288" r:id="rId29"/>
    <p:sldId id="276" r:id="rId30"/>
    <p:sldId id="290" r:id="rId31"/>
  </p:sldIdLst>
  <p:sldSz cx="12192000" cy="6858000"/>
  <p:notesSz cx="6858000" cy="9144000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1974B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yle moyen 2 - Accentuation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8FD4443E-F989-4FC4-A0C8-D5A2AF1F390B}" styleName="Style foncé 1 - Accentuation 5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5"/>
          </a:solidFill>
        </a:fill>
      </a:tcStyle>
    </a:wholeTbl>
    <a:band1H>
      <a:tcStyle>
        <a:tcBdr/>
        <a:fill>
          <a:solidFill>
            <a:schemeClr val="accent5">
              <a:shade val="60000"/>
            </a:schemeClr>
          </a:solidFill>
        </a:fill>
      </a:tcStyle>
    </a:band1H>
    <a:band1V>
      <a:tcStyle>
        <a:tcBdr/>
        <a:fill>
          <a:solidFill>
            <a:schemeClr val="accent5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5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5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5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775DCB02-9BB8-47FD-8907-85C794F793BA}" styleName="Style à thème 1 - Accentuation 4">
    <a:tblBg>
      <a:fillRef idx="2">
        <a:schemeClr val="accent4"/>
      </a:fillRef>
      <a:effectRef idx="1">
        <a:schemeClr val="accent4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Ref idx="1">
              <a:schemeClr val="accent4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</a:tcBdr>
        <a:fill>
          <a:solidFill>
            <a:schemeClr val="accent4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4"/>
            </a:lnRef>
          </a:left>
          <a:right>
            <a:lnRef idx="2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2">
              <a:schemeClr val="accent4"/>
            </a:lnRef>
          </a:top>
          <a:bottom>
            <a:lnRef idx="2">
              <a:schemeClr val="accent4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4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987" autoAdjust="0"/>
    <p:restoredTop sz="83471" autoAdjust="0"/>
  </p:normalViewPr>
  <p:slideViewPr>
    <p:cSldViewPr snapToGrid="0">
      <p:cViewPr>
        <p:scale>
          <a:sx n="75" d="100"/>
          <a:sy n="75" d="100"/>
        </p:scale>
        <p:origin x="1014" y="50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07E1AE0-F169-4B04-AC31-32DDA66614B2}" type="datetimeFigureOut">
              <a:rPr lang="fr-FR" smtClean="0"/>
              <a:t>25/08/2026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734364E-57BD-44F2-A53B-320C3BD2F0CA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9998103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FE96AE-B874-9034-D75B-3302F54B9C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AE83F4D3-FA79-A676-4F0E-65E641B5B51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>
            <a:extLst>
              <a:ext uri="{FF2B5EF4-FFF2-40B4-BE49-F238E27FC236}">
                <a16:creationId xmlns:a16="http://schemas.microsoft.com/office/drawing/2014/main" id="{8E08A445-B6C8-5EF0-1626-9DC3F137F45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fr-FR" dirty="0"/>
              <a:t>Exception de « </a:t>
            </a:r>
            <a:r>
              <a:rPr lang="fr-F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Prêt à la consommation » </a:t>
            </a:r>
            <a:r>
              <a:rPr lang="fr-FR" dirty="0"/>
              <a:t>dont le sens métier doit être définit par rapport à « </a:t>
            </a:r>
            <a:r>
              <a:rPr lang="fr-F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prêt sur salaire, prêt sur gage ou prêt personne »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fr-F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Les autres variables tel que la société, l’adresse, l’état du dossier ou la méthode de transmission ne donnent pas assez d’informations à elles seules pour prédire une catégorie</a:t>
            </a:r>
            <a:endParaRPr lang="fr-FR" dirty="0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44B5003E-E9A2-CD10-2CF9-A29F1558190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734364E-57BD-44F2-A53B-320C3BD2F0CA}" type="slidenum">
              <a:rPr lang="fr-FR" smtClean="0"/>
              <a:t>4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71782302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fr-FR" dirty="0"/>
              <a:t>Exception de « </a:t>
            </a:r>
            <a:r>
              <a:rPr lang="fr-F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Prêt à la consommation » </a:t>
            </a:r>
            <a:r>
              <a:rPr lang="fr-FR" dirty="0"/>
              <a:t>dont le sens métier doit être définit par rapport à « </a:t>
            </a:r>
            <a:r>
              <a:rPr lang="fr-F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prêt sur salaire, prêt sur gage ou prêt personne »</a:t>
            </a:r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734364E-57BD-44F2-A53B-320C3BD2F0CA}" type="slidenum">
              <a:rPr lang="fr-FR" smtClean="0"/>
              <a:t>5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51597798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8ABCFC-C601-FC86-72E6-68A2F6B2D1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E4C068F6-3811-D51D-BE0C-400BEDEE5AF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>
            <a:extLst>
              <a:ext uri="{FF2B5EF4-FFF2-40B4-BE49-F238E27FC236}">
                <a16:creationId xmlns:a16="http://schemas.microsoft.com/office/drawing/2014/main" id="{887915BC-08E2-112D-1A65-C7CE166BD2F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/>
              <a:t>les labels ont été normalisés vers la nomenclature récente afin d'obtenir une cible cohérente pour l'apprentissage.</a:t>
            </a:r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BE6560D0-8889-9F40-E525-B04C39C2C17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734364E-57BD-44F2-A53B-320C3BD2F0CA}" type="slidenum">
              <a:rPr lang="fr-FR" smtClean="0"/>
              <a:t>6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181558058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/>
              <a:t>Le nombre de textes associés à plusieurs catégories est donc seulement : 164 = 152 + 11 + 1</a:t>
            </a:r>
          </a:p>
          <a:p>
            <a:r>
              <a:rPr lang="fr-FR" dirty="0"/>
              <a:t>L’apprentissage ne sera pas biaisé</a:t>
            </a:r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734364E-57BD-44F2-A53B-320C3BD2F0CA}" type="slidenum">
              <a:rPr lang="fr-FR" smtClean="0"/>
              <a:t>7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103654926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/>
              <a:t>Consumer Claim = principale variable prédictive</a:t>
            </a:r>
          </a:p>
          <a:p>
            <a:r>
              <a:rPr lang="fr-FR" dirty="0"/>
              <a:t>Mais :</a:t>
            </a:r>
          </a:p>
          <a:p>
            <a:r>
              <a:rPr lang="fr-FR" dirty="0"/>
              <a:t>valeurs manquantes</a:t>
            </a:r>
          </a:p>
          <a:p>
            <a:r>
              <a:rPr lang="fr-FR" dirty="0"/>
              <a:t>texte dépendant du canal de soumission</a:t>
            </a:r>
          </a:p>
          <a:p>
            <a:r>
              <a:rPr lang="fr-FR" dirty="0"/>
              <a:t>couverture limitée</a:t>
            </a:r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734364E-57BD-44F2-A53B-320C3BD2F0CA}" type="slidenum">
              <a:rPr lang="fr-FR" smtClean="0"/>
              <a:t>8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886912638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 err="1"/>
              <a:t>Stratify</a:t>
            </a:r>
            <a:r>
              <a:rPr lang="fr-FR" dirty="0"/>
              <a:t> est particulièrement utile dans le </a:t>
            </a:r>
            <a:r>
              <a:rPr lang="fr-FR" dirty="0" err="1"/>
              <a:t>dataset</a:t>
            </a:r>
            <a:r>
              <a:rPr lang="fr-FR" dirty="0"/>
              <a:t> parce que certaines catégories sont beaucoup moins représentées que d'autres.</a:t>
            </a:r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734364E-57BD-44F2-A53B-320C3BD2F0CA}" type="slidenum">
              <a:rPr lang="fr-FR" smtClean="0"/>
              <a:t>9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826321745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b="1" dirty="0"/>
              <a:t>Temps moyen </a:t>
            </a:r>
            <a:r>
              <a:rPr lang="fr-FR" dirty="0"/>
              <a:t>« Combien de temps prend une requête en moyenne ? »</a:t>
            </a:r>
            <a:endParaRPr lang="fr-FR" b="1" dirty="0"/>
          </a:p>
          <a:p>
            <a:r>
              <a:rPr lang="fr-FR" dirty="0"/>
              <a:t>C'est la moyenne de tous les temps</a:t>
            </a:r>
          </a:p>
          <a:p>
            <a:r>
              <a:rPr lang="fr-FR" b="1" dirty="0"/>
              <a:t>Temps médian </a:t>
            </a:r>
            <a:r>
              <a:rPr lang="fr-FR" dirty="0"/>
              <a:t>« Quel est le temps d'une requête typique ? »</a:t>
            </a:r>
            <a:endParaRPr lang="fr-FR" b="1" dirty="0"/>
          </a:p>
          <a:p>
            <a:r>
              <a:rPr lang="fr-FR" dirty="0"/>
              <a:t>La médiane correspond au </a:t>
            </a:r>
            <a:r>
              <a:rPr lang="fr-FR" b="1" dirty="0"/>
              <a:t>50e percentile (P50)</a:t>
            </a:r>
            <a:r>
              <a:rPr lang="fr-FR" dirty="0"/>
              <a:t>.</a:t>
            </a:r>
          </a:p>
          <a:p>
            <a:r>
              <a:rPr lang="it-IT" b="1" dirty="0"/>
              <a:t>P95 </a:t>
            </a:r>
            <a:r>
              <a:rPr lang="fr-FR" dirty="0"/>
              <a:t>« Quel temps de traitement ne dépasse pas 95 % des requêtes ? »</a:t>
            </a:r>
            <a:endParaRPr lang="it-IT" b="1" dirty="0"/>
          </a:p>
          <a:p>
            <a:r>
              <a:rPr lang="it-IT" dirty="0"/>
              <a:t>Le P95 signifie </a:t>
            </a:r>
            <a:r>
              <a:rPr lang="it-IT" b="1" dirty="0"/>
              <a:t>95e percentile</a:t>
            </a:r>
            <a:r>
              <a:rPr lang="it-IT" dirty="0"/>
              <a:t>.</a:t>
            </a:r>
          </a:p>
          <a:p>
            <a:endParaRPr lang="fr-FR" dirty="0"/>
          </a:p>
          <a:p>
            <a:r>
              <a:rPr lang="fr-FR" b="1" dirty="0"/>
              <a:t>macro</a:t>
            </a:r>
          </a:p>
          <a:p>
            <a:r>
              <a:rPr lang="fr-FR" dirty="0"/>
              <a:t>« Quelle est la précision moyenne si toutes les catégories ont la même importance ? »</a:t>
            </a:r>
          </a:p>
          <a:p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734364E-57BD-44F2-A53B-320C3BD2F0CA}" type="slidenum">
              <a:rPr lang="fr-FR" smtClean="0"/>
              <a:t>11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820106522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i="1" dirty="0"/>
              <a:t>Note : La recherche d'exemples ciblés s'appuie sur le modèle d'</a:t>
            </a:r>
            <a:r>
              <a:rPr lang="fr-FR" i="1" dirty="0" err="1"/>
              <a:t>embedding</a:t>
            </a:r>
            <a:r>
              <a:rPr lang="fr-FR" i="1" dirty="0"/>
              <a:t> </a:t>
            </a:r>
            <a:r>
              <a:rPr lang="fr-FR" sz="1200" i="1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sentence-</a:t>
            </a:r>
            <a:r>
              <a:rPr lang="fr-FR" sz="1200" i="1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transformers</a:t>
            </a:r>
            <a:r>
              <a:rPr lang="fr-FR" sz="1200" i="1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/all-MiniLM-L6-v2</a:t>
            </a:r>
            <a:r>
              <a:rPr lang="fr-FR" i="1" dirty="0"/>
              <a:t>.</a:t>
            </a:r>
            <a:endParaRPr lang="fr-FR" dirty="0"/>
          </a:p>
          <a:p>
            <a:r>
              <a:rPr lang="fr-FR" b="1" dirty="0"/>
              <a:t>Points clés à souligner dans votre analyse</a:t>
            </a:r>
          </a:p>
          <a:p>
            <a:r>
              <a:rPr lang="fr-FR" b="1" dirty="0"/>
              <a:t>L'impact du Few-Shot ciblé (RAG / </a:t>
            </a:r>
            <a:r>
              <a:rPr lang="fr-FR" b="1" dirty="0" err="1"/>
              <a:t>Similarity</a:t>
            </a:r>
            <a:r>
              <a:rPr lang="fr-FR" b="1" dirty="0"/>
              <a:t> </a:t>
            </a:r>
            <a:r>
              <a:rPr lang="fr-FR" b="1" dirty="0" err="1"/>
              <a:t>Search</a:t>
            </a:r>
            <a:r>
              <a:rPr lang="fr-FR" b="1" dirty="0"/>
              <a:t>) :</a:t>
            </a:r>
            <a:r>
              <a:rPr lang="fr-FR" dirty="0"/>
              <a:t> La sélection dynamique d'exemples proches via </a:t>
            </a:r>
            <a: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all-MiniLM-L6-v2</a:t>
            </a:r>
            <a:r>
              <a:rPr lang="fr-FR" dirty="0"/>
              <a:t> apporte le gain de précision le plus fort (+25 % d'</a:t>
            </a:r>
            <a:r>
              <a:rPr lang="fr-FR" dirty="0" err="1"/>
              <a:t>Accuracy</a:t>
            </a:r>
            <a:r>
              <a:rPr lang="fr-FR" dirty="0"/>
              <a:t> et +22,17 % de F1 </a:t>
            </a:r>
            <a:r>
              <a:rPr lang="fr-FR" dirty="0" err="1"/>
              <a:t>Weighted</a:t>
            </a:r>
            <a:r>
              <a:rPr lang="fr-FR" dirty="0"/>
              <a:t> sur </a:t>
            </a:r>
            <a: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mistral-</a:t>
            </a:r>
            <a:r>
              <a:rPr lang="fr-FR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small</a:t>
            </a:r>
            <a:r>
              <a:rPr lang="fr-FR" dirty="0"/>
              <a:t>).</a:t>
            </a:r>
          </a:p>
          <a:p>
            <a:r>
              <a:rPr lang="fr-FR" b="1" dirty="0"/>
              <a:t>L'écart Macro vs </a:t>
            </a:r>
            <a:r>
              <a:rPr lang="fr-FR" b="1" dirty="0" err="1"/>
              <a:t>Weighted</a:t>
            </a:r>
            <a:r>
              <a:rPr lang="fr-FR" b="1" dirty="0"/>
              <a:t> (Déséquilibre de classes) :</a:t>
            </a:r>
            <a:r>
              <a:rPr lang="fr-FR" dirty="0"/>
              <a:t> Le </a:t>
            </a:r>
            <a:r>
              <a:rPr lang="fr-FR" b="1" dirty="0"/>
              <a:t>F1 </a:t>
            </a:r>
            <a:r>
              <a:rPr lang="fr-FR" b="1" dirty="0" err="1"/>
              <a:t>Weighted</a:t>
            </a:r>
            <a:r>
              <a:rPr lang="fr-FR" dirty="0"/>
              <a:t> est nettement supérieur au </a:t>
            </a:r>
            <a:r>
              <a:rPr lang="fr-FR" b="1" dirty="0"/>
              <a:t>F1 Macro</a:t>
            </a:r>
            <a:r>
              <a:rPr lang="fr-FR" dirty="0"/>
              <a:t> (ex. 69,20 % vs 40,92 % sur le test final). Cela indique que le modèle fonctionne très bien sur les classes majoritaires, mais peine sur les catégories sous-représentées.</a:t>
            </a:r>
          </a:p>
          <a:p>
            <a:r>
              <a:rPr lang="fr-FR" b="1" dirty="0"/>
              <a:t>Le compromis Précision / Latence (Small vs Medium) :</a:t>
            </a:r>
            <a:endParaRPr lang="fr-FR" dirty="0"/>
          </a:p>
          <a:p>
            <a:pPr lvl="1"/>
            <a: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mistral-medium</a:t>
            </a:r>
            <a:r>
              <a:rPr lang="fr-FR" dirty="0"/>
              <a:t> offre la meilleure performance globale (</a:t>
            </a:r>
            <a:r>
              <a:rPr lang="fr-FR" b="1" dirty="0"/>
              <a:t>85 % </a:t>
            </a:r>
            <a:r>
              <a:rPr lang="fr-FR" b="1" dirty="0" err="1"/>
              <a:t>Accuracy</a:t>
            </a:r>
            <a:r>
              <a:rPr lang="fr-FR" dirty="0"/>
              <a:t>), mais avec une latence P95 prohibitive (</a:t>
            </a:r>
            <a:r>
              <a:rPr lang="fr-FR" b="1" dirty="0"/>
              <a:t>61 secondes</a:t>
            </a:r>
            <a:r>
              <a:rPr lang="fr-FR" dirty="0"/>
              <a:t>), inadaptée à un usage temps réel.</a:t>
            </a:r>
          </a:p>
          <a:p>
            <a:pPr lvl="1"/>
            <a:r>
              <a:rPr lang="fr-F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mistral-</a:t>
            </a:r>
            <a:r>
              <a:rPr lang="fr-FR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small</a:t>
            </a:r>
            <a:r>
              <a:rPr lang="fr-FR" dirty="0"/>
              <a:t> avec RAG constitue le meilleur compromis opérationnel, maintenant un temps médian autour de </a:t>
            </a:r>
            <a:r>
              <a:rPr lang="fr-FR" b="1" dirty="0"/>
              <a:t>0,45 s</a:t>
            </a:r>
            <a:r>
              <a:rPr lang="fr-FR" dirty="0"/>
              <a:t>.</a:t>
            </a:r>
          </a:p>
          <a:p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734364E-57BD-44F2-A53B-320C3BD2F0CA}" type="slidenum">
              <a:rPr lang="fr-FR" smtClean="0"/>
              <a:t>14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61426973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E0B7C1-2385-033B-FA1E-812CEFA4AA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26B941A9-547E-7E08-941E-A4016114EF3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>
            <a:extLst>
              <a:ext uri="{FF2B5EF4-FFF2-40B4-BE49-F238E27FC236}">
                <a16:creationId xmlns:a16="http://schemas.microsoft.com/office/drawing/2014/main" id="{3E56E9F8-FA21-3695-0200-A00AD1D88B2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fr-F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L'</a:t>
            </a:r>
            <a:r>
              <a:rPr lang="fr-FR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accuracy</a:t>
            </a:r>
            <a:r>
              <a:rPr lang="fr-F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globale de 86 % ne permet pas de savoir si le modèle sait correctement traiter les petites catégories.</a:t>
            </a:r>
          </a:p>
          <a:p>
            <a:endParaRPr lang="fr-FR" dirty="0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FE5DCC56-F300-2000-E61E-AD294C0D45B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734364E-57BD-44F2-A53B-320C3BD2F0CA}" type="slidenum">
              <a:rPr lang="fr-FR" smtClean="0"/>
              <a:t>15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84598435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  <a:p>
            <a:r>
              <a:rPr lang="fr-FR" dirty="0" err="1"/>
              <a:t>weighted</a:t>
            </a:r>
            <a:r>
              <a:rPr lang="fr-FR" dirty="0"/>
              <a:t> → le modèle est très performant sur les grosses catégories</a:t>
            </a:r>
          </a:p>
          <a:p>
            <a:r>
              <a:rPr lang="fr-FR" dirty="0"/>
              <a:t>macro → certaines petites catégories sont beaucoup moins bien classifiées</a:t>
            </a:r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734364E-57BD-44F2-A53B-320C3BD2F0CA}" type="slidenum">
              <a:rPr lang="fr-FR" smtClean="0"/>
              <a:t>18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222274215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b="1" dirty="0"/>
              <a:t>Première conclusion : le modèle fonctionne bien sur les catégories principales</a:t>
            </a:r>
          </a:p>
          <a:p>
            <a:r>
              <a:rPr lang="fr-FR" dirty="0"/>
              <a:t>Les résultats sont globalement bons pour les catégories fortement représentées :</a:t>
            </a:r>
          </a:p>
          <a:p>
            <a:endParaRPr lang="fr-FR" dirty="0"/>
          </a:p>
          <a:p>
            <a:endParaRPr lang="fr-FR" dirty="0"/>
          </a:p>
          <a:p>
            <a:r>
              <a:rPr lang="fr-FR" dirty="0"/>
              <a:t>Les trois principales zones de difficulté sont :</a:t>
            </a:r>
          </a:p>
          <a:p>
            <a:r>
              <a:rPr lang="fr-FR" sz="1200" b="1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Credit</a:t>
            </a:r>
            <a:r>
              <a:rPr lang="fr-FR" sz="1200" b="1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fr-FR" sz="1200" b="1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reporting</a:t>
            </a:r>
            <a:r>
              <a:rPr lang="fr-FR" b="1" dirty="0"/>
              <a:t> ↔ </a:t>
            </a:r>
            <a:r>
              <a:rPr lang="fr-FR" sz="1200" b="1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Debt</a:t>
            </a:r>
            <a:r>
              <a:rPr lang="fr-FR" sz="1200" b="1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collection</a:t>
            </a:r>
            <a:r>
              <a:rPr lang="fr-FR" b="1" dirty="0"/>
              <a:t> </a:t>
            </a:r>
          </a:p>
          <a:p>
            <a:r>
              <a:rPr lang="fr-FR" sz="1200" b="1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Vehicle</a:t>
            </a:r>
            <a:r>
              <a:rPr lang="fr-FR" sz="1200" b="1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fr-FR" sz="1200" b="1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loan</a:t>
            </a:r>
            <a:r>
              <a:rPr lang="fr-FR" b="1" dirty="0"/>
              <a:t> ↔ </a:t>
            </a:r>
            <a:r>
              <a:rPr lang="fr-FR" sz="1200" b="1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Payday</a:t>
            </a:r>
            <a:r>
              <a:rPr lang="fr-FR" sz="1200" b="1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/</a:t>
            </a:r>
            <a:r>
              <a:rPr lang="fr-FR" sz="1200" b="1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personal</a:t>
            </a:r>
            <a:r>
              <a:rPr lang="fr-FR" sz="1200" b="1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fr-FR" sz="1200" b="1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loan</a:t>
            </a:r>
            <a:r>
              <a:rPr lang="fr-FR" b="1" dirty="0"/>
              <a:t> </a:t>
            </a:r>
          </a:p>
          <a:p>
            <a:r>
              <a:rPr lang="fr-FR" sz="1200" b="1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Credit</a:t>
            </a:r>
            <a:r>
              <a:rPr lang="fr-FR" sz="1200" b="1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fr-FR" sz="1200" b="1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card</a:t>
            </a:r>
            <a:r>
              <a:rPr lang="fr-FR" b="1" dirty="0"/>
              <a:t> ↔ </a:t>
            </a:r>
            <a:r>
              <a:rPr lang="fr-FR" sz="1200" b="1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Checking/</a:t>
            </a:r>
            <a:r>
              <a:rPr lang="fr-FR" sz="1200" b="1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savings</a:t>
            </a:r>
            <a:r>
              <a:rPr lang="fr-FR" b="1" dirty="0"/>
              <a:t> </a:t>
            </a:r>
          </a:p>
          <a:p>
            <a:r>
              <a:rPr lang="fr-FR" dirty="0"/>
              <a:t>Et </a:t>
            </a:r>
            <a:r>
              <a:rPr lang="fr-FR" sz="1200" b="1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Other</a:t>
            </a:r>
            <a:r>
              <a:rPr lang="fr-FR" sz="1200" b="1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fr-FR" sz="1200" b="1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financial</a:t>
            </a:r>
            <a:r>
              <a:rPr lang="fr-FR" sz="1200" b="1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service</a:t>
            </a:r>
            <a:r>
              <a:rPr lang="fr-FR" b="1" dirty="0"/>
              <a:t> </a:t>
            </a:r>
            <a:r>
              <a:rPr lang="fr-FR" dirty="0"/>
              <a:t>constitue un problème particulier à traiter séparément.</a:t>
            </a:r>
          </a:p>
          <a:p>
            <a:endParaRPr lang="fr-FR" dirty="0"/>
          </a:p>
          <a:p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734364E-57BD-44F2-A53B-320C3BD2F0CA}" type="slidenum">
              <a:rPr lang="fr-FR" smtClean="0"/>
              <a:t>19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07492105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6BADF4-27BB-0737-A29A-504A8D6678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5E8A8711-70EE-0C5C-51FD-EE8A71B0ED0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>
            <a:extLst>
              <a:ext uri="{FF2B5EF4-FFF2-40B4-BE49-F238E27FC236}">
                <a16:creationId xmlns:a16="http://schemas.microsoft.com/office/drawing/2014/main" id="{FA577E85-9D77-DEEE-793F-5A4A4E62E0E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197DC9EF-48E1-0B42-9EEB-C8DB6A994A8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734364E-57BD-44F2-A53B-320C3BD2F0CA}" type="slidenum">
              <a:rPr lang="fr-FR" smtClean="0"/>
              <a:t>22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359926114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734364E-57BD-44F2-A53B-320C3BD2F0CA}" type="slidenum">
              <a:rPr lang="fr-FR" smtClean="0"/>
              <a:t>24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297127764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/>
              <a:t>Cela permettrait de réserver l'utilisation du LLM aux cas difficiles.</a:t>
            </a:r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734364E-57BD-44F2-A53B-320C3BD2F0CA}" type="slidenum">
              <a:rPr lang="fr-FR" smtClean="0"/>
              <a:t>27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523305532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734364E-57BD-44F2-A53B-320C3BD2F0CA}" type="slidenum">
              <a:rPr lang="fr-FR" smtClean="0"/>
              <a:t>28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95546614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AEEAC790-54F0-77E6-0495-4B726974AC6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4D0A0C0B-06F1-C6D3-D31D-721CD1E7653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fr-FR"/>
              <a:t>Modifiez le style des sous-titres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89FBEF1A-12FC-7C30-F911-36EF9601FCC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1BD361-66C9-484E-B214-6DC7693ABA43}" type="datetimeFigureOut">
              <a:rPr lang="fr-FR" smtClean="0"/>
              <a:t>25/08/2026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224B7408-50A4-15D0-D40F-145FF7652BA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3F9AC22B-49BE-5771-0D1D-2EF0674995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A26088-ABC4-4218-A7A1-86B37C148FB9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78992748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AB44A896-587F-94A2-FE53-C9FFEE4F5F6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177AA686-D8E5-7A60-F264-DE984D23A0D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50524EDA-7181-58F4-43F4-ABA065845A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1BD361-66C9-484E-B214-6DC7693ABA43}" type="datetimeFigureOut">
              <a:rPr lang="fr-FR" smtClean="0"/>
              <a:t>25/08/2026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49880104-3534-1A2B-1BF0-F8D73ED2956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C2C57B4B-AD54-3402-0A02-39A738B634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A26088-ABC4-4218-A7A1-86B37C148FB9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30473748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433606B5-D084-0503-2EB1-71F9E4E8A3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BAB5AC34-2708-C40F-1630-1F4D1A913F8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4019395D-E99E-CE64-2ECE-47677975FEF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1BD361-66C9-484E-B214-6DC7693ABA43}" type="datetimeFigureOut">
              <a:rPr lang="fr-FR" smtClean="0"/>
              <a:t>25/08/2026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E78E16BF-E2CD-AF7D-22E8-2BC871B8E49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B0CA4A53-6C7B-9556-6AAA-E905E0E195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A26088-ABC4-4218-A7A1-86B37C148FB9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15022320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D509FA28-6DC7-0B13-C1B1-4C8EEC3A21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A96BFCA9-905F-7E2F-DFD9-567B9FD4C70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52984400-8C4F-C118-3AED-BAD41AE447D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F4665490-9973-7AA2-E692-B2220B31D5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1BD361-66C9-484E-B214-6DC7693ABA43}" type="datetimeFigureOut">
              <a:rPr lang="fr-FR" smtClean="0"/>
              <a:t>25/08/2026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4846BF53-CC54-ADC2-E218-793569CFFB2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C401DC64-7016-3799-837F-3FB27198CE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A26088-ABC4-4218-A7A1-86B37C148FB9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49730354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4CE1C640-8912-FB46-FFC5-4E08782010E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80E7B651-E953-286A-BF21-3133D44E816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D4ACF0B5-7A0F-8ACF-CB1B-4204A737382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u texte 4">
            <a:extLst>
              <a:ext uri="{FF2B5EF4-FFF2-40B4-BE49-F238E27FC236}">
                <a16:creationId xmlns:a16="http://schemas.microsoft.com/office/drawing/2014/main" id="{016C1DF0-F53B-E3D3-8298-A772F8D4C17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6" name="Espace réservé du contenu 5">
            <a:extLst>
              <a:ext uri="{FF2B5EF4-FFF2-40B4-BE49-F238E27FC236}">
                <a16:creationId xmlns:a16="http://schemas.microsoft.com/office/drawing/2014/main" id="{2B5D932D-414E-E3CE-F62E-308ED95B23D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7" name="Espace réservé de la date 6">
            <a:extLst>
              <a:ext uri="{FF2B5EF4-FFF2-40B4-BE49-F238E27FC236}">
                <a16:creationId xmlns:a16="http://schemas.microsoft.com/office/drawing/2014/main" id="{D5850181-365A-3AAD-CE67-9BF3651B4E4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1BD361-66C9-484E-B214-6DC7693ABA43}" type="datetimeFigureOut">
              <a:rPr lang="fr-FR" smtClean="0"/>
              <a:t>25/08/2026</a:t>
            </a:fld>
            <a:endParaRPr lang="fr-FR"/>
          </a:p>
        </p:txBody>
      </p:sp>
      <p:sp>
        <p:nvSpPr>
          <p:cNvPr id="8" name="Espace réservé du pied de page 7">
            <a:extLst>
              <a:ext uri="{FF2B5EF4-FFF2-40B4-BE49-F238E27FC236}">
                <a16:creationId xmlns:a16="http://schemas.microsoft.com/office/drawing/2014/main" id="{58FAE459-3126-29D9-5D38-183D498B8EB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9" name="Espace réservé du numéro de diapositive 8">
            <a:extLst>
              <a:ext uri="{FF2B5EF4-FFF2-40B4-BE49-F238E27FC236}">
                <a16:creationId xmlns:a16="http://schemas.microsoft.com/office/drawing/2014/main" id="{CF44B411-765B-6A88-8CF6-FA4B870C35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A26088-ABC4-4218-A7A1-86B37C148FB9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55096434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79AB012C-2EBC-136B-2EC7-7A9686EAD2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e la date 2">
            <a:extLst>
              <a:ext uri="{FF2B5EF4-FFF2-40B4-BE49-F238E27FC236}">
                <a16:creationId xmlns:a16="http://schemas.microsoft.com/office/drawing/2014/main" id="{84273742-CA3C-4DFB-2101-7D9692EC4E8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1BD361-66C9-484E-B214-6DC7693ABA43}" type="datetimeFigureOut">
              <a:rPr lang="fr-FR" smtClean="0"/>
              <a:t>25/08/2026</a:t>
            </a:fld>
            <a:endParaRPr lang="fr-FR"/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67440EAB-1083-A553-C642-10C7601BE0D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E3EAE0B9-B310-F842-BA47-D882BA9B88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A26088-ABC4-4218-A7A1-86B37C148FB9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50137678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>
            <a:extLst>
              <a:ext uri="{FF2B5EF4-FFF2-40B4-BE49-F238E27FC236}">
                <a16:creationId xmlns:a16="http://schemas.microsoft.com/office/drawing/2014/main" id="{8A7882F1-904D-C824-903E-2343CBD2AEF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1BD361-66C9-484E-B214-6DC7693ABA43}" type="datetimeFigureOut">
              <a:rPr lang="fr-FR" smtClean="0"/>
              <a:t>25/08/2026</a:t>
            </a:fld>
            <a:endParaRPr lang="fr-FR"/>
          </a:p>
        </p:txBody>
      </p:sp>
      <p:sp>
        <p:nvSpPr>
          <p:cNvPr id="3" name="Espace réservé du pied de page 2">
            <a:extLst>
              <a:ext uri="{FF2B5EF4-FFF2-40B4-BE49-F238E27FC236}">
                <a16:creationId xmlns:a16="http://schemas.microsoft.com/office/drawing/2014/main" id="{63DFF9AE-6A37-0C3E-9B26-63BEF0C795E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6E8E6A06-317E-4034-C32D-AAC42A413F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A26088-ABC4-4218-A7A1-86B37C148FB9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5190275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A566925A-6D3A-CA88-C062-E462E6A302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1A5EADB8-B735-D895-C4EC-2713F1C2E92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4FB80BA1-BFD2-DC8F-DDD6-33CB2AFD72D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7CBE016F-EC11-C5B8-D92E-0017EA49D8C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1BD361-66C9-484E-B214-6DC7693ABA43}" type="datetimeFigureOut">
              <a:rPr lang="fr-FR" smtClean="0"/>
              <a:t>25/08/2026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3434A821-C63C-B58F-1989-8337D84306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827417BD-7570-3566-DEEC-58CC0A7C31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A26088-ABC4-4218-A7A1-86B37C148FB9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67984251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A0444DBF-F190-4A2A-50CA-4FDA1E026A6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pour une image  2">
            <a:extLst>
              <a:ext uri="{FF2B5EF4-FFF2-40B4-BE49-F238E27FC236}">
                <a16:creationId xmlns:a16="http://schemas.microsoft.com/office/drawing/2014/main" id="{5155683D-8C5C-E087-CE4A-C244235933A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fr-FR"/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F10C0C53-3C36-63A8-A7FF-0C09AE8F192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96B03AD9-75DB-6F2E-3232-63082F07B5A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1BD361-66C9-484E-B214-6DC7693ABA43}" type="datetimeFigureOut">
              <a:rPr lang="fr-FR" smtClean="0"/>
              <a:t>25/08/2026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EEB17CF3-7312-719D-5896-3D292EC02D7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625C999A-6A02-9175-630E-364CAC474C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A26088-ABC4-4218-A7A1-86B37C148FB9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99985838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47005210-BD15-4CE9-A78D-73B4F81FC4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E61BBCDF-23B6-91FA-A701-F5A4DB5A3F7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AFE8F324-000B-B1C6-C2CD-65A25A0428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1BD361-66C9-484E-B214-6DC7693ABA43}" type="datetimeFigureOut">
              <a:rPr lang="fr-FR" smtClean="0"/>
              <a:t>25/08/2026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1A32961A-B483-491D-4905-B41380AE88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2AA8E2CF-AC95-D909-DA9B-B2AEF9E6D7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A26088-ABC4-4218-A7A1-86B37C148FB9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64900683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>
            <a:extLst>
              <a:ext uri="{FF2B5EF4-FFF2-40B4-BE49-F238E27FC236}">
                <a16:creationId xmlns:a16="http://schemas.microsoft.com/office/drawing/2014/main" id="{6CC9262D-83A1-01B4-532D-2E67A9741ADD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A57D7CAE-074C-CB2B-773A-383BE08EFAF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D7EB7261-E5D4-CDD8-106F-86C5E9FBA6F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1BD361-66C9-484E-B214-6DC7693ABA43}" type="datetimeFigureOut">
              <a:rPr lang="fr-FR" smtClean="0"/>
              <a:t>25/08/2026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E6D22489-E9CB-0776-9C29-8740858B35F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8F291AA1-7E4A-98EA-F234-8C227B1E65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A26088-ABC4-4218-A7A1-86B37C148FB9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65795488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itre 1">
            <a:extLst>
              <a:ext uri="{FF2B5EF4-FFF2-40B4-BE49-F238E27FC236}">
                <a16:creationId xmlns:a16="http://schemas.microsoft.com/office/drawing/2014/main" id="{9C80B7AC-CB1F-1391-6A05-280FAC9B1A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325B04DD-F619-628F-B169-33EBEEE1C9E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FCDA1877-540F-903B-52B7-FEF2D8CA81C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61BD361-66C9-484E-B214-6DC7693ABA43}" type="datetimeFigureOut">
              <a:rPr lang="fr-FR" smtClean="0"/>
              <a:t>25/08/2026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1D334CBB-2909-19BD-004D-1D228813609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01A5BDDA-D098-9091-C08C-EB3F397A12E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0A26088-ABC4-4218-A7A1-86B37C148FB9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0225443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.jpe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e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jpe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jpe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jpe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jpe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jpe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jpe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jpe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jpeg"/><Relationship Id="rId2" Type="http://schemas.openxmlformats.org/officeDocument/2006/relationships/image" Target="../media/image11.jpe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jpe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.jpeg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jpe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0CE47326-BC3E-AE01-B8E5-5C0FC58C8C5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3772" y="460818"/>
            <a:ext cx="10515600" cy="1049005"/>
          </a:xfrm>
          <a:solidFill>
            <a:srgbClr val="1974B4"/>
          </a:solidFill>
          <a:ln w="38100">
            <a:solidFill>
              <a:schemeClr val="accent5">
                <a:lumMod val="60000"/>
                <a:lumOff val="40000"/>
              </a:schemeClr>
            </a:solidFill>
            <a:prstDash val="solid"/>
          </a:ln>
        </p:spPr>
        <p:txBody>
          <a:bodyPr>
            <a:normAutofit fontScale="90000"/>
          </a:bodyPr>
          <a:lstStyle/>
          <a:p>
            <a:pPr marL="792000">
              <a:lnSpc>
                <a:spcPct val="100000"/>
              </a:lnSpc>
            </a:pPr>
            <a:r>
              <a:rPr lang="fr-FR" sz="6600" dirty="0">
                <a:solidFill>
                  <a:schemeClr val="bg1"/>
                </a:solidFill>
                <a:latin typeface="Arial Black" panose="020B0A04020102020204" pitchFamily="34" charset="0"/>
              </a:rPr>
              <a:t>Zen-Assist</a:t>
            </a:r>
            <a:endParaRPr lang="fr-FR" dirty="0">
              <a:solidFill>
                <a:schemeClr val="bg1"/>
              </a:solidFill>
              <a:latin typeface="Arial Black" panose="020B0A04020102020204" pitchFamily="34" charset="0"/>
            </a:endParaRPr>
          </a:p>
        </p:txBody>
      </p:sp>
      <p:pic>
        <p:nvPicPr>
          <p:cNvPr id="4098" name="Picture 2">
            <a:extLst>
              <a:ext uri="{FF2B5EF4-FFF2-40B4-BE49-F238E27FC236}">
                <a16:creationId xmlns:a16="http://schemas.microsoft.com/office/drawing/2014/main" id="{0E80457F-CF9C-70F5-482D-B2523A2897A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300000">
            <a:off x="9962134" y="79428"/>
            <a:ext cx="1905888" cy="190588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" name="Picture 6" descr="OpenClassrooms | Spreadshop">
            <a:extLst>
              <a:ext uri="{FF2B5EF4-FFF2-40B4-BE49-F238E27FC236}">
                <a16:creationId xmlns:a16="http://schemas.microsoft.com/office/drawing/2014/main" id="{7EC758DE-EEDC-03D4-A339-4DE1B283266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013944" y="5955028"/>
            <a:ext cx="4933507" cy="88430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Google Shape;267;p34">
            <a:extLst>
              <a:ext uri="{FF2B5EF4-FFF2-40B4-BE49-F238E27FC236}">
                <a16:creationId xmlns:a16="http://schemas.microsoft.com/office/drawing/2014/main" id="{9D4FBF3F-4AB3-5727-2530-A1E144B46AC9}"/>
              </a:ext>
            </a:extLst>
          </p:cNvPr>
          <p:cNvSpPr txBox="1">
            <a:spLocks/>
          </p:cNvSpPr>
          <p:nvPr/>
        </p:nvSpPr>
        <p:spPr>
          <a:xfrm>
            <a:off x="763772" y="5045850"/>
            <a:ext cx="8232720" cy="1793486"/>
          </a:xfrm>
          <a:prstGeom prst="rect">
            <a:avLst/>
          </a:prstGeom>
          <a:noFill/>
          <a:ln>
            <a:noFill/>
          </a:ln>
        </p:spPr>
        <p:txBody>
          <a:bodyPr spcFirstLastPara="1" vert="horz" wrap="square" lIns="91433" tIns="45700" rIns="91433" bIns="45700" rtlCol="0" anchor="t" anchorCtr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spcBef>
                <a:spcPts val="0"/>
              </a:spcBef>
              <a:buNone/>
            </a:pPr>
            <a:r>
              <a:rPr lang="fr-FR" sz="4400" i="1" dirty="0">
                <a:solidFill>
                  <a:schemeClr val="bg1">
                    <a:lumMod val="65000"/>
                  </a:schemeClr>
                </a:solidFill>
              </a:rPr>
              <a:t>Formation Développeur IA</a:t>
            </a:r>
          </a:p>
          <a:p>
            <a:pPr marL="0" indent="0">
              <a:spcBef>
                <a:spcPts val="0"/>
              </a:spcBef>
              <a:buNone/>
            </a:pPr>
            <a:r>
              <a:rPr lang="fr-FR" sz="4400" i="1" dirty="0">
                <a:solidFill>
                  <a:schemeClr val="bg1">
                    <a:lumMod val="65000"/>
                  </a:schemeClr>
                </a:solidFill>
              </a:rPr>
              <a:t>Août 2026</a:t>
            </a:r>
          </a:p>
        </p:txBody>
      </p:sp>
      <p:sp>
        <p:nvSpPr>
          <p:cNvPr id="7" name="ZoneTexte 6">
            <a:extLst>
              <a:ext uri="{FF2B5EF4-FFF2-40B4-BE49-F238E27FC236}">
                <a16:creationId xmlns:a16="http://schemas.microsoft.com/office/drawing/2014/main" id="{6CC1350B-E508-81B1-EEBD-381C600F6AF7}"/>
              </a:ext>
            </a:extLst>
          </p:cNvPr>
          <p:cNvSpPr txBox="1"/>
          <p:nvPr/>
        </p:nvSpPr>
        <p:spPr>
          <a:xfrm>
            <a:off x="763772" y="2525564"/>
            <a:ext cx="11238614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4400" dirty="0">
                <a:latin typeface="Segoe UI Black" panose="020B0A02040204020203" pitchFamily="34" charset="0"/>
                <a:ea typeface="Segoe UI Black" panose="020B0A02040204020203" pitchFamily="34" charset="0"/>
              </a:rPr>
              <a:t>Solution d’étiquetage automatique</a:t>
            </a:r>
          </a:p>
          <a:p>
            <a:pPr algn="r"/>
            <a:r>
              <a:rPr lang="fr-FR" sz="4400" dirty="0">
                <a:latin typeface="Segoe UI Black" panose="020B0A02040204020203" pitchFamily="34" charset="0"/>
                <a:ea typeface="Segoe UI Black" panose="020B0A02040204020203" pitchFamily="34" charset="0"/>
              </a:rPr>
              <a:t>LLM / ML</a:t>
            </a:r>
          </a:p>
        </p:txBody>
      </p:sp>
    </p:spTree>
    <p:extLst>
      <p:ext uri="{BB962C8B-B14F-4D97-AF65-F5344CB8AC3E}">
        <p14:creationId xmlns:p14="http://schemas.microsoft.com/office/powerpoint/2010/main" val="386523822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5F5CCCC7-B8DB-ADF3-5AF8-D124C6BC20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Contexte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CA30B59B-9256-F687-FB0F-F72677E2AC4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Objectif : automatiser le routage des réclamations vers le bon service.</a:t>
            </a:r>
          </a:p>
          <a:p>
            <a:r>
              <a:rPr lang="fr-FR" dirty="0"/>
              <a:t>Approche: comparer un système de classification LLM et ML</a:t>
            </a:r>
          </a:p>
        </p:txBody>
      </p:sp>
    </p:spTree>
    <p:extLst>
      <p:ext uri="{BB962C8B-B14F-4D97-AF65-F5344CB8AC3E}">
        <p14:creationId xmlns:p14="http://schemas.microsoft.com/office/powerpoint/2010/main" val="418119778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CA0CB97F-097E-0FEC-42EB-89420D6043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365125"/>
            <a:ext cx="5360581" cy="3824103"/>
          </a:xfrm>
        </p:spPr>
        <p:txBody>
          <a:bodyPr>
            <a:normAutofit/>
          </a:bodyPr>
          <a:lstStyle/>
          <a:p>
            <a:r>
              <a:rPr lang="fr-FR" sz="6600" dirty="0">
                <a:solidFill>
                  <a:schemeClr val="accent1">
                    <a:lumMod val="75000"/>
                  </a:schemeClr>
                </a:solidFill>
                <a:latin typeface="Segoe UI Black" panose="020B0A02040204020203" pitchFamily="34" charset="0"/>
                <a:ea typeface="Segoe UI Black" panose="020B0A02040204020203" pitchFamily="34" charset="0"/>
              </a:rPr>
              <a:t>Analyse exploratoire des données</a:t>
            </a:r>
          </a:p>
        </p:txBody>
      </p:sp>
      <p:pic>
        <p:nvPicPr>
          <p:cNvPr id="2050" name="Picture 2" descr="Analyse exploratoire - Icônes ordinateur gratuites">
            <a:extLst>
              <a:ext uri="{FF2B5EF4-FFF2-40B4-BE49-F238E27FC236}">
                <a16:creationId xmlns:a16="http://schemas.microsoft.com/office/drawing/2014/main" id="{AD618C70-2F2B-E7F8-3413-9BB4F19C3E2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976731" y="1554126"/>
            <a:ext cx="4876800" cy="4876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89881848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0507C94-B671-42C3-1737-1B8FAA818D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00AE9FDB-9593-9FAD-EBD2-EB411873AD0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787243"/>
            <a:ext cx="10515600" cy="3389719"/>
          </a:xfrm>
        </p:spPr>
        <p:txBody>
          <a:bodyPr>
            <a:normAutofit/>
          </a:bodyPr>
          <a:lstStyle/>
          <a:p>
            <a:r>
              <a:rPr lang="fr-FR" dirty="0"/>
              <a:t>Valeurs manquantes dans la variable </a:t>
            </a:r>
            <a:r>
              <a:rPr lang="fr-FR" i="1" dirty="0">
                <a:solidFill>
                  <a:schemeClr val="accent2">
                    <a:lumMod val="75000"/>
                  </a:schemeClr>
                </a:solidFill>
              </a:rPr>
              <a:t>Consumer Claim</a:t>
            </a:r>
          </a:p>
          <a:p>
            <a:r>
              <a:rPr lang="fr-FR" dirty="0"/>
              <a:t>Seule la </a:t>
            </a:r>
            <a:r>
              <a:rPr lang="fr-FR" b="1" dirty="0"/>
              <a:t>soumission « </a:t>
            </a:r>
            <a:r>
              <a:rPr lang="fr-FR" dirty="0">
                <a:solidFill>
                  <a:schemeClr val="accent2">
                    <a:lumMod val="75000"/>
                  </a:schemeClr>
                </a:solidFill>
              </a:rPr>
              <a:t>Web</a:t>
            </a:r>
            <a:r>
              <a:rPr lang="fr-FR" dirty="0"/>
              <a:t> » contient des réclamations avec un texte</a:t>
            </a:r>
          </a:p>
          <a:p>
            <a:r>
              <a:rPr lang="fr-FR" dirty="0"/>
              <a:t>Seules les réclamations </a:t>
            </a:r>
            <a:r>
              <a:rPr lang="fr-FR" b="1" dirty="0"/>
              <a:t>avec consentement </a:t>
            </a:r>
            <a:r>
              <a:rPr lang="fr-FR" dirty="0"/>
              <a:t>contiennent un texte</a:t>
            </a:r>
          </a:p>
          <a:p>
            <a:r>
              <a:rPr lang="fr-FR" dirty="0"/>
              <a:t>Les valeurs manquantes semblent donc potentiellement structurelles plutôt qu'aléatoires</a:t>
            </a:r>
          </a:p>
          <a:p>
            <a:r>
              <a:rPr lang="fr-FR" dirty="0"/>
              <a:t>70% des valeurs sont manquantes</a:t>
            </a:r>
          </a:p>
          <a:p>
            <a:endParaRPr lang="fr-FR" dirty="0"/>
          </a:p>
        </p:txBody>
      </p:sp>
      <p:sp>
        <p:nvSpPr>
          <p:cNvPr id="6" name="Titre 1">
            <a:extLst>
              <a:ext uri="{FF2B5EF4-FFF2-40B4-BE49-F238E27FC236}">
                <a16:creationId xmlns:a16="http://schemas.microsoft.com/office/drawing/2014/main" id="{06F9D9E8-DDEC-908D-ABCC-7B1C0733DF8D}"/>
              </a:ext>
            </a:extLst>
          </p:cNvPr>
          <p:cNvSpPr txBox="1">
            <a:spLocks/>
          </p:cNvSpPr>
          <p:nvPr/>
        </p:nvSpPr>
        <p:spPr>
          <a:xfrm>
            <a:off x="1524000" y="365679"/>
            <a:ext cx="9144000" cy="961618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>
              <a:lnSpc>
                <a:spcPct val="90000"/>
              </a:lnSpc>
              <a:spcBef>
                <a:spcPct val="0"/>
              </a:spcBef>
              <a:buNone/>
              <a:defRPr sz="6000" u="sng">
                <a:latin typeface="+mj-lt"/>
                <a:ea typeface="+mj-ea"/>
                <a:cs typeface="+mj-cs"/>
              </a:defRPr>
            </a:lvl1pPr>
          </a:lstStyle>
          <a:p>
            <a:r>
              <a:rPr lang="fr-FR" dirty="0"/>
              <a:t>Variable(s)</a:t>
            </a:r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0443F918-F80D-EC94-B2A5-A74BEF1CF7E4}"/>
              </a:ext>
            </a:extLst>
          </p:cNvPr>
          <p:cNvSpPr txBox="1"/>
          <p:nvPr/>
        </p:nvSpPr>
        <p:spPr>
          <a:xfrm>
            <a:off x="3047114" y="1614803"/>
            <a:ext cx="6097772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fr-FR" dirty="0"/>
              <a:t>15 colonnes dont </a:t>
            </a:r>
            <a:r>
              <a:rPr lang="fr-FR" i="1" dirty="0">
                <a:solidFill>
                  <a:schemeClr val="accent2">
                    <a:lumMod val="75000"/>
                  </a:schemeClr>
                </a:solidFill>
              </a:rPr>
              <a:t>Consumer Claim </a:t>
            </a:r>
            <a:r>
              <a:rPr lang="fr-FR" sz="1800" dirty="0"/>
              <a:t>est la principale variable de prédiction pour identifier l’étiquette à assigner</a:t>
            </a:r>
          </a:p>
        </p:txBody>
      </p:sp>
    </p:spTree>
    <p:extLst>
      <p:ext uri="{BB962C8B-B14F-4D97-AF65-F5344CB8AC3E}">
        <p14:creationId xmlns:p14="http://schemas.microsoft.com/office/powerpoint/2010/main" val="44629408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32115817-FDF6-900F-9B3C-4963B9B7376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fr-FR" dirty="0"/>
              <a:t>Les </a:t>
            </a:r>
            <a:r>
              <a:rPr lang="fr-FR" b="1" dirty="0"/>
              <a:t>anciennes nomenclatures </a:t>
            </a:r>
            <a:r>
              <a:rPr lang="fr-FR" dirty="0"/>
              <a:t>sont </a:t>
            </a:r>
            <a:r>
              <a:rPr lang="fr-FR" b="1" dirty="0"/>
              <a:t>généralement incluses </a:t>
            </a:r>
            <a:r>
              <a:rPr lang="fr-FR" dirty="0"/>
              <a:t>dans les nouvelles (plus fournies)</a:t>
            </a:r>
          </a:p>
          <a:p>
            <a:r>
              <a:rPr lang="fr-FR" b="1" dirty="0"/>
              <a:t>LLM ne doit pas avoir à prendre une décision artificielle </a:t>
            </a:r>
            <a:r>
              <a:rPr lang="fr-FR" dirty="0"/>
              <a:t>entre deux catégories qui correspondent simplement à deux versions historiques de la nomenclature</a:t>
            </a:r>
          </a:p>
          <a:p>
            <a:r>
              <a:rPr lang="fr-FR" dirty="0"/>
              <a:t>Exception de « </a:t>
            </a:r>
            <a:r>
              <a:rPr lang="fr-FR" b="1" dirty="0"/>
              <a:t>Consumer Loan </a:t>
            </a:r>
            <a:r>
              <a:rPr lang="fr-FR" dirty="0"/>
              <a:t>» dont le sens métier doit être définit par rapport à « </a:t>
            </a:r>
            <a:r>
              <a:rPr lang="en-US" b="1" dirty="0"/>
              <a:t>Payday loan, title loan, or personal loan</a:t>
            </a:r>
            <a:r>
              <a:rPr lang="fr-FR" b="1" dirty="0"/>
              <a:t> </a:t>
            </a:r>
            <a:r>
              <a:rPr lang="fr-FR" dirty="0"/>
              <a:t>»</a:t>
            </a:r>
          </a:p>
        </p:txBody>
      </p:sp>
      <p:sp>
        <p:nvSpPr>
          <p:cNvPr id="6" name="Titre 1">
            <a:extLst>
              <a:ext uri="{FF2B5EF4-FFF2-40B4-BE49-F238E27FC236}">
                <a16:creationId xmlns:a16="http://schemas.microsoft.com/office/drawing/2014/main" id="{60E3862B-4D17-A85F-5E51-6083E4D86581}"/>
              </a:ext>
            </a:extLst>
          </p:cNvPr>
          <p:cNvSpPr txBox="1">
            <a:spLocks/>
          </p:cNvSpPr>
          <p:nvPr/>
        </p:nvSpPr>
        <p:spPr>
          <a:xfrm>
            <a:off x="1524000" y="365679"/>
            <a:ext cx="9144000" cy="961618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>
              <a:lnSpc>
                <a:spcPct val="90000"/>
              </a:lnSpc>
              <a:spcBef>
                <a:spcPct val="0"/>
              </a:spcBef>
              <a:buNone/>
              <a:defRPr sz="6000" u="sng">
                <a:latin typeface="+mj-lt"/>
                <a:ea typeface="+mj-ea"/>
                <a:cs typeface="+mj-cs"/>
              </a:defRPr>
            </a:lvl1pPr>
          </a:lstStyle>
          <a:p>
            <a:r>
              <a:rPr lang="fr-FR" dirty="0"/>
              <a:t>Cible (catégorie)</a:t>
            </a:r>
          </a:p>
        </p:txBody>
      </p:sp>
    </p:spTree>
    <p:extLst>
      <p:ext uri="{BB962C8B-B14F-4D97-AF65-F5344CB8AC3E}">
        <p14:creationId xmlns:p14="http://schemas.microsoft.com/office/powerpoint/2010/main" val="296425085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30B1C63-B589-571E-98AE-05E8ED47EE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Image 8">
            <a:extLst>
              <a:ext uri="{FF2B5EF4-FFF2-40B4-BE49-F238E27FC236}">
                <a16:creationId xmlns:a16="http://schemas.microsoft.com/office/drawing/2014/main" id="{1F03410F-C6C0-88B6-E9B9-F239740F9CD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2114" t="12720" r="11565" b="10083"/>
          <a:stretch>
            <a:fillRect/>
          </a:stretch>
        </p:blipFill>
        <p:spPr>
          <a:xfrm>
            <a:off x="8735478" y="5003043"/>
            <a:ext cx="2355218" cy="1787701"/>
          </a:xfrm>
          <a:prstGeom prst="rect">
            <a:avLst/>
          </a:prstGeom>
        </p:spPr>
      </p:pic>
      <p:sp>
        <p:nvSpPr>
          <p:cNvPr id="2" name="Titre 1">
            <a:extLst>
              <a:ext uri="{FF2B5EF4-FFF2-40B4-BE49-F238E27FC236}">
                <a16:creationId xmlns:a16="http://schemas.microsoft.com/office/drawing/2014/main" id="{F86E0A8D-CB0A-B2AB-137B-9805AF52F5D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365679"/>
            <a:ext cx="9144000" cy="961618"/>
          </a:xfrm>
        </p:spPr>
        <p:txBody>
          <a:bodyPr/>
          <a:lstStyle/>
          <a:p>
            <a:r>
              <a:rPr lang="fr-FR" u="sng" dirty="0"/>
              <a:t>Cible (catégorie)</a:t>
            </a: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DCEC9766-7877-6612-4E2D-4B18A58FAC1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2049680"/>
            <a:ext cx="5536018" cy="1257041"/>
          </a:xfrm>
          <a:solidFill>
            <a:schemeClr val="accent2">
              <a:lumMod val="60000"/>
              <a:lumOff val="40000"/>
            </a:schemeClr>
          </a:solidFill>
        </p:spPr>
        <p:txBody>
          <a:bodyPr>
            <a:normAutofit lnSpcReduction="10000"/>
          </a:bodyPr>
          <a:lstStyle/>
          <a:p>
            <a:r>
              <a:rPr lang="fr-FR" dirty="0"/>
              <a:t>2011 à 2016</a:t>
            </a:r>
          </a:p>
          <a:p>
            <a:r>
              <a:rPr lang="fr-FR" dirty="0"/>
              <a:t> Ancienne Nomenclature</a:t>
            </a:r>
          </a:p>
          <a:p>
            <a:r>
              <a:rPr lang="fr-FR" dirty="0"/>
              <a:t>(plus détaillé)</a:t>
            </a:r>
          </a:p>
        </p:txBody>
      </p:sp>
      <p:sp>
        <p:nvSpPr>
          <p:cNvPr id="4" name="Sous-titre 2">
            <a:extLst>
              <a:ext uri="{FF2B5EF4-FFF2-40B4-BE49-F238E27FC236}">
                <a16:creationId xmlns:a16="http://schemas.microsoft.com/office/drawing/2014/main" id="{44C90DDE-E233-1253-6B7A-B3E690DA10C0}"/>
              </a:ext>
            </a:extLst>
          </p:cNvPr>
          <p:cNvSpPr txBox="1">
            <a:spLocks/>
          </p:cNvSpPr>
          <p:nvPr/>
        </p:nvSpPr>
        <p:spPr>
          <a:xfrm>
            <a:off x="7060018" y="2049681"/>
            <a:ext cx="3607981" cy="1257040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</p:spPr>
        <p:txBody>
          <a:bodyPr vert="horz" lIns="91440" tIns="45720" rIns="91440" bIns="45720" rtlCol="0">
            <a:normAutofit lnSpcReduction="10000"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2017 à 2019</a:t>
            </a:r>
          </a:p>
          <a:p>
            <a:r>
              <a:rPr lang="fr-FR" dirty="0"/>
              <a:t>Nouvelle Nomenclature</a:t>
            </a:r>
          </a:p>
          <a:p>
            <a:r>
              <a:rPr lang="fr-FR" dirty="0"/>
              <a:t>(plus généraliste)</a:t>
            </a:r>
          </a:p>
        </p:txBody>
      </p:sp>
      <p:sp>
        <p:nvSpPr>
          <p:cNvPr id="5" name="Sous-titre 2">
            <a:extLst>
              <a:ext uri="{FF2B5EF4-FFF2-40B4-BE49-F238E27FC236}">
                <a16:creationId xmlns:a16="http://schemas.microsoft.com/office/drawing/2014/main" id="{B55D0B1D-6B89-AA49-7573-8DE0C1828AFF}"/>
              </a:ext>
            </a:extLst>
          </p:cNvPr>
          <p:cNvSpPr txBox="1">
            <a:spLocks/>
          </p:cNvSpPr>
          <p:nvPr/>
        </p:nvSpPr>
        <p:spPr>
          <a:xfrm>
            <a:off x="2867246" y="4186824"/>
            <a:ext cx="3703675" cy="1389321"/>
          </a:xfrm>
          <a:prstGeom prst="rect">
            <a:avLst/>
          </a:prstGeom>
          <a:noFill/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sz="2800" b="1" dirty="0">
                <a:solidFill>
                  <a:sysClr val="windowText" lastClr="000000"/>
                </a:solidFill>
              </a:rPr>
              <a:t>Remplace les anciennes catégories par les nouvelles</a:t>
            </a:r>
          </a:p>
          <a:p>
            <a:endParaRPr lang="fr-FR" sz="2800" b="1" dirty="0">
              <a:solidFill>
                <a:sysClr val="windowText" lastClr="000000"/>
              </a:solidFill>
            </a:endParaRPr>
          </a:p>
        </p:txBody>
      </p:sp>
      <p:pic>
        <p:nvPicPr>
          <p:cNvPr id="1026" name="Picture 2" descr="Images sur Supprimer : Téléchargement gratuit sur Magnific (anciennement  Freepik)">
            <a:extLst>
              <a:ext uri="{FF2B5EF4-FFF2-40B4-BE49-F238E27FC236}">
                <a16:creationId xmlns:a16="http://schemas.microsoft.com/office/drawing/2014/main" id="{6426B220-CE0B-29C7-D006-78A78F50F05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27837" y="3504568"/>
            <a:ext cx="2392326" cy="239232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Flèche : droite 5">
            <a:extLst>
              <a:ext uri="{FF2B5EF4-FFF2-40B4-BE49-F238E27FC236}">
                <a16:creationId xmlns:a16="http://schemas.microsoft.com/office/drawing/2014/main" id="{250E3995-0EB7-A592-C349-723F39E8FFF6}"/>
              </a:ext>
            </a:extLst>
          </p:cNvPr>
          <p:cNvSpPr/>
          <p:nvPr/>
        </p:nvSpPr>
        <p:spPr>
          <a:xfrm>
            <a:off x="6868630" y="4369978"/>
            <a:ext cx="1158949" cy="770232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7" name="Sous-titre 2">
            <a:extLst>
              <a:ext uri="{FF2B5EF4-FFF2-40B4-BE49-F238E27FC236}">
                <a16:creationId xmlns:a16="http://schemas.microsoft.com/office/drawing/2014/main" id="{6B9A69D7-E143-4867-EC2B-A6A0FD64C6CF}"/>
              </a:ext>
            </a:extLst>
          </p:cNvPr>
          <p:cNvSpPr txBox="1">
            <a:spLocks/>
          </p:cNvSpPr>
          <p:nvPr/>
        </p:nvSpPr>
        <p:spPr>
          <a:xfrm>
            <a:off x="8172891" y="4190370"/>
            <a:ext cx="3480393" cy="1389321"/>
          </a:xfrm>
          <a:prstGeom prst="rect">
            <a:avLst/>
          </a:prstGeom>
          <a:noFill/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sz="2800" b="1" dirty="0">
                <a:solidFill>
                  <a:sysClr val="windowText" lastClr="000000"/>
                </a:solidFill>
              </a:rPr>
              <a:t>Tag devient une catégorie unique</a:t>
            </a:r>
          </a:p>
          <a:p>
            <a:endParaRPr lang="fr-FR" sz="2800" b="1" dirty="0">
              <a:solidFill>
                <a:sysClr val="windowText" lastClr="0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61306978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C1DFB690-A046-0763-0BE7-A07B84B014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fr-FR" sz="6000" u="sng" dirty="0"/>
              <a:t>Dispersion Texte / Catégorie</a:t>
            </a:r>
          </a:p>
        </p:txBody>
      </p:sp>
      <p:graphicFrame>
        <p:nvGraphicFramePr>
          <p:cNvPr id="4" name="Espace réservé du contenu 3">
            <a:extLst>
              <a:ext uri="{FF2B5EF4-FFF2-40B4-BE49-F238E27FC236}">
                <a16:creationId xmlns:a16="http://schemas.microsoft.com/office/drawing/2014/main" id="{8E0763A6-65DE-2E9C-A72F-AEFD7BFBA2C7}"/>
              </a:ext>
            </a:extLst>
          </p:cNvPr>
          <p:cNvGraphicFramePr>
            <a:graphicFrameLocks noGrp="1"/>
          </p:cNvGraphicFramePr>
          <p:nvPr>
            <p:ph idx="1"/>
          </p:nvPr>
        </p:nvGraphicFramePr>
        <p:xfrm>
          <a:off x="838200" y="2538254"/>
          <a:ext cx="10515600" cy="2926080"/>
        </p:xfrm>
        <a:graphic>
          <a:graphicData uri="http://schemas.openxmlformats.org/drawingml/2006/table">
            <a:tbl>
              <a:tblPr/>
              <a:tblGrid>
                <a:gridCol w="5257800">
                  <a:extLst>
                    <a:ext uri="{9D8B030D-6E8A-4147-A177-3AD203B41FA5}">
                      <a16:colId xmlns:a16="http://schemas.microsoft.com/office/drawing/2014/main" val="3586944221"/>
                    </a:ext>
                  </a:extLst>
                </a:gridCol>
                <a:gridCol w="5257800">
                  <a:extLst>
                    <a:ext uri="{9D8B030D-6E8A-4147-A177-3AD203B41FA5}">
                      <a16:colId xmlns:a16="http://schemas.microsoft.com/office/drawing/2014/main" val="4012283320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/>
                        <a:t>Indicateur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fr-FR"/>
                        <a:t>Résultat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5852294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/>
                        <a:t>Réclamations avec texte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fr-FR"/>
                        <a:t>383 564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8160409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/>
                        <a:t>Textes uniques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fr-FR" b="1"/>
                        <a:t>366 945</a:t>
                      </a:r>
                      <a:endParaRPr lang="fr-FR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36321031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/>
                        <a:t>Textes répétés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fr-FR" b="1"/>
                        <a:t>16 619</a:t>
                      </a:r>
                      <a:endParaRPr lang="fr-FR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057457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/>
                        <a:t>Textes associés à 1 seule catégorie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fr-FR" b="1"/>
                        <a:t>366 781</a:t>
                      </a:r>
                      <a:endParaRPr lang="fr-FR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1092472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/>
                        <a:t>Textes associés à 2 catégories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fr-FR" b="1"/>
                        <a:t>152</a:t>
                      </a:r>
                      <a:endParaRPr lang="fr-FR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5159787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/>
                        <a:t>Textes associés à 3 catégories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fr-FR" b="1"/>
                        <a:t>11</a:t>
                      </a:r>
                      <a:endParaRPr lang="fr-FR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4730300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/>
                        <a:t>Textes associés à 5 catégories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fr-FR" b="1" dirty="0"/>
                        <a:t>1</a:t>
                      </a:r>
                      <a:endParaRPr lang="fr-FR" dirty="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69296555"/>
                  </a:ext>
                </a:extLst>
              </a:tr>
            </a:tbl>
          </a:graphicData>
        </a:graphic>
      </p:graphicFrame>
      <p:sp>
        <p:nvSpPr>
          <p:cNvPr id="5" name="Rectangle 4">
            <a:extLst>
              <a:ext uri="{FF2B5EF4-FFF2-40B4-BE49-F238E27FC236}">
                <a16:creationId xmlns:a16="http://schemas.microsoft.com/office/drawing/2014/main" id="{4C61CB05-4176-A71B-1B88-3E1795220B00}"/>
              </a:ext>
            </a:extLst>
          </p:cNvPr>
          <p:cNvSpPr/>
          <p:nvPr/>
        </p:nvSpPr>
        <p:spPr>
          <a:xfrm>
            <a:off x="838200" y="4381500"/>
            <a:ext cx="10515600" cy="1082834"/>
          </a:xfrm>
          <a:prstGeom prst="rect">
            <a:avLst/>
          </a:prstGeom>
          <a:noFill/>
          <a:ln w="508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65147627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D400C72A-6975-F8C3-D588-A84C967A9F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fr-FR" sz="6000" u="sng" dirty="0" err="1"/>
              <a:t>Dataset</a:t>
            </a:r>
            <a:endParaRPr lang="fr-FR" sz="6000" u="sng" dirty="0"/>
          </a:p>
        </p:txBody>
      </p:sp>
      <p:graphicFrame>
        <p:nvGraphicFramePr>
          <p:cNvPr id="6" name="Tableau 5">
            <a:extLst>
              <a:ext uri="{FF2B5EF4-FFF2-40B4-BE49-F238E27FC236}">
                <a16:creationId xmlns:a16="http://schemas.microsoft.com/office/drawing/2014/main" id="{1B14DB11-00B6-6475-8EA7-14A9E9B992C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1030456"/>
              </p:ext>
            </p:extLst>
          </p:nvPr>
        </p:nvGraphicFramePr>
        <p:xfrm>
          <a:off x="660400" y="1739900"/>
          <a:ext cx="11023600" cy="4905372"/>
        </p:xfrm>
        <a:graphic>
          <a:graphicData uri="http://schemas.openxmlformats.org/drawingml/2006/table">
            <a:tbl>
              <a:tblPr>
                <a:tableStyleId>{8FD4443E-F989-4FC4-A0C8-D5A2AF1F390B}</a:tableStyleId>
              </a:tblPr>
              <a:tblGrid>
                <a:gridCol w="6959600">
                  <a:extLst>
                    <a:ext uri="{9D8B030D-6E8A-4147-A177-3AD203B41FA5}">
                      <a16:colId xmlns:a16="http://schemas.microsoft.com/office/drawing/2014/main" val="3526208051"/>
                    </a:ext>
                  </a:extLst>
                </a:gridCol>
                <a:gridCol w="4064000">
                  <a:extLst>
                    <a:ext uri="{9D8B030D-6E8A-4147-A177-3AD203B41FA5}">
                      <a16:colId xmlns:a16="http://schemas.microsoft.com/office/drawing/2014/main" val="2296497133"/>
                    </a:ext>
                  </a:extLst>
                </a:gridCol>
              </a:tblGrid>
              <a:tr h="567495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fr-FR" sz="1800" b="0" u="none" strike="noStrike" dirty="0">
                          <a:solidFill>
                            <a:schemeClr val="bg1"/>
                          </a:solidFill>
                          <a:effectLst/>
                        </a:rPr>
                        <a:t>combien de réclamations ?</a:t>
                      </a:r>
                      <a:endParaRPr lang="fr-FR" sz="1800" b="0" i="0" u="none" strike="noStrike" dirty="0">
                        <a:solidFill>
                          <a:schemeClr val="bg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108000" marR="252000" marT="9525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fr-FR" sz="1800" b="0" u="none" strike="noStrike" dirty="0">
                          <a:solidFill>
                            <a:schemeClr val="bg1"/>
                          </a:solidFill>
                          <a:effectLst/>
                        </a:rPr>
                        <a:t>1.282,355 (~ 400 / jours)</a:t>
                      </a:r>
                      <a:endParaRPr lang="fr-FR" sz="1800" b="0" i="0" u="none" strike="noStrike" dirty="0">
                        <a:solidFill>
                          <a:schemeClr val="bg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108000" marR="252000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87973425"/>
                  </a:ext>
                </a:extLst>
              </a:tr>
              <a:tr h="567495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fr-FR" sz="1800" b="0" u="none" strike="noStrike" dirty="0">
                          <a:solidFill>
                            <a:schemeClr val="bg1"/>
                          </a:solidFill>
                          <a:effectLst/>
                        </a:rPr>
                        <a:t>combien de catégories ?</a:t>
                      </a:r>
                      <a:endParaRPr lang="fr-FR" sz="1800" b="0" i="0" u="none" strike="noStrike" dirty="0">
                        <a:solidFill>
                          <a:schemeClr val="bg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108000" marR="252000" marT="9525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fr-FR" sz="1800" b="0" u="none" strike="noStrike" dirty="0">
                          <a:solidFill>
                            <a:schemeClr val="bg1"/>
                          </a:solidFill>
                          <a:effectLst/>
                        </a:rPr>
                        <a:t>18 (10 normalisé)</a:t>
                      </a:r>
                      <a:endParaRPr lang="fr-FR" sz="1800" b="0" i="0" u="none" strike="noStrike" dirty="0">
                        <a:solidFill>
                          <a:schemeClr val="bg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108000" marR="252000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05924686"/>
                  </a:ext>
                </a:extLst>
              </a:tr>
              <a:tr h="658848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fr-FR" sz="1800" b="0" u="none" strike="noStrike">
                          <a:solidFill>
                            <a:schemeClr val="bg1"/>
                          </a:solidFill>
                          <a:effectLst/>
                        </a:rPr>
                        <a:t>quelle est la répartition des catégories ?</a:t>
                      </a:r>
                      <a:endParaRPr lang="fr-FR" sz="1800" b="0" i="0" u="none" strike="noStrike">
                        <a:solidFill>
                          <a:schemeClr val="bg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108000" marR="252000" marT="9525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fr-FR" sz="1800" b="0" u="none" strike="noStrike" dirty="0">
                          <a:solidFill>
                            <a:schemeClr val="bg1"/>
                          </a:solidFill>
                          <a:effectLst/>
                        </a:rPr>
                        <a:t>Déséquilibre très important des classes. </a:t>
                      </a:r>
                      <a:endParaRPr lang="fr-FR" sz="1800" b="0" i="0" u="none" strike="noStrike" dirty="0">
                        <a:solidFill>
                          <a:schemeClr val="bg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108000" marR="252000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28844308"/>
                  </a:ext>
                </a:extLst>
              </a:tr>
              <a:tr h="567495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fr-FR" sz="1800" b="0" u="none" strike="noStrike">
                          <a:solidFill>
                            <a:schemeClr val="bg1"/>
                          </a:solidFill>
                          <a:effectLst/>
                        </a:rPr>
                        <a:t>quelle proportion de Consumer Claim est manquante ?</a:t>
                      </a:r>
                      <a:endParaRPr lang="fr-FR" sz="1800" b="0" i="0" u="none" strike="noStrike">
                        <a:solidFill>
                          <a:schemeClr val="bg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108000" marR="252000" marT="9525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fr-FR" sz="1800" b="0" u="none" strike="noStrike" dirty="0">
                          <a:solidFill>
                            <a:schemeClr val="bg1"/>
                          </a:solidFill>
                          <a:effectLst/>
                        </a:rPr>
                        <a:t>898,791 (70%) reste 383,564 textes</a:t>
                      </a:r>
                      <a:endParaRPr lang="fr-FR" sz="1800" b="0" i="0" u="none" strike="noStrike" dirty="0">
                        <a:solidFill>
                          <a:schemeClr val="bg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108000" marR="252000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68708950"/>
                  </a:ext>
                </a:extLst>
              </a:tr>
              <a:tr h="658848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fr-FR" sz="1800" b="0" u="none" strike="noStrike">
                          <a:solidFill>
                            <a:schemeClr val="bg1"/>
                          </a:solidFill>
                          <a:effectLst/>
                        </a:rPr>
                        <a:t>les valeurs manquantes dépendent-elles de Submitted via ?</a:t>
                      </a:r>
                      <a:endParaRPr lang="fr-FR" sz="1800" b="0" i="0" u="none" strike="noStrike">
                        <a:solidFill>
                          <a:schemeClr val="bg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108000" marR="252000" marT="9525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fr-FR" sz="1800" b="0" u="none" strike="noStrike" dirty="0">
                          <a:solidFill>
                            <a:schemeClr val="bg1"/>
                          </a:solidFill>
                          <a:effectLst/>
                        </a:rPr>
                        <a:t>Oui: Seul « </a:t>
                      </a:r>
                      <a:r>
                        <a:rPr lang="fr-FR" sz="1800" b="0" u="none" strike="noStrike" dirty="0" err="1">
                          <a:solidFill>
                            <a:schemeClr val="bg1"/>
                          </a:solidFill>
                          <a:effectLst/>
                        </a:rPr>
                        <a:t>Submitted</a:t>
                      </a:r>
                      <a:r>
                        <a:rPr lang="fr-FR" sz="1800" b="0" u="none" strike="noStrike" dirty="0">
                          <a:solidFill>
                            <a:schemeClr val="bg1"/>
                          </a:solidFill>
                          <a:effectLst/>
                        </a:rPr>
                        <a:t> via Web » renseigne du texte </a:t>
                      </a:r>
                      <a:r>
                        <a:rPr lang="fr-FR" sz="1400" b="0" u="none" strike="noStrike" dirty="0">
                          <a:solidFill>
                            <a:schemeClr val="bg1"/>
                          </a:solidFill>
                          <a:effectLst/>
                        </a:rPr>
                        <a:t>(et pour seulement 40%)</a:t>
                      </a:r>
                      <a:endParaRPr lang="fr-FR" sz="1800" b="0" i="0" u="none" strike="noStrike" dirty="0">
                        <a:solidFill>
                          <a:schemeClr val="bg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108000" marR="252000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59580647"/>
                  </a:ext>
                </a:extLst>
              </a:tr>
              <a:tr h="658848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fr-FR" sz="1800" b="0" u="none" strike="noStrike" dirty="0">
                          <a:solidFill>
                            <a:schemeClr val="bg1"/>
                          </a:solidFill>
                          <a:effectLst/>
                        </a:rPr>
                        <a:t>les valeurs manquantes dépendent-elles de Consumer consent </a:t>
                      </a:r>
                      <a:r>
                        <a:rPr lang="fr-FR" sz="1800" b="0" u="none" strike="noStrike" dirty="0" err="1">
                          <a:solidFill>
                            <a:schemeClr val="bg1"/>
                          </a:solidFill>
                          <a:effectLst/>
                        </a:rPr>
                        <a:t>provided</a:t>
                      </a:r>
                      <a:r>
                        <a:rPr lang="fr-FR" sz="1800" b="0" u="none" strike="noStrike" dirty="0">
                          <a:solidFill>
                            <a:schemeClr val="bg1"/>
                          </a:solidFill>
                          <a:effectLst/>
                        </a:rPr>
                        <a:t> ?</a:t>
                      </a:r>
                      <a:endParaRPr lang="fr-FR" sz="1800" b="0" i="0" u="none" strike="noStrike" dirty="0">
                        <a:solidFill>
                          <a:schemeClr val="bg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108000" marR="252000" marT="9525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fr-FR" sz="1800" b="0" u="none" strike="noStrike" dirty="0">
                          <a:solidFill>
                            <a:schemeClr val="bg1"/>
                          </a:solidFill>
                          <a:effectLst/>
                        </a:rPr>
                        <a:t>Oui: 99% des textes renseignés définissent Consent </a:t>
                      </a:r>
                      <a:r>
                        <a:rPr lang="fr-FR" sz="1800" b="0" u="none" strike="noStrike" dirty="0" err="1">
                          <a:solidFill>
                            <a:schemeClr val="bg1"/>
                          </a:solidFill>
                          <a:effectLst/>
                        </a:rPr>
                        <a:t>provided</a:t>
                      </a:r>
                      <a:endParaRPr lang="fr-FR" sz="1800" b="0" i="0" u="none" strike="noStrike" dirty="0">
                        <a:solidFill>
                          <a:schemeClr val="bg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108000" marR="252000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4367778"/>
                  </a:ext>
                </a:extLst>
              </a:tr>
              <a:tr h="658848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fr-FR" sz="1800" b="0" u="none" strike="noStrike">
                          <a:solidFill>
                            <a:schemeClr val="bg1"/>
                          </a:solidFill>
                          <a:effectLst/>
                        </a:rPr>
                        <a:t>quelle longueur ont les réclamations ?</a:t>
                      </a:r>
                      <a:endParaRPr lang="fr-FR" sz="1800" b="0" i="0" u="none" strike="noStrike">
                        <a:solidFill>
                          <a:schemeClr val="bg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108000" marR="252000" marT="9525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fr-FR" sz="1800" b="0" u="none" strike="noStrike">
                          <a:solidFill>
                            <a:schemeClr val="bg1"/>
                          </a:solidFill>
                          <a:effectLst/>
                        </a:rPr>
                        <a:t>Une réclamation renseignée contient en moyenne environ 1 082 caractères.</a:t>
                      </a:r>
                      <a:endParaRPr lang="fr-FR" sz="1800" b="0" i="0" u="none" strike="noStrike">
                        <a:solidFill>
                          <a:schemeClr val="bg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108000" marR="252000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87279985"/>
                  </a:ext>
                </a:extLst>
              </a:tr>
              <a:tr h="567495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fr-FR" sz="1800" b="0" u="none" strike="noStrike" dirty="0">
                          <a:solidFill>
                            <a:schemeClr val="bg1"/>
                          </a:solidFill>
                          <a:effectLst/>
                        </a:rPr>
                        <a:t>existe-t-il des doublons parmi les réclamations ?</a:t>
                      </a:r>
                      <a:endParaRPr lang="fr-FR" sz="1800" b="0" i="0" u="none" strike="noStrike" dirty="0">
                        <a:solidFill>
                          <a:schemeClr val="bg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108000" marR="252000" marT="9525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fr-FR" sz="1800" b="0" u="none" strike="noStrike" dirty="0">
                          <a:solidFill>
                            <a:schemeClr val="bg1"/>
                          </a:solidFill>
                          <a:effectLst/>
                        </a:rPr>
                        <a:t>Oui: 16,619 (~4% des réclamations)</a:t>
                      </a:r>
                      <a:endParaRPr lang="fr-FR" sz="1800" b="0" i="0" u="none" strike="noStrike" dirty="0">
                        <a:solidFill>
                          <a:schemeClr val="bg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108000" marR="252000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6478180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84860606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7E387BAE-1479-8FE5-7C51-ACB6677BCF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Split train / test</a:t>
            </a:r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079386C9-9156-2BDB-6415-CF3DD948EB0C}"/>
              </a:ext>
            </a:extLst>
          </p:cNvPr>
          <p:cNvSpPr txBox="1"/>
          <p:nvPr/>
        </p:nvSpPr>
        <p:spPr>
          <a:xfrm>
            <a:off x="5257800" y="2109584"/>
            <a:ext cx="6096000" cy="39703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fr-FR" sz="2800" b="1" dirty="0"/>
              <a:t>20 % des données pour le test</a:t>
            </a:r>
          </a:p>
          <a:p>
            <a:pPr lvl="2"/>
            <a:r>
              <a:rPr lang="fr-FR" sz="2800" dirty="0"/>
              <a:t>=&gt; 76 700 réclamations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fr-FR" sz="2800" b="1" dirty="0"/>
              <a:t>80 % restants pour l'entraînement</a:t>
            </a:r>
          </a:p>
          <a:p>
            <a:pPr marL="1200150" lvl="2" indent="-285750">
              <a:buFont typeface="Symbol" panose="05050102010706020507" pitchFamily="18" charset="2"/>
              <a:buChar char="Þ"/>
            </a:pPr>
            <a:r>
              <a:rPr lang="fr-FR" sz="2800" dirty="0"/>
              <a:t>306 800 réclamations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fr-FR" sz="2800" b="1" dirty="0"/>
              <a:t>Tirage aléatoire avec </a:t>
            </a:r>
            <a:r>
              <a:rPr lang="fr-FR" sz="2800" b="1" dirty="0" err="1"/>
              <a:t>seed</a:t>
            </a:r>
            <a:r>
              <a:rPr lang="fr-FR" sz="2800" b="1" dirty="0"/>
              <a:t> pour reproduire l'expérience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fr-FR" sz="2800" b="1" dirty="0"/>
              <a:t>Conserve</a:t>
            </a:r>
            <a:r>
              <a:rPr lang="fr-FR" sz="2800" dirty="0"/>
              <a:t> </a:t>
            </a:r>
            <a:r>
              <a:rPr lang="fr-FR" sz="2800" b="1" dirty="0"/>
              <a:t>les mêmes proportions de chaque catégorie dans le train et dans le test</a:t>
            </a:r>
          </a:p>
        </p:txBody>
      </p:sp>
      <p:pic>
        <p:nvPicPr>
          <p:cNvPr id="7" name="Image 6">
            <a:extLst>
              <a:ext uri="{FF2B5EF4-FFF2-40B4-BE49-F238E27FC236}">
                <a16:creationId xmlns:a16="http://schemas.microsoft.com/office/drawing/2014/main" id="{091D3656-2410-C07C-A500-B61473E9B9F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6100" y="1918280"/>
            <a:ext cx="4419600" cy="43529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4885836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FBC2C2-4E49-C851-E469-6931F2B3B4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EA71DDA4-0747-AD4E-47D4-FF5F68CCF3E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365125"/>
            <a:ext cx="6966099" cy="3824103"/>
          </a:xfrm>
        </p:spPr>
        <p:txBody>
          <a:bodyPr>
            <a:normAutofit/>
          </a:bodyPr>
          <a:lstStyle/>
          <a:p>
            <a:r>
              <a:rPr lang="fr-FR" sz="6600" dirty="0">
                <a:solidFill>
                  <a:schemeClr val="accent1">
                    <a:lumMod val="75000"/>
                  </a:schemeClr>
                </a:solidFill>
                <a:latin typeface="Segoe UI Black" panose="020B0A02040204020203" pitchFamily="34" charset="0"/>
                <a:ea typeface="Segoe UI Black" panose="020B0A02040204020203" pitchFamily="34" charset="0"/>
              </a:rPr>
              <a:t>Les métriques</a:t>
            </a:r>
            <a:br>
              <a:rPr lang="fr-FR" sz="6600" dirty="0">
                <a:solidFill>
                  <a:schemeClr val="accent1">
                    <a:lumMod val="75000"/>
                  </a:schemeClr>
                </a:solidFill>
                <a:latin typeface="Segoe UI Black" panose="020B0A02040204020203" pitchFamily="34" charset="0"/>
                <a:ea typeface="Segoe UI Black" panose="020B0A02040204020203" pitchFamily="34" charset="0"/>
              </a:rPr>
            </a:br>
            <a:r>
              <a:rPr lang="fr-FR" sz="4800" dirty="0">
                <a:solidFill>
                  <a:srgbClr val="00B0F0"/>
                </a:solidFill>
                <a:latin typeface="Segoe UI Black" panose="020B0A02040204020203" pitchFamily="34" charset="0"/>
                <a:ea typeface="Segoe UI Black" panose="020B0A02040204020203" pitchFamily="34" charset="0"/>
              </a:rPr>
              <a:t>SCORES</a:t>
            </a:r>
            <a:endParaRPr lang="fr-FR" sz="6600" dirty="0">
              <a:solidFill>
                <a:srgbClr val="00B0F0"/>
              </a:solidFill>
              <a:latin typeface="Segoe UI Black" panose="020B0A02040204020203" pitchFamily="34" charset="0"/>
              <a:ea typeface="Segoe UI Black" panose="020B0A02040204020203" pitchFamily="34" charset="0"/>
            </a:endParaRPr>
          </a:p>
        </p:txBody>
      </p:sp>
      <p:pic>
        <p:nvPicPr>
          <p:cNvPr id="3080" name="Picture 8" descr="Succès métrique icône pour la toile, application, infographie, etc 45630880  Art vectoriel chez Vecteezy">
            <a:extLst>
              <a:ext uri="{FF2B5EF4-FFF2-40B4-BE49-F238E27FC236}">
                <a16:creationId xmlns:a16="http://schemas.microsoft.com/office/drawing/2014/main" id="{79090343-9D4D-703D-F46C-00A3D261CD1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387855" y="1956391"/>
            <a:ext cx="4465674" cy="446567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45400912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E49042BD-93A0-DAB6-8F58-1A73789CFE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Métriques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E7344CC8-D55D-75FD-115F-ECFAEEC0949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904626" y="1924465"/>
            <a:ext cx="4813300" cy="4247735"/>
          </a:xfrm>
        </p:spPr>
        <p:txBody>
          <a:bodyPr>
            <a:normAutofit fontScale="92500" lnSpcReduction="20000"/>
          </a:bodyPr>
          <a:lstStyle/>
          <a:p>
            <a:r>
              <a:rPr lang="fr-FR" dirty="0" err="1"/>
              <a:t>Accuracy</a:t>
            </a:r>
            <a:r>
              <a:rPr lang="fr-FR" dirty="0"/>
              <a:t> (%)</a:t>
            </a:r>
          </a:p>
          <a:p>
            <a:r>
              <a:rPr lang="fr-FR" dirty="0" err="1"/>
              <a:t>Precision</a:t>
            </a:r>
            <a:r>
              <a:rPr lang="fr-FR" dirty="0"/>
              <a:t> (macro) (%)</a:t>
            </a:r>
          </a:p>
          <a:p>
            <a:r>
              <a:rPr lang="fr-FR" dirty="0" err="1"/>
              <a:t>Recall</a:t>
            </a:r>
            <a:r>
              <a:rPr lang="fr-FR" dirty="0"/>
              <a:t> (macro) (%)</a:t>
            </a:r>
          </a:p>
          <a:p>
            <a:r>
              <a:rPr lang="fr-FR" dirty="0"/>
              <a:t>F1 (macro) (%)</a:t>
            </a:r>
          </a:p>
          <a:p>
            <a:r>
              <a:rPr lang="fr-FR" dirty="0" err="1"/>
              <a:t>Precision</a:t>
            </a:r>
            <a:r>
              <a:rPr lang="fr-FR" dirty="0"/>
              <a:t> (</a:t>
            </a:r>
            <a:r>
              <a:rPr lang="fr-FR" dirty="0" err="1"/>
              <a:t>weighted</a:t>
            </a:r>
            <a:r>
              <a:rPr lang="fr-FR" dirty="0"/>
              <a:t>) </a:t>
            </a:r>
          </a:p>
          <a:p>
            <a:r>
              <a:rPr lang="fr-FR" dirty="0" err="1"/>
              <a:t>Recall</a:t>
            </a:r>
            <a:r>
              <a:rPr lang="fr-FR" dirty="0"/>
              <a:t> (</a:t>
            </a:r>
            <a:r>
              <a:rPr lang="fr-FR" dirty="0" err="1"/>
              <a:t>weighted</a:t>
            </a:r>
            <a:r>
              <a:rPr lang="fr-FR" dirty="0"/>
              <a:t>)</a:t>
            </a:r>
          </a:p>
          <a:p>
            <a:r>
              <a:rPr lang="fr-FR" dirty="0"/>
              <a:t>F1 (</a:t>
            </a:r>
            <a:r>
              <a:rPr lang="fr-FR" dirty="0" err="1"/>
              <a:t>weighted</a:t>
            </a:r>
            <a:r>
              <a:rPr lang="fr-FR" dirty="0"/>
              <a:t>)</a:t>
            </a:r>
          </a:p>
          <a:p>
            <a:r>
              <a:rPr lang="fr-FR" dirty="0"/>
              <a:t>Temps moyen (s)</a:t>
            </a:r>
          </a:p>
          <a:p>
            <a:r>
              <a:rPr lang="fr-FR" dirty="0"/>
              <a:t>Temps médian (s)</a:t>
            </a:r>
          </a:p>
          <a:p>
            <a:r>
              <a:rPr lang="fr-FR" dirty="0"/>
              <a:t>Temps P95 (s)</a:t>
            </a:r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4489AD26-BEAA-7A40-8CDD-CB8A4D546545}"/>
              </a:ext>
            </a:extLst>
          </p:cNvPr>
          <p:cNvSpPr txBox="1"/>
          <p:nvPr/>
        </p:nvSpPr>
        <p:spPr>
          <a:xfrm>
            <a:off x="2621268" y="3079751"/>
            <a:ext cx="206537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fr-FR" b="1" dirty="0"/>
              <a:t>Métrique principale</a:t>
            </a:r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29F51975-8232-7EBE-B9A1-2896AB80018E}"/>
              </a:ext>
            </a:extLst>
          </p:cNvPr>
          <p:cNvSpPr txBox="1"/>
          <p:nvPr/>
        </p:nvSpPr>
        <p:spPr>
          <a:xfrm>
            <a:off x="2378067" y="1881188"/>
            <a:ext cx="230857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fr-FR" b="1" dirty="0"/>
              <a:t>Métrique secondaire</a:t>
            </a:r>
          </a:p>
        </p:txBody>
      </p:sp>
      <p:cxnSp>
        <p:nvCxnSpPr>
          <p:cNvPr id="7" name="Connecteur droit 6">
            <a:extLst>
              <a:ext uri="{FF2B5EF4-FFF2-40B4-BE49-F238E27FC236}">
                <a16:creationId xmlns:a16="http://schemas.microsoft.com/office/drawing/2014/main" id="{6C2F5112-FE9F-D71A-DDB5-832722E77ADF}"/>
              </a:ext>
            </a:extLst>
          </p:cNvPr>
          <p:cNvCxnSpPr/>
          <p:nvPr/>
        </p:nvCxnSpPr>
        <p:spPr>
          <a:xfrm>
            <a:off x="2070100" y="2250520"/>
            <a:ext cx="7810500" cy="0"/>
          </a:xfrm>
          <a:prstGeom prst="line">
            <a:avLst/>
          </a:prstGeom>
          <a:ln w="53975">
            <a:solidFill>
              <a:schemeClr val="bg2">
                <a:lumMod val="9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Connecteur droit 7">
            <a:extLst>
              <a:ext uri="{FF2B5EF4-FFF2-40B4-BE49-F238E27FC236}">
                <a16:creationId xmlns:a16="http://schemas.microsoft.com/office/drawing/2014/main" id="{D49E0545-1A2F-295F-591C-36C615459BB3}"/>
              </a:ext>
            </a:extLst>
          </p:cNvPr>
          <p:cNvCxnSpPr/>
          <p:nvPr/>
        </p:nvCxnSpPr>
        <p:spPr>
          <a:xfrm>
            <a:off x="2070100" y="3441700"/>
            <a:ext cx="7810500" cy="0"/>
          </a:xfrm>
          <a:prstGeom prst="line">
            <a:avLst/>
          </a:prstGeom>
          <a:ln w="53975">
            <a:solidFill>
              <a:schemeClr val="bg2">
                <a:lumMod val="9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Connecteur droit 5">
            <a:extLst>
              <a:ext uri="{FF2B5EF4-FFF2-40B4-BE49-F238E27FC236}">
                <a16:creationId xmlns:a16="http://schemas.microsoft.com/office/drawing/2014/main" id="{CD43FFF0-DB62-3B32-8CA7-C8AC3D3C5AEC}"/>
              </a:ext>
            </a:extLst>
          </p:cNvPr>
          <p:cNvCxnSpPr/>
          <p:nvPr/>
        </p:nvCxnSpPr>
        <p:spPr>
          <a:xfrm>
            <a:off x="2070100" y="4710519"/>
            <a:ext cx="7810500" cy="0"/>
          </a:xfrm>
          <a:prstGeom prst="line">
            <a:avLst/>
          </a:prstGeom>
          <a:ln w="53975">
            <a:solidFill>
              <a:schemeClr val="bg2">
                <a:lumMod val="9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24327013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11F45C-DBFB-59D2-5A3E-98F17293F9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76" name="Picture 4" descr="LLM or large language model icon for AI website and apps 63132258 Vector  Art at Vecteezy">
            <a:extLst>
              <a:ext uri="{FF2B5EF4-FFF2-40B4-BE49-F238E27FC236}">
                <a16:creationId xmlns:a16="http://schemas.microsoft.com/office/drawing/2014/main" id="{301584CD-F61F-5D13-D2BB-21FEF5A8F9A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874149" y="1562985"/>
            <a:ext cx="5116830" cy="50398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itre 1">
            <a:extLst>
              <a:ext uri="{FF2B5EF4-FFF2-40B4-BE49-F238E27FC236}">
                <a16:creationId xmlns:a16="http://schemas.microsoft.com/office/drawing/2014/main" id="{4DDB4469-838C-09F1-F352-BA5D5DFA927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365125"/>
            <a:ext cx="6966099" cy="3824103"/>
          </a:xfrm>
        </p:spPr>
        <p:txBody>
          <a:bodyPr>
            <a:normAutofit/>
          </a:bodyPr>
          <a:lstStyle/>
          <a:p>
            <a:r>
              <a:rPr lang="fr-FR" sz="6600" dirty="0">
                <a:solidFill>
                  <a:schemeClr val="accent1">
                    <a:lumMod val="75000"/>
                  </a:schemeClr>
                </a:solidFill>
                <a:latin typeface="Segoe UI Black" panose="020B0A02040204020203" pitchFamily="34" charset="0"/>
                <a:ea typeface="Segoe UI Black" panose="020B0A02040204020203" pitchFamily="34" charset="0"/>
              </a:rPr>
              <a:t>Implémentation</a:t>
            </a:r>
            <a:br>
              <a:rPr lang="fr-FR" sz="6600" dirty="0">
                <a:solidFill>
                  <a:schemeClr val="accent1">
                    <a:lumMod val="75000"/>
                  </a:schemeClr>
                </a:solidFill>
                <a:latin typeface="Segoe UI Black" panose="020B0A02040204020203" pitchFamily="34" charset="0"/>
                <a:ea typeface="Segoe UI Black" panose="020B0A02040204020203" pitchFamily="34" charset="0"/>
              </a:rPr>
            </a:br>
            <a:r>
              <a:rPr lang="fr-FR" sz="4800" dirty="0">
                <a:solidFill>
                  <a:schemeClr val="accent1">
                    <a:lumMod val="75000"/>
                  </a:schemeClr>
                </a:solidFill>
                <a:latin typeface="Segoe UI Black" panose="020B0A02040204020203" pitchFamily="34" charset="0"/>
                <a:ea typeface="Segoe UI Black" panose="020B0A02040204020203" pitchFamily="34" charset="0"/>
              </a:rPr>
              <a:t>L’approche </a:t>
            </a:r>
            <a:r>
              <a:rPr lang="fr-FR" sz="4800" dirty="0">
                <a:solidFill>
                  <a:srgbClr val="00B0F0"/>
                </a:solidFill>
                <a:latin typeface="Segoe UI Black" panose="020B0A02040204020203" pitchFamily="34" charset="0"/>
                <a:ea typeface="Segoe UI Black" panose="020B0A02040204020203" pitchFamily="34" charset="0"/>
              </a:rPr>
              <a:t>LLM</a:t>
            </a:r>
            <a:endParaRPr lang="fr-FR" sz="6600" dirty="0">
              <a:solidFill>
                <a:srgbClr val="00B0F0"/>
              </a:solidFill>
              <a:latin typeface="Segoe UI Black" panose="020B0A02040204020203" pitchFamily="34" charset="0"/>
              <a:ea typeface="Segoe UI Black" panose="020B0A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6037405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1EE4439-9561-207C-7C8C-812EADE91C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D0B5BAE3-F0D0-87D1-D615-23C4DD3335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b="1" dirty="0"/>
              <a:t>Approche LLM</a:t>
            </a:r>
            <a:endParaRPr lang="fr-FR" dirty="0"/>
          </a:p>
        </p:txBody>
      </p:sp>
      <p:sp>
        <p:nvSpPr>
          <p:cNvPr id="4" name="Sous-titre 2">
            <a:extLst>
              <a:ext uri="{FF2B5EF4-FFF2-40B4-BE49-F238E27FC236}">
                <a16:creationId xmlns:a16="http://schemas.microsoft.com/office/drawing/2014/main" id="{433223D3-CCC3-E07E-FEC8-7FDFF43C1C0E}"/>
              </a:ext>
            </a:extLst>
          </p:cNvPr>
          <p:cNvSpPr txBox="1">
            <a:spLocks/>
          </p:cNvSpPr>
          <p:nvPr/>
        </p:nvSpPr>
        <p:spPr>
          <a:xfrm>
            <a:off x="1665768" y="1794499"/>
            <a:ext cx="1959936" cy="502134"/>
          </a:xfrm>
          <a:prstGeom prst="rect">
            <a:avLst/>
          </a:prstGeom>
          <a:noFill/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sz="2800" b="1" dirty="0" err="1">
                <a:solidFill>
                  <a:sysClr val="windowText" lastClr="000000"/>
                </a:solidFill>
              </a:rPr>
              <a:t>X_train</a:t>
            </a:r>
            <a:endParaRPr lang="fr-FR" sz="2800" b="1" dirty="0">
              <a:solidFill>
                <a:sysClr val="windowText" lastClr="000000"/>
              </a:solidFill>
            </a:endParaRPr>
          </a:p>
          <a:p>
            <a:endParaRPr lang="fr-FR" sz="2800" b="1" dirty="0">
              <a:solidFill>
                <a:sysClr val="windowText" lastClr="000000"/>
              </a:solidFill>
            </a:endParaRPr>
          </a:p>
        </p:txBody>
      </p:sp>
      <p:sp>
        <p:nvSpPr>
          <p:cNvPr id="5" name="Flèche : droite 4">
            <a:extLst>
              <a:ext uri="{FF2B5EF4-FFF2-40B4-BE49-F238E27FC236}">
                <a16:creationId xmlns:a16="http://schemas.microsoft.com/office/drawing/2014/main" id="{5DDC3051-3358-9EFB-4150-393E0A26DFA7}"/>
              </a:ext>
            </a:extLst>
          </p:cNvPr>
          <p:cNvSpPr/>
          <p:nvPr/>
        </p:nvSpPr>
        <p:spPr>
          <a:xfrm rot="5400000">
            <a:off x="2315607" y="2345459"/>
            <a:ext cx="660258" cy="770232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7" name="Sous-titre 2">
            <a:extLst>
              <a:ext uri="{FF2B5EF4-FFF2-40B4-BE49-F238E27FC236}">
                <a16:creationId xmlns:a16="http://schemas.microsoft.com/office/drawing/2014/main" id="{86D32DCE-24AD-9413-21A8-B1BA6502B6EF}"/>
              </a:ext>
            </a:extLst>
          </p:cNvPr>
          <p:cNvSpPr txBox="1">
            <a:spLocks/>
          </p:cNvSpPr>
          <p:nvPr/>
        </p:nvSpPr>
        <p:spPr>
          <a:xfrm>
            <a:off x="1665768" y="3231405"/>
            <a:ext cx="1959936" cy="502134"/>
          </a:xfrm>
          <a:prstGeom prst="rect">
            <a:avLst/>
          </a:prstGeom>
          <a:noFill/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sz="2800" b="1" dirty="0" err="1">
                <a:solidFill>
                  <a:sysClr val="windowText" lastClr="000000"/>
                </a:solidFill>
              </a:rPr>
              <a:t>Faiss</a:t>
            </a:r>
            <a:endParaRPr lang="fr-FR" sz="2800" b="1" dirty="0">
              <a:solidFill>
                <a:sysClr val="windowText" lastClr="000000"/>
              </a:solidFill>
            </a:endParaRPr>
          </a:p>
        </p:txBody>
      </p:sp>
      <p:sp>
        <p:nvSpPr>
          <p:cNvPr id="8" name="Flèche : droite 7">
            <a:extLst>
              <a:ext uri="{FF2B5EF4-FFF2-40B4-BE49-F238E27FC236}">
                <a16:creationId xmlns:a16="http://schemas.microsoft.com/office/drawing/2014/main" id="{D918D3A1-D7D8-9052-B814-39299D0D5A9C}"/>
              </a:ext>
            </a:extLst>
          </p:cNvPr>
          <p:cNvSpPr/>
          <p:nvPr/>
        </p:nvSpPr>
        <p:spPr>
          <a:xfrm rot="5400000">
            <a:off x="2315606" y="3782365"/>
            <a:ext cx="660259" cy="770232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9" name="Sous-titre 2">
            <a:extLst>
              <a:ext uri="{FF2B5EF4-FFF2-40B4-BE49-F238E27FC236}">
                <a16:creationId xmlns:a16="http://schemas.microsoft.com/office/drawing/2014/main" id="{ACF8244E-FDBF-415C-FA50-7B1F216824F0}"/>
              </a:ext>
            </a:extLst>
          </p:cNvPr>
          <p:cNvSpPr txBox="1">
            <a:spLocks/>
          </p:cNvSpPr>
          <p:nvPr/>
        </p:nvSpPr>
        <p:spPr>
          <a:xfrm>
            <a:off x="1665767" y="4630211"/>
            <a:ext cx="1959936" cy="502134"/>
          </a:xfrm>
          <a:prstGeom prst="rect">
            <a:avLst/>
          </a:prstGeom>
          <a:noFill/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sz="2800" b="1" dirty="0">
                <a:solidFill>
                  <a:sysClr val="windowText" lastClr="000000"/>
                </a:solidFill>
              </a:rPr>
              <a:t>prompt</a:t>
            </a:r>
          </a:p>
        </p:txBody>
      </p:sp>
      <p:sp>
        <p:nvSpPr>
          <p:cNvPr id="10" name="Sous-titre 2">
            <a:extLst>
              <a:ext uri="{FF2B5EF4-FFF2-40B4-BE49-F238E27FC236}">
                <a16:creationId xmlns:a16="http://schemas.microsoft.com/office/drawing/2014/main" id="{5055341C-544E-C42F-C9C3-0E8F759A282E}"/>
              </a:ext>
            </a:extLst>
          </p:cNvPr>
          <p:cNvSpPr txBox="1">
            <a:spLocks/>
          </p:cNvSpPr>
          <p:nvPr/>
        </p:nvSpPr>
        <p:spPr>
          <a:xfrm>
            <a:off x="4192770" y="4630211"/>
            <a:ext cx="7747593" cy="502134"/>
          </a:xfrm>
          <a:prstGeom prst="rect">
            <a:avLst/>
          </a:prstGeom>
          <a:noFill/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fr-FR" sz="2800" b="1" dirty="0">
                <a:solidFill>
                  <a:schemeClr val="accent4">
                    <a:lumMod val="75000"/>
                  </a:schemeClr>
                </a:solidFill>
              </a:rPr>
              <a:t>Classification par prompt avec exemples</a:t>
            </a:r>
          </a:p>
        </p:txBody>
      </p:sp>
      <p:sp>
        <p:nvSpPr>
          <p:cNvPr id="11" name="Sous-titre 2">
            <a:extLst>
              <a:ext uri="{FF2B5EF4-FFF2-40B4-BE49-F238E27FC236}">
                <a16:creationId xmlns:a16="http://schemas.microsoft.com/office/drawing/2014/main" id="{FB5F0CCD-F181-7852-444C-5A6B91A7D381}"/>
              </a:ext>
            </a:extLst>
          </p:cNvPr>
          <p:cNvSpPr txBox="1">
            <a:spLocks/>
          </p:cNvSpPr>
          <p:nvPr/>
        </p:nvSpPr>
        <p:spPr>
          <a:xfrm>
            <a:off x="4192770" y="3231405"/>
            <a:ext cx="7747593" cy="502134"/>
          </a:xfrm>
          <a:prstGeom prst="rect">
            <a:avLst/>
          </a:prstGeom>
          <a:noFill/>
        </p:spPr>
        <p:txBody>
          <a:bodyPr vert="horz" lIns="91440" tIns="45720" rIns="91440" bIns="45720" rtlCol="0">
            <a:normAutofit fontScale="70000" lnSpcReduction="20000"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fr-FR" sz="2800" b="1" dirty="0">
                <a:solidFill>
                  <a:schemeClr val="accent4">
                    <a:lumMod val="75000"/>
                  </a:schemeClr>
                </a:solidFill>
              </a:rPr>
              <a:t>Vectorise le jeu d’entrainement pour extraire des exemples pertinents</a:t>
            </a:r>
          </a:p>
        </p:txBody>
      </p:sp>
      <p:sp>
        <p:nvSpPr>
          <p:cNvPr id="12" name="Sous-titre 2">
            <a:extLst>
              <a:ext uri="{FF2B5EF4-FFF2-40B4-BE49-F238E27FC236}">
                <a16:creationId xmlns:a16="http://schemas.microsoft.com/office/drawing/2014/main" id="{2DF4AA5F-B1CB-5819-5E50-97D34C34E055}"/>
              </a:ext>
            </a:extLst>
          </p:cNvPr>
          <p:cNvSpPr txBox="1">
            <a:spLocks/>
          </p:cNvSpPr>
          <p:nvPr/>
        </p:nvSpPr>
        <p:spPr>
          <a:xfrm>
            <a:off x="4192770" y="1794499"/>
            <a:ext cx="7747593" cy="502134"/>
          </a:xfrm>
          <a:prstGeom prst="rect">
            <a:avLst/>
          </a:prstGeom>
          <a:noFill/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fr-FR" sz="2800" b="1" dirty="0">
                <a:solidFill>
                  <a:schemeClr val="accent4">
                    <a:lumMod val="75000"/>
                  </a:schemeClr>
                </a:solidFill>
              </a:rPr>
              <a:t>Jeu d’entrainement filtré (~80,000 lignes)</a:t>
            </a:r>
          </a:p>
        </p:txBody>
      </p:sp>
      <p:sp>
        <p:nvSpPr>
          <p:cNvPr id="3" name="Flèche : droite 2">
            <a:extLst>
              <a:ext uri="{FF2B5EF4-FFF2-40B4-BE49-F238E27FC236}">
                <a16:creationId xmlns:a16="http://schemas.microsoft.com/office/drawing/2014/main" id="{88AAC20A-EF2D-5E76-23C8-57BC2C8FB12A}"/>
              </a:ext>
            </a:extLst>
          </p:cNvPr>
          <p:cNvSpPr/>
          <p:nvPr/>
        </p:nvSpPr>
        <p:spPr>
          <a:xfrm rot="5400000">
            <a:off x="2338825" y="5157950"/>
            <a:ext cx="613820" cy="770232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6" name="Sous-titre 2">
            <a:extLst>
              <a:ext uri="{FF2B5EF4-FFF2-40B4-BE49-F238E27FC236}">
                <a16:creationId xmlns:a16="http://schemas.microsoft.com/office/drawing/2014/main" id="{110581D0-ED33-6AD0-D853-7B6A3FBA41CE}"/>
              </a:ext>
            </a:extLst>
          </p:cNvPr>
          <p:cNvSpPr txBox="1">
            <a:spLocks/>
          </p:cNvSpPr>
          <p:nvPr/>
        </p:nvSpPr>
        <p:spPr>
          <a:xfrm>
            <a:off x="1665766" y="5946362"/>
            <a:ext cx="1959936" cy="502134"/>
          </a:xfrm>
          <a:prstGeom prst="rect">
            <a:avLst/>
          </a:prstGeom>
          <a:noFill/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sz="2800" b="1" dirty="0">
                <a:solidFill>
                  <a:sysClr val="windowText" lastClr="000000"/>
                </a:solidFill>
              </a:rPr>
              <a:t>TAG</a:t>
            </a:r>
          </a:p>
        </p:txBody>
      </p:sp>
      <p:sp>
        <p:nvSpPr>
          <p:cNvPr id="13" name="Sous-titre 2">
            <a:extLst>
              <a:ext uri="{FF2B5EF4-FFF2-40B4-BE49-F238E27FC236}">
                <a16:creationId xmlns:a16="http://schemas.microsoft.com/office/drawing/2014/main" id="{5D5EE8A6-FA82-79ED-2FCC-227B7701BF90}"/>
              </a:ext>
            </a:extLst>
          </p:cNvPr>
          <p:cNvSpPr txBox="1">
            <a:spLocks/>
          </p:cNvSpPr>
          <p:nvPr/>
        </p:nvSpPr>
        <p:spPr>
          <a:xfrm>
            <a:off x="4192769" y="5946362"/>
            <a:ext cx="6794205" cy="502134"/>
          </a:xfrm>
          <a:prstGeom prst="rect">
            <a:avLst/>
          </a:prstGeom>
          <a:noFill/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fr-FR" sz="2800" b="1" dirty="0">
                <a:solidFill>
                  <a:schemeClr val="accent4">
                    <a:lumMod val="75000"/>
                  </a:schemeClr>
                </a:solidFill>
              </a:rPr>
              <a:t>Catégorie</a:t>
            </a:r>
          </a:p>
        </p:txBody>
      </p:sp>
    </p:spTree>
    <p:extLst>
      <p:ext uri="{BB962C8B-B14F-4D97-AF65-F5344CB8AC3E}">
        <p14:creationId xmlns:p14="http://schemas.microsoft.com/office/powerpoint/2010/main" val="331041890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Image 11">
            <a:extLst>
              <a:ext uri="{FF2B5EF4-FFF2-40B4-BE49-F238E27FC236}">
                <a16:creationId xmlns:a16="http://schemas.microsoft.com/office/drawing/2014/main" id="{5C78883A-0889-A0F2-8521-815369DD805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0128" y="3116463"/>
            <a:ext cx="11245845" cy="2608079"/>
          </a:xfrm>
          <a:prstGeom prst="rect">
            <a:avLst/>
          </a:prstGeom>
        </p:spPr>
      </p:pic>
      <p:sp>
        <p:nvSpPr>
          <p:cNvPr id="6" name="Titre 1">
            <a:extLst>
              <a:ext uri="{FF2B5EF4-FFF2-40B4-BE49-F238E27FC236}">
                <a16:creationId xmlns:a16="http://schemas.microsoft.com/office/drawing/2014/main" id="{C6005B1D-AC92-C379-9562-8AB029E26A1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fr-FR" dirty="0"/>
              <a:t>Approche LLM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33EF4E60-A0CC-4334-F459-3A1D25315BE7}"/>
              </a:ext>
            </a:extLst>
          </p:cNvPr>
          <p:cNvSpPr/>
          <p:nvPr/>
        </p:nvSpPr>
        <p:spPr>
          <a:xfrm>
            <a:off x="534829" y="5389152"/>
            <a:ext cx="11221144" cy="330200"/>
          </a:xfrm>
          <a:prstGeom prst="rect">
            <a:avLst/>
          </a:prstGeom>
          <a:noFill/>
          <a:ln w="508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5E816E5B-F882-6DAD-DA0B-F378BB66B04D}"/>
              </a:ext>
            </a:extLst>
          </p:cNvPr>
          <p:cNvSpPr txBox="1"/>
          <p:nvPr/>
        </p:nvSpPr>
        <p:spPr>
          <a:xfrm rot="19347141">
            <a:off x="8227337" y="2208148"/>
            <a:ext cx="206537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Métrique principale</a:t>
            </a:r>
          </a:p>
        </p:txBody>
      </p:sp>
      <p:sp>
        <p:nvSpPr>
          <p:cNvPr id="7" name="ZoneTexte 6">
            <a:extLst>
              <a:ext uri="{FF2B5EF4-FFF2-40B4-BE49-F238E27FC236}">
                <a16:creationId xmlns:a16="http://schemas.microsoft.com/office/drawing/2014/main" id="{D69927C8-0A6B-EE47-4273-BA21A27DFBBC}"/>
              </a:ext>
            </a:extLst>
          </p:cNvPr>
          <p:cNvSpPr txBox="1"/>
          <p:nvPr/>
        </p:nvSpPr>
        <p:spPr>
          <a:xfrm rot="19347141">
            <a:off x="7036110" y="2134042"/>
            <a:ext cx="230857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Métrique secondaire</a:t>
            </a:r>
          </a:p>
        </p:txBody>
      </p:sp>
    </p:spTree>
    <p:extLst>
      <p:ext uri="{BB962C8B-B14F-4D97-AF65-F5344CB8AC3E}">
        <p14:creationId xmlns:p14="http://schemas.microsoft.com/office/powerpoint/2010/main" val="195147428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371399C-C410-2002-6A3F-F4BE9AFA46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Image 8">
            <a:extLst>
              <a:ext uri="{FF2B5EF4-FFF2-40B4-BE49-F238E27FC236}">
                <a16:creationId xmlns:a16="http://schemas.microsoft.com/office/drawing/2014/main" id="{ABC83A6F-F5AD-50A9-7C07-FEDF7E81C66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1524" y="2118437"/>
            <a:ext cx="10666019" cy="3695682"/>
          </a:xfrm>
          <a:prstGeom prst="rect">
            <a:avLst/>
          </a:prstGeom>
        </p:spPr>
      </p:pic>
      <p:sp>
        <p:nvSpPr>
          <p:cNvPr id="2" name="Titre 1">
            <a:extLst>
              <a:ext uri="{FF2B5EF4-FFF2-40B4-BE49-F238E27FC236}">
                <a16:creationId xmlns:a16="http://schemas.microsoft.com/office/drawing/2014/main" id="{9087E6C8-007C-76AE-D004-5A876F7C18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b="1" dirty="0"/>
              <a:t>Analyse par catégorie</a:t>
            </a:r>
            <a:endParaRPr lang="fr-FR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F13D2887-F45F-FA98-46FC-AE8B0336E24F}"/>
              </a:ext>
            </a:extLst>
          </p:cNvPr>
          <p:cNvSpPr/>
          <p:nvPr/>
        </p:nvSpPr>
        <p:spPr>
          <a:xfrm>
            <a:off x="5220586" y="3904370"/>
            <a:ext cx="6316957" cy="272679"/>
          </a:xfrm>
          <a:prstGeom prst="rect">
            <a:avLst/>
          </a:prstGeom>
          <a:noFill/>
          <a:ln w="508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1435400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0336A1-9489-38FC-CFC0-F1470FFA69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54" name="Picture 6" descr="Machine Learning Certified Professional (MLCP)">
            <a:extLst>
              <a:ext uri="{FF2B5EF4-FFF2-40B4-BE49-F238E27FC236}">
                <a16:creationId xmlns:a16="http://schemas.microsoft.com/office/drawing/2014/main" id="{E0159E87-2505-5F28-A71E-3E9EAA5E7005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7312" r="19121"/>
          <a:stretch>
            <a:fillRect/>
          </a:stretch>
        </p:blipFill>
        <p:spPr bwMode="auto">
          <a:xfrm>
            <a:off x="7804298" y="0"/>
            <a:ext cx="4359349" cy="685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itre 1">
            <a:extLst>
              <a:ext uri="{FF2B5EF4-FFF2-40B4-BE49-F238E27FC236}">
                <a16:creationId xmlns:a16="http://schemas.microsoft.com/office/drawing/2014/main" id="{E2ABA96C-0BF8-98F9-09DF-02D9BC1A25C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365125"/>
            <a:ext cx="6966099" cy="3824103"/>
          </a:xfrm>
        </p:spPr>
        <p:txBody>
          <a:bodyPr>
            <a:normAutofit/>
          </a:bodyPr>
          <a:lstStyle/>
          <a:p>
            <a:r>
              <a:rPr lang="fr-FR" sz="6600" dirty="0">
                <a:solidFill>
                  <a:schemeClr val="accent1">
                    <a:lumMod val="75000"/>
                  </a:schemeClr>
                </a:solidFill>
                <a:latin typeface="Segoe UI Black" panose="020B0A02040204020203" pitchFamily="34" charset="0"/>
                <a:ea typeface="Segoe UI Black" panose="020B0A02040204020203" pitchFamily="34" charset="0"/>
              </a:rPr>
              <a:t>Implémentation</a:t>
            </a:r>
            <a:br>
              <a:rPr lang="fr-FR" sz="6600" dirty="0">
                <a:solidFill>
                  <a:schemeClr val="accent1">
                    <a:lumMod val="75000"/>
                  </a:schemeClr>
                </a:solidFill>
                <a:latin typeface="Segoe UI Black" panose="020B0A02040204020203" pitchFamily="34" charset="0"/>
                <a:ea typeface="Segoe UI Black" panose="020B0A02040204020203" pitchFamily="34" charset="0"/>
              </a:rPr>
            </a:br>
            <a:r>
              <a:rPr lang="fr-FR" sz="4800" dirty="0">
                <a:solidFill>
                  <a:schemeClr val="accent1">
                    <a:lumMod val="75000"/>
                  </a:schemeClr>
                </a:solidFill>
                <a:latin typeface="Segoe UI Black" panose="020B0A02040204020203" pitchFamily="34" charset="0"/>
                <a:ea typeface="Segoe UI Black" panose="020B0A02040204020203" pitchFamily="34" charset="0"/>
              </a:rPr>
              <a:t>L’approche </a:t>
            </a:r>
            <a:r>
              <a:rPr lang="fr-FR" sz="4800" dirty="0">
                <a:solidFill>
                  <a:srgbClr val="00B0F0"/>
                </a:solidFill>
                <a:latin typeface="Segoe UI Black" panose="020B0A02040204020203" pitchFamily="34" charset="0"/>
                <a:ea typeface="Segoe UI Black" panose="020B0A02040204020203" pitchFamily="34" charset="0"/>
              </a:rPr>
              <a:t>ML</a:t>
            </a:r>
            <a:endParaRPr lang="fr-FR" sz="6600" dirty="0">
              <a:solidFill>
                <a:srgbClr val="00B0F0"/>
              </a:solidFill>
              <a:latin typeface="Segoe UI Black" panose="020B0A02040204020203" pitchFamily="34" charset="0"/>
              <a:ea typeface="Segoe UI Black" panose="020B0A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96941923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B15A7270-7718-F18D-E911-C4ABC1A6A3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b="1" dirty="0"/>
              <a:t>Approche ML</a:t>
            </a:r>
            <a:endParaRPr lang="fr-FR" dirty="0"/>
          </a:p>
        </p:txBody>
      </p:sp>
      <p:sp>
        <p:nvSpPr>
          <p:cNvPr id="4" name="Sous-titre 2">
            <a:extLst>
              <a:ext uri="{FF2B5EF4-FFF2-40B4-BE49-F238E27FC236}">
                <a16:creationId xmlns:a16="http://schemas.microsoft.com/office/drawing/2014/main" id="{5B84969B-8B0F-DC1D-C65B-75CCE3E9DDB5}"/>
              </a:ext>
            </a:extLst>
          </p:cNvPr>
          <p:cNvSpPr txBox="1">
            <a:spLocks/>
          </p:cNvSpPr>
          <p:nvPr/>
        </p:nvSpPr>
        <p:spPr>
          <a:xfrm>
            <a:off x="1665768" y="1794499"/>
            <a:ext cx="1959936" cy="502134"/>
          </a:xfrm>
          <a:prstGeom prst="rect">
            <a:avLst/>
          </a:prstGeom>
          <a:noFill/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sz="2800" b="1" dirty="0" err="1">
                <a:solidFill>
                  <a:sysClr val="windowText" lastClr="000000"/>
                </a:solidFill>
              </a:rPr>
              <a:t>X_train</a:t>
            </a:r>
            <a:endParaRPr lang="fr-FR" sz="2800" b="1" dirty="0">
              <a:solidFill>
                <a:sysClr val="windowText" lastClr="000000"/>
              </a:solidFill>
            </a:endParaRPr>
          </a:p>
          <a:p>
            <a:endParaRPr lang="fr-FR" sz="2800" b="1" dirty="0">
              <a:solidFill>
                <a:sysClr val="windowText" lastClr="000000"/>
              </a:solidFill>
            </a:endParaRPr>
          </a:p>
        </p:txBody>
      </p:sp>
      <p:sp>
        <p:nvSpPr>
          <p:cNvPr id="5" name="Flèche : droite 4">
            <a:extLst>
              <a:ext uri="{FF2B5EF4-FFF2-40B4-BE49-F238E27FC236}">
                <a16:creationId xmlns:a16="http://schemas.microsoft.com/office/drawing/2014/main" id="{7ACFE93B-6DAF-A440-8F62-99F8C5A3BFE2}"/>
              </a:ext>
            </a:extLst>
          </p:cNvPr>
          <p:cNvSpPr/>
          <p:nvPr/>
        </p:nvSpPr>
        <p:spPr>
          <a:xfrm rot="5400000">
            <a:off x="2338825" y="2314813"/>
            <a:ext cx="613821" cy="770232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7" name="Sous-titre 2">
            <a:extLst>
              <a:ext uri="{FF2B5EF4-FFF2-40B4-BE49-F238E27FC236}">
                <a16:creationId xmlns:a16="http://schemas.microsoft.com/office/drawing/2014/main" id="{780A6DB8-BFEF-1877-827D-A72706BB9E18}"/>
              </a:ext>
            </a:extLst>
          </p:cNvPr>
          <p:cNvSpPr txBox="1">
            <a:spLocks/>
          </p:cNvSpPr>
          <p:nvPr/>
        </p:nvSpPr>
        <p:spPr>
          <a:xfrm>
            <a:off x="1665768" y="3103224"/>
            <a:ext cx="1959936" cy="502134"/>
          </a:xfrm>
          <a:prstGeom prst="rect">
            <a:avLst/>
          </a:prstGeom>
          <a:noFill/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sz="2800" b="1" dirty="0">
                <a:solidFill>
                  <a:sysClr val="windowText" lastClr="000000"/>
                </a:solidFill>
              </a:rPr>
              <a:t>TF-IDF</a:t>
            </a:r>
          </a:p>
        </p:txBody>
      </p:sp>
      <p:sp>
        <p:nvSpPr>
          <p:cNvPr id="8" name="Flèche : droite 7">
            <a:extLst>
              <a:ext uri="{FF2B5EF4-FFF2-40B4-BE49-F238E27FC236}">
                <a16:creationId xmlns:a16="http://schemas.microsoft.com/office/drawing/2014/main" id="{A5B7F632-9D76-4616-6A1A-E838712F86BC}"/>
              </a:ext>
            </a:extLst>
          </p:cNvPr>
          <p:cNvSpPr/>
          <p:nvPr/>
        </p:nvSpPr>
        <p:spPr>
          <a:xfrm rot="5400000">
            <a:off x="2338825" y="3623538"/>
            <a:ext cx="613821" cy="770232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9" name="Sous-titre 2">
            <a:extLst>
              <a:ext uri="{FF2B5EF4-FFF2-40B4-BE49-F238E27FC236}">
                <a16:creationId xmlns:a16="http://schemas.microsoft.com/office/drawing/2014/main" id="{6767FB5C-5BB8-3FAE-4697-04C10860C416}"/>
              </a:ext>
            </a:extLst>
          </p:cNvPr>
          <p:cNvSpPr txBox="1">
            <a:spLocks/>
          </p:cNvSpPr>
          <p:nvPr/>
        </p:nvSpPr>
        <p:spPr>
          <a:xfrm>
            <a:off x="1665767" y="4411949"/>
            <a:ext cx="1959936" cy="502134"/>
          </a:xfrm>
          <a:prstGeom prst="rect">
            <a:avLst/>
          </a:prstGeom>
          <a:noFill/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sz="2800" b="1" dirty="0">
                <a:solidFill>
                  <a:sysClr val="windowText" lastClr="000000"/>
                </a:solidFill>
              </a:rPr>
              <a:t>classifier</a:t>
            </a:r>
          </a:p>
        </p:txBody>
      </p:sp>
      <p:sp>
        <p:nvSpPr>
          <p:cNvPr id="10" name="Sous-titre 2">
            <a:extLst>
              <a:ext uri="{FF2B5EF4-FFF2-40B4-BE49-F238E27FC236}">
                <a16:creationId xmlns:a16="http://schemas.microsoft.com/office/drawing/2014/main" id="{96F891FE-397A-E407-DA4D-021BD667BF6C}"/>
              </a:ext>
            </a:extLst>
          </p:cNvPr>
          <p:cNvSpPr txBox="1">
            <a:spLocks/>
          </p:cNvSpPr>
          <p:nvPr/>
        </p:nvSpPr>
        <p:spPr>
          <a:xfrm>
            <a:off x="4192770" y="4458022"/>
            <a:ext cx="6794205" cy="502134"/>
          </a:xfrm>
          <a:prstGeom prst="rect">
            <a:avLst/>
          </a:prstGeom>
          <a:noFill/>
        </p:spPr>
        <p:txBody>
          <a:bodyPr vert="horz" lIns="91440" tIns="45720" rIns="91440" bIns="45720" rtlCol="0">
            <a:normAutofit fontScale="92500"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fr-FR" sz="2800" b="1" dirty="0" err="1">
                <a:solidFill>
                  <a:schemeClr val="accent4">
                    <a:lumMod val="75000"/>
                  </a:schemeClr>
                </a:solidFill>
              </a:rPr>
              <a:t>Logistic</a:t>
            </a:r>
            <a:r>
              <a:rPr lang="fr-FR" sz="2800" b="1" dirty="0">
                <a:solidFill>
                  <a:schemeClr val="accent4">
                    <a:lumMod val="75000"/>
                  </a:schemeClr>
                </a:solidFill>
              </a:rPr>
              <a:t> </a:t>
            </a:r>
            <a:r>
              <a:rPr lang="fr-FR" sz="2800" b="1" dirty="0" err="1">
                <a:solidFill>
                  <a:schemeClr val="accent4">
                    <a:lumMod val="75000"/>
                  </a:schemeClr>
                </a:solidFill>
              </a:rPr>
              <a:t>Regression</a:t>
            </a:r>
            <a:r>
              <a:rPr lang="fr-FR" sz="2800" b="1" dirty="0">
                <a:solidFill>
                  <a:schemeClr val="accent4">
                    <a:lumMod val="75000"/>
                  </a:schemeClr>
                </a:solidFill>
              </a:rPr>
              <a:t>, </a:t>
            </a:r>
            <a:r>
              <a:rPr lang="fr-FR" sz="2800" b="1" dirty="0" err="1">
                <a:solidFill>
                  <a:schemeClr val="accent4">
                    <a:lumMod val="75000"/>
                  </a:schemeClr>
                </a:solidFill>
              </a:rPr>
              <a:t>Linear</a:t>
            </a:r>
            <a:r>
              <a:rPr lang="fr-FR" sz="2800" b="1" dirty="0">
                <a:solidFill>
                  <a:schemeClr val="accent4">
                    <a:lumMod val="75000"/>
                  </a:schemeClr>
                </a:solidFill>
              </a:rPr>
              <a:t> SVC, </a:t>
            </a:r>
            <a:r>
              <a:rPr lang="fr-FR" sz="2800" b="1" dirty="0" err="1">
                <a:solidFill>
                  <a:schemeClr val="accent4">
                    <a:lumMod val="75000"/>
                  </a:schemeClr>
                </a:solidFill>
              </a:rPr>
              <a:t>Complement</a:t>
            </a:r>
            <a:r>
              <a:rPr lang="fr-FR" sz="2800" b="1" dirty="0">
                <a:solidFill>
                  <a:schemeClr val="accent4">
                    <a:lumMod val="75000"/>
                  </a:schemeClr>
                </a:solidFill>
              </a:rPr>
              <a:t> NB</a:t>
            </a:r>
          </a:p>
        </p:txBody>
      </p:sp>
      <p:sp>
        <p:nvSpPr>
          <p:cNvPr id="11" name="Sous-titre 2">
            <a:extLst>
              <a:ext uri="{FF2B5EF4-FFF2-40B4-BE49-F238E27FC236}">
                <a16:creationId xmlns:a16="http://schemas.microsoft.com/office/drawing/2014/main" id="{443BFE38-1CCD-1F9C-EBEC-17C8738C7DA2}"/>
              </a:ext>
            </a:extLst>
          </p:cNvPr>
          <p:cNvSpPr txBox="1">
            <a:spLocks/>
          </p:cNvSpPr>
          <p:nvPr/>
        </p:nvSpPr>
        <p:spPr>
          <a:xfrm>
            <a:off x="4192770" y="3110310"/>
            <a:ext cx="6794205" cy="502134"/>
          </a:xfrm>
          <a:prstGeom prst="rect">
            <a:avLst/>
          </a:prstGeom>
          <a:noFill/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fr-FR" sz="2800" b="1" dirty="0">
                <a:solidFill>
                  <a:schemeClr val="accent4">
                    <a:lumMod val="75000"/>
                  </a:schemeClr>
                </a:solidFill>
              </a:rPr>
              <a:t>Vectorise les variables d’entrées</a:t>
            </a:r>
          </a:p>
        </p:txBody>
      </p:sp>
      <p:sp>
        <p:nvSpPr>
          <p:cNvPr id="12" name="Sous-titre 2">
            <a:extLst>
              <a:ext uri="{FF2B5EF4-FFF2-40B4-BE49-F238E27FC236}">
                <a16:creationId xmlns:a16="http://schemas.microsoft.com/office/drawing/2014/main" id="{BE15534B-4F9E-9B48-9466-3CFF6DE00E03}"/>
              </a:ext>
            </a:extLst>
          </p:cNvPr>
          <p:cNvSpPr txBox="1">
            <a:spLocks/>
          </p:cNvSpPr>
          <p:nvPr/>
        </p:nvSpPr>
        <p:spPr>
          <a:xfrm>
            <a:off x="4192770" y="1794499"/>
            <a:ext cx="6794205" cy="502134"/>
          </a:xfrm>
          <a:prstGeom prst="rect">
            <a:avLst/>
          </a:prstGeom>
          <a:noFill/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fr-FR" sz="2800" b="1" dirty="0">
                <a:solidFill>
                  <a:schemeClr val="accent4">
                    <a:lumMod val="75000"/>
                  </a:schemeClr>
                </a:solidFill>
              </a:rPr>
              <a:t>Jeu d’entrainement filtré (~80,000 lignes)</a:t>
            </a:r>
          </a:p>
        </p:txBody>
      </p:sp>
      <p:sp>
        <p:nvSpPr>
          <p:cNvPr id="3" name="Flèche : droite 2">
            <a:extLst>
              <a:ext uri="{FF2B5EF4-FFF2-40B4-BE49-F238E27FC236}">
                <a16:creationId xmlns:a16="http://schemas.microsoft.com/office/drawing/2014/main" id="{9BD66BE9-067A-244F-931A-E8A4301F3EEE}"/>
              </a:ext>
            </a:extLst>
          </p:cNvPr>
          <p:cNvSpPr/>
          <p:nvPr/>
        </p:nvSpPr>
        <p:spPr>
          <a:xfrm rot="5400000">
            <a:off x="2338825" y="4932262"/>
            <a:ext cx="613820" cy="770232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6" name="Sous-titre 2">
            <a:extLst>
              <a:ext uri="{FF2B5EF4-FFF2-40B4-BE49-F238E27FC236}">
                <a16:creationId xmlns:a16="http://schemas.microsoft.com/office/drawing/2014/main" id="{F352896E-03CF-ADDA-6247-FA00FC2AE61F}"/>
              </a:ext>
            </a:extLst>
          </p:cNvPr>
          <p:cNvSpPr txBox="1">
            <a:spLocks/>
          </p:cNvSpPr>
          <p:nvPr/>
        </p:nvSpPr>
        <p:spPr>
          <a:xfrm>
            <a:off x="1665766" y="5720674"/>
            <a:ext cx="1959936" cy="502134"/>
          </a:xfrm>
          <a:prstGeom prst="rect">
            <a:avLst/>
          </a:prstGeom>
          <a:noFill/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sz="2800" b="1" dirty="0">
                <a:solidFill>
                  <a:sysClr val="windowText" lastClr="000000"/>
                </a:solidFill>
              </a:rPr>
              <a:t>TAG</a:t>
            </a:r>
          </a:p>
        </p:txBody>
      </p:sp>
      <p:sp>
        <p:nvSpPr>
          <p:cNvPr id="13" name="Sous-titre 2">
            <a:extLst>
              <a:ext uri="{FF2B5EF4-FFF2-40B4-BE49-F238E27FC236}">
                <a16:creationId xmlns:a16="http://schemas.microsoft.com/office/drawing/2014/main" id="{FB3ED2EA-E36E-0ACC-2C88-0D7DD5F6887C}"/>
              </a:ext>
            </a:extLst>
          </p:cNvPr>
          <p:cNvSpPr txBox="1">
            <a:spLocks/>
          </p:cNvSpPr>
          <p:nvPr/>
        </p:nvSpPr>
        <p:spPr>
          <a:xfrm>
            <a:off x="4192769" y="5720674"/>
            <a:ext cx="6794205" cy="502134"/>
          </a:xfrm>
          <a:prstGeom prst="rect">
            <a:avLst/>
          </a:prstGeom>
          <a:noFill/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fr-FR" sz="2800" b="1" dirty="0">
                <a:solidFill>
                  <a:schemeClr val="accent4">
                    <a:lumMod val="75000"/>
                  </a:schemeClr>
                </a:solidFill>
              </a:rPr>
              <a:t>Catégorie</a:t>
            </a:r>
          </a:p>
        </p:txBody>
      </p:sp>
    </p:spTree>
    <p:extLst>
      <p:ext uri="{BB962C8B-B14F-4D97-AF65-F5344CB8AC3E}">
        <p14:creationId xmlns:p14="http://schemas.microsoft.com/office/powerpoint/2010/main" val="344052015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D033E11-437C-FA87-91A8-4949ACBB84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age 3">
            <a:extLst>
              <a:ext uri="{FF2B5EF4-FFF2-40B4-BE49-F238E27FC236}">
                <a16:creationId xmlns:a16="http://schemas.microsoft.com/office/drawing/2014/main" id="{B205D234-2FD5-709D-D155-BAD05717D5F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7700" y="3147559"/>
            <a:ext cx="11249990" cy="1549400"/>
          </a:xfrm>
          <a:prstGeom prst="rect">
            <a:avLst/>
          </a:prstGeom>
        </p:spPr>
      </p:pic>
      <p:sp>
        <p:nvSpPr>
          <p:cNvPr id="2" name="Titre 1">
            <a:extLst>
              <a:ext uri="{FF2B5EF4-FFF2-40B4-BE49-F238E27FC236}">
                <a16:creationId xmlns:a16="http://schemas.microsoft.com/office/drawing/2014/main" id="{39FE63B3-5258-5E2E-47E0-CF0EE894FB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b="1" dirty="0"/>
              <a:t>Approche ML</a:t>
            </a:r>
            <a:endParaRPr lang="fr-FR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075907A0-B71C-D0F5-C777-95B6BE708204}"/>
              </a:ext>
            </a:extLst>
          </p:cNvPr>
          <p:cNvSpPr/>
          <p:nvPr/>
        </p:nvSpPr>
        <p:spPr>
          <a:xfrm>
            <a:off x="647700" y="3913250"/>
            <a:ext cx="11249990" cy="362469"/>
          </a:xfrm>
          <a:prstGeom prst="rect">
            <a:avLst/>
          </a:prstGeom>
          <a:noFill/>
          <a:ln w="508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ZoneTexte 7">
            <a:extLst>
              <a:ext uri="{FF2B5EF4-FFF2-40B4-BE49-F238E27FC236}">
                <a16:creationId xmlns:a16="http://schemas.microsoft.com/office/drawing/2014/main" id="{E009FBA4-2518-4BFA-0D60-A9F2B8511C4A}"/>
              </a:ext>
            </a:extLst>
          </p:cNvPr>
          <p:cNvSpPr txBox="1"/>
          <p:nvPr/>
        </p:nvSpPr>
        <p:spPr>
          <a:xfrm rot="19347141">
            <a:off x="8073655" y="2160350"/>
            <a:ext cx="206537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Métrique principale</a:t>
            </a:r>
          </a:p>
        </p:txBody>
      </p:sp>
      <p:sp>
        <p:nvSpPr>
          <p:cNvPr id="9" name="ZoneTexte 8">
            <a:extLst>
              <a:ext uri="{FF2B5EF4-FFF2-40B4-BE49-F238E27FC236}">
                <a16:creationId xmlns:a16="http://schemas.microsoft.com/office/drawing/2014/main" id="{5E4DFE25-8793-399E-E535-B3500591FBA7}"/>
              </a:ext>
            </a:extLst>
          </p:cNvPr>
          <p:cNvSpPr txBox="1"/>
          <p:nvPr/>
        </p:nvSpPr>
        <p:spPr>
          <a:xfrm rot="19347141">
            <a:off x="6882428" y="2086244"/>
            <a:ext cx="230857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/>
              <a:t>Métrique secondaire</a:t>
            </a:r>
          </a:p>
        </p:txBody>
      </p:sp>
    </p:spTree>
    <p:extLst>
      <p:ext uri="{BB962C8B-B14F-4D97-AF65-F5344CB8AC3E}">
        <p14:creationId xmlns:p14="http://schemas.microsoft.com/office/powerpoint/2010/main" val="407394018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F45EC679-B508-3908-12DF-04B9C693F13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b="1" dirty="0"/>
              <a:t>Analyse par catégorie</a:t>
            </a:r>
            <a:endParaRPr lang="fr-FR" dirty="0"/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ADB599FC-2416-F3A6-BD73-B56BD2785B0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7699" y="2262188"/>
            <a:ext cx="11091861" cy="3914775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94024574-4473-7143-151C-1212AC58F899}"/>
              </a:ext>
            </a:extLst>
          </p:cNvPr>
          <p:cNvSpPr/>
          <p:nvPr/>
        </p:nvSpPr>
        <p:spPr>
          <a:xfrm>
            <a:off x="5422603" y="4129199"/>
            <a:ext cx="6316957" cy="272679"/>
          </a:xfrm>
          <a:prstGeom prst="rect">
            <a:avLst/>
          </a:prstGeom>
          <a:noFill/>
          <a:ln w="508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62017411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Espace réservé du contenu 4">
            <a:extLst>
              <a:ext uri="{FF2B5EF4-FFF2-40B4-BE49-F238E27FC236}">
                <a16:creationId xmlns:a16="http://schemas.microsoft.com/office/drawing/2014/main" id="{3C04EB1A-7718-2E9C-C37B-EAF79173E90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72270" y="142686"/>
            <a:ext cx="7125665" cy="6572628"/>
          </a:xfrm>
        </p:spPr>
      </p:pic>
    </p:spTree>
    <p:extLst>
      <p:ext uri="{BB962C8B-B14F-4D97-AF65-F5344CB8AC3E}">
        <p14:creationId xmlns:p14="http://schemas.microsoft.com/office/powerpoint/2010/main" val="2187063204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A8FA21-DD71-A5C3-5979-28F14EE153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76" name="Picture 4" descr="LLM or large language model icon for AI website and apps 63132258 Vector  Art at Vecteezy">
            <a:extLst>
              <a:ext uri="{FF2B5EF4-FFF2-40B4-BE49-F238E27FC236}">
                <a16:creationId xmlns:a16="http://schemas.microsoft.com/office/drawing/2014/main" id="{C4BD43A4-3661-9DEA-CE2D-CF4E947B9AC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874149" y="1562985"/>
            <a:ext cx="5116830" cy="50398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itre 1">
            <a:extLst>
              <a:ext uri="{FF2B5EF4-FFF2-40B4-BE49-F238E27FC236}">
                <a16:creationId xmlns:a16="http://schemas.microsoft.com/office/drawing/2014/main" id="{0FBD24B8-8AAB-EF76-7B2E-97FC6C9E216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365125"/>
            <a:ext cx="6966099" cy="3824103"/>
          </a:xfrm>
        </p:spPr>
        <p:txBody>
          <a:bodyPr>
            <a:normAutofit/>
          </a:bodyPr>
          <a:lstStyle/>
          <a:p>
            <a:r>
              <a:rPr lang="fr-FR" sz="6600" dirty="0">
                <a:solidFill>
                  <a:schemeClr val="accent1">
                    <a:lumMod val="75000"/>
                  </a:schemeClr>
                </a:solidFill>
                <a:latin typeface="Segoe UI Black" panose="020B0A02040204020203" pitchFamily="34" charset="0"/>
                <a:ea typeface="Segoe UI Black" panose="020B0A02040204020203" pitchFamily="34" charset="0"/>
              </a:rPr>
              <a:t>Déploiement</a:t>
            </a:r>
            <a:br>
              <a:rPr lang="fr-FR" sz="6600" dirty="0">
                <a:solidFill>
                  <a:schemeClr val="accent1">
                    <a:lumMod val="75000"/>
                  </a:schemeClr>
                </a:solidFill>
                <a:latin typeface="Segoe UI Black" panose="020B0A02040204020203" pitchFamily="34" charset="0"/>
                <a:ea typeface="Segoe UI Black" panose="020B0A02040204020203" pitchFamily="34" charset="0"/>
              </a:rPr>
            </a:br>
            <a:r>
              <a:rPr lang="fr-FR" sz="4800" dirty="0">
                <a:solidFill>
                  <a:schemeClr val="accent1">
                    <a:lumMod val="75000"/>
                  </a:schemeClr>
                </a:solidFill>
                <a:latin typeface="Segoe UI Black" panose="020B0A02040204020203" pitchFamily="34" charset="0"/>
                <a:ea typeface="Segoe UI Black" panose="020B0A02040204020203" pitchFamily="34" charset="0"/>
              </a:rPr>
              <a:t>L’approche </a:t>
            </a:r>
            <a:r>
              <a:rPr lang="fr-FR" sz="4800" dirty="0">
                <a:solidFill>
                  <a:srgbClr val="00B0F0"/>
                </a:solidFill>
                <a:latin typeface="Segoe UI Black" panose="020B0A02040204020203" pitchFamily="34" charset="0"/>
                <a:ea typeface="Segoe UI Black" panose="020B0A02040204020203" pitchFamily="34" charset="0"/>
              </a:rPr>
              <a:t>LLM</a:t>
            </a:r>
            <a:endParaRPr lang="fr-FR" sz="6600" dirty="0">
              <a:solidFill>
                <a:srgbClr val="00B0F0"/>
              </a:solidFill>
              <a:latin typeface="Segoe UI Black" panose="020B0A02040204020203" pitchFamily="34" charset="0"/>
              <a:ea typeface="Segoe UI Black" panose="020B0A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88961897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681055-AA53-040C-D698-1E0A7861C9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2AA5DB45-4ECF-E0EB-9494-A7A82AC871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Déploiement LLM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EEA5419C-DE81-1F41-1C7D-5D66D1D6E2E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6692900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fr-FR" dirty="0"/>
              <a:t>Créer un </a:t>
            </a:r>
            <a:r>
              <a:rPr lang="fr-FR" b="1" dirty="0" err="1"/>
              <a:t>microservice</a:t>
            </a:r>
            <a:r>
              <a:rPr lang="fr-FR" b="1" dirty="0"/>
              <a:t> de classification dédiée</a:t>
            </a:r>
            <a:r>
              <a:rPr lang="fr-FR" dirty="0"/>
              <a:t>, qui expose une API HTTP</a:t>
            </a:r>
          </a:p>
          <a:p>
            <a:pPr marL="0" indent="0">
              <a:buNone/>
            </a:pPr>
            <a:endParaRPr lang="fr-FR" dirty="0"/>
          </a:p>
          <a:p>
            <a:pPr marL="0" indent="0">
              <a:buNone/>
            </a:pPr>
            <a:r>
              <a:rPr lang="fr-FR" dirty="0"/>
              <a:t>Ex: Fast API :</a:t>
            </a:r>
          </a:p>
          <a:p>
            <a:r>
              <a:rPr lang="fr-FR" dirty="0"/>
              <a:t>Interrogeable en ligne / en réseau local</a:t>
            </a:r>
          </a:p>
          <a:p>
            <a:r>
              <a:rPr lang="fr-FR" dirty="0"/>
              <a:t>Le backend </a:t>
            </a:r>
            <a:r>
              <a:rPr lang="fr-FR" dirty="0" err="1"/>
              <a:t>ZenAssist</a:t>
            </a:r>
            <a:r>
              <a:rPr lang="fr-FR" dirty="0"/>
              <a:t> n'a pas besoin de connaître </a:t>
            </a:r>
            <a:r>
              <a:rPr lang="fr-FR" dirty="0" err="1"/>
              <a:t>Faiss</a:t>
            </a:r>
            <a:r>
              <a:rPr lang="fr-FR" dirty="0"/>
              <a:t> ou Python</a:t>
            </a:r>
          </a:p>
          <a:p>
            <a:r>
              <a:rPr lang="fr-FR" dirty="0"/>
              <a:t>Déploiement simple avec </a:t>
            </a:r>
            <a:r>
              <a:rPr lang="fr-FR" dirty="0" err="1"/>
              <a:t>FastAPI</a:t>
            </a:r>
            <a:endParaRPr lang="fr-FR" dirty="0"/>
          </a:p>
        </p:txBody>
      </p:sp>
      <p:grpSp>
        <p:nvGrpSpPr>
          <p:cNvPr id="24" name="Groupe 23">
            <a:extLst>
              <a:ext uri="{FF2B5EF4-FFF2-40B4-BE49-F238E27FC236}">
                <a16:creationId xmlns:a16="http://schemas.microsoft.com/office/drawing/2014/main" id="{5FF1A808-4EAA-E9E2-9CBD-F5DC71A03821}"/>
              </a:ext>
            </a:extLst>
          </p:cNvPr>
          <p:cNvGrpSpPr/>
          <p:nvPr/>
        </p:nvGrpSpPr>
        <p:grpSpPr>
          <a:xfrm>
            <a:off x="7658100" y="825500"/>
            <a:ext cx="4165600" cy="5778500"/>
            <a:chOff x="7658100" y="825500"/>
            <a:chExt cx="4165600" cy="5778500"/>
          </a:xfrm>
        </p:grpSpPr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FB7AE7E8-8B25-78E4-2213-C295F0BEECCC}"/>
                </a:ext>
              </a:extLst>
            </p:cNvPr>
            <p:cNvSpPr/>
            <p:nvPr/>
          </p:nvSpPr>
          <p:spPr>
            <a:xfrm>
              <a:off x="7658100" y="825500"/>
              <a:ext cx="4165600" cy="5778500"/>
            </a:xfrm>
            <a:prstGeom prst="rect">
              <a:avLst/>
            </a:prstGeom>
            <a:gradFill>
              <a:gsLst>
                <a:gs pos="0">
                  <a:schemeClr val="accent5">
                    <a:satMod val="105000"/>
                    <a:tint val="67000"/>
                    <a:lumMod val="87000"/>
                    <a:lumOff val="13000"/>
                  </a:schemeClr>
                </a:gs>
                <a:gs pos="50000">
                  <a:schemeClr val="accent5">
                    <a:lumMod val="105000"/>
                    <a:satMod val="103000"/>
                    <a:tint val="73000"/>
                  </a:schemeClr>
                </a:gs>
                <a:gs pos="100000">
                  <a:schemeClr val="accent5">
                    <a:lumMod val="105000"/>
                    <a:satMod val="109000"/>
                    <a:tint val="81000"/>
                  </a:schemeClr>
                </a:gs>
              </a:gsLst>
            </a:gradFill>
            <a:ln w="66675" cap="rnd">
              <a:round/>
            </a:ln>
          </p:spPr>
          <p:style>
            <a:lnRef idx="1">
              <a:schemeClr val="accent5"/>
            </a:lnRef>
            <a:fillRef idx="2">
              <a:schemeClr val="accent5"/>
            </a:fillRef>
            <a:effectRef idx="1">
              <a:schemeClr val="accent5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4" name="Flèche : droite 3">
              <a:extLst>
                <a:ext uri="{FF2B5EF4-FFF2-40B4-BE49-F238E27FC236}">
                  <a16:creationId xmlns:a16="http://schemas.microsoft.com/office/drawing/2014/main" id="{5A1E77D2-2F28-AFE1-7C6F-5003F94EECBF}"/>
                </a:ext>
              </a:extLst>
            </p:cNvPr>
            <p:cNvSpPr/>
            <p:nvPr/>
          </p:nvSpPr>
          <p:spPr>
            <a:xfrm rot="5400000">
              <a:off x="9518784" y="1478650"/>
              <a:ext cx="498147" cy="482578"/>
            </a:xfrm>
            <a:prstGeom prst="rightArrow">
              <a:avLst>
                <a:gd name="adj1" fmla="val 46639"/>
                <a:gd name="adj2" fmla="val 39655"/>
              </a:avLst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5" name="ZoneTexte 4">
              <a:extLst>
                <a:ext uri="{FF2B5EF4-FFF2-40B4-BE49-F238E27FC236}">
                  <a16:creationId xmlns:a16="http://schemas.microsoft.com/office/drawing/2014/main" id="{7F1E9955-75E5-1A60-3F4D-8461BE11B87F}"/>
                </a:ext>
              </a:extLst>
            </p:cNvPr>
            <p:cNvSpPr txBox="1"/>
            <p:nvPr/>
          </p:nvSpPr>
          <p:spPr>
            <a:xfrm>
              <a:off x="9005857" y="1071540"/>
              <a:ext cx="152400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fr-FR" b="1" dirty="0" err="1"/>
                <a:t>ZenAssist</a:t>
              </a:r>
              <a:endParaRPr lang="fr-FR" b="1" dirty="0"/>
            </a:p>
          </p:txBody>
        </p:sp>
        <p:sp>
          <p:nvSpPr>
            <p:cNvPr id="8" name="ZoneTexte 7">
              <a:extLst>
                <a:ext uri="{FF2B5EF4-FFF2-40B4-BE49-F238E27FC236}">
                  <a16:creationId xmlns:a16="http://schemas.microsoft.com/office/drawing/2014/main" id="{6BF5516A-CEC6-974B-9D88-AFEB8017A71E}"/>
                </a:ext>
              </a:extLst>
            </p:cNvPr>
            <p:cNvSpPr txBox="1"/>
            <p:nvPr/>
          </p:nvSpPr>
          <p:spPr>
            <a:xfrm>
              <a:off x="9005857" y="1999005"/>
              <a:ext cx="1524000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fr-FR" b="1" dirty="0"/>
                <a:t>Backend </a:t>
              </a:r>
              <a:r>
                <a:rPr lang="fr-FR" b="1" dirty="0" err="1"/>
                <a:t>ZenAssist</a:t>
              </a:r>
              <a:endParaRPr lang="fr-FR" b="1" dirty="0"/>
            </a:p>
          </p:txBody>
        </p:sp>
        <p:sp>
          <p:nvSpPr>
            <p:cNvPr id="10" name="ZoneTexte 9">
              <a:extLst>
                <a:ext uri="{FF2B5EF4-FFF2-40B4-BE49-F238E27FC236}">
                  <a16:creationId xmlns:a16="http://schemas.microsoft.com/office/drawing/2014/main" id="{6D32687D-1B37-E4FB-A129-7B5D97CF022E}"/>
                </a:ext>
              </a:extLst>
            </p:cNvPr>
            <p:cNvSpPr txBox="1"/>
            <p:nvPr/>
          </p:nvSpPr>
          <p:spPr>
            <a:xfrm>
              <a:off x="8767729" y="3203469"/>
              <a:ext cx="2000257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fr-FR" b="1" dirty="0"/>
                <a:t>API Classification</a:t>
              </a:r>
            </a:p>
          </p:txBody>
        </p:sp>
        <p:sp>
          <p:nvSpPr>
            <p:cNvPr id="12" name="ZoneTexte 11">
              <a:extLst>
                <a:ext uri="{FF2B5EF4-FFF2-40B4-BE49-F238E27FC236}">
                  <a16:creationId xmlns:a16="http://schemas.microsoft.com/office/drawing/2014/main" id="{4A72799A-52B3-D3A3-E5D2-ABB3DC1C9CAF}"/>
                </a:ext>
              </a:extLst>
            </p:cNvPr>
            <p:cNvSpPr txBox="1"/>
            <p:nvPr/>
          </p:nvSpPr>
          <p:spPr>
            <a:xfrm>
              <a:off x="8504213" y="5985862"/>
              <a:ext cx="2527289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fr-FR" b="1" dirty="0"/>
                <a:t>Catégorie prédite</a:t>
              </a:r>
            </a:p>
          </p:txBody>
        </p:sp>
        <p:sp>
          <p:nvSpPr>
            <p:cNvPr id="17" name="ZoneTexte 16">
              <a:extLst>
                <a:ext uri="{FF2B5EF4-FFF2-40B4-BE49-F238E27FC236}">
                  <a16:creationId xmlns:a16="http://schemas.microsoft.com/office/drawing/2014/main" id="{80A46386-D383-976D-DABE-D3859C86B201}"/>
                </a:ext>
              </a:extLst>
            </p:cNvPr>
            <p:cNvSpPr txBox="1"/>
            <p:nvPr/>
          </p:nvSpPr>
          <p:spPr>
            <a:xfrm>
              <a:off x="8767729" y="4130934"/>
              <a:ext cx="2000257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fr-FR" b="1" dirty="0"/>
                <a:t>Prompt + RAG</a:t>
              </a:r>
            </a:p>
          </p:txBody>
        </p:sp>
        <p:sp>
          <p:nvSpPr>
            <p:cNvPr id="18" name="ZoneTexte 17">
              <a:extLst>
                <a:ext uri="{FF2B5EF4-FFF2-40B4-BE49-F238E27FC236}">
                  <a16:creationId xmlns:a16="http://schemas.microsoft.com/office/drawing/2014/main" id="{C006DDF3-FA2B-35E3-E389-7AEBC8440DAF}"/>
                </a:ext>
              </a:extLst>
            </p:cNvPr>
            <p:cNvSpPr txBox="1"/>
            <p:nvPr/>
          </p:nvSpPr>
          <p:spPr>
            <a:xfrm>
              <a:off x="8767729" y="5058399"/>
              <a:ext cx="2000257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fr-FR" b="1" dirty="0"/>
                <a:t>API Mistral</a:t>
              </a:r>
            </a:p>
          </p:txBody>
        </p:sp>
        <p:sp>
          <p:nvSpPr>
            <p:cNvPr id="19" name="Flèche : droite 18">
              <a:extLst>
                <a:ext uri="{FF2B5EF4-FFF2-40B4-BE49-F238E27FC236}">
                  <a16:creationId xmlns:a16="http://schemas.microsoft.com/office/drawing/2014/main" id="{616108B1-BFC6-03C0-56D1-FD130DF50B94}"/>
                </a:ext>
              </a:extLst>
            </p:cNvPr>
            <p:cNvSpPr/>
            <p:nvPr/>
          </p:nvSpPr>
          <p:spPr>
            <a:xfrm rot="5400000">
              <a:off x="9518784" y="2683114"/>
              <a:ext cx="498147" cy="482578"/>
            </a:xfrm>
            <a:prstGeom prst="rightArrow">
              <a:avLst>
                <a:gd name="adj1" fmla="val 46639"/>
                <a:gd name="adj2" fmla="val 39655"/>
              </a:avLst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20" name="Flèche : droite 19">
              <a:extLst>
                <a:ext uri="{FF2B5EF4-FFF2-40B4-BE49-F238E27FC236}">
                  <a16:creationId xmlns:a16="http://schemas.microsoft.com/office/drawing/2014/main" id="{7F87BDFB-75B2-E2F5-650B-368018CD90F9}"/>
                </a:ext>
              </a:extLst>
            </p:cNvPr>
            <p:cNvSpPr/>
            <p:nvPr/>
          </p:nvSpPr>
          <p:spPr>
            <a:xfrm rot="5400000">
              <a:off x="9518784" y="3610579"/>
              <a:ext cx="498147" cy="482578"/>
            </a:xfrm>
            <a:prstGeom prst="rightArrow">
              <a:avLst>
                <a:gd name="adj1" fmla="val 46639"/>
                <a:gd name="adj2" fmla="val 39655"/>
              </a:avLst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21" name="Flèche : droite 20">
              <a:extLst>
                <a:ext uri="{FF2B5EF4-FFF2-40B4-BE49-F238E27FC236}">
                  <a16:creationId xmlns:a16="http://schemas.microsoft.com/office/drawing/2014/main" id="{8FF6D856-C0D7-AD22-CF7C-2B716EB072B0}"/>
                </a:ext>
              </a:extLst>
            </p:cNvPr>
            <p:cNvSpPr/>
            <p:nvPr/>
          </p:nvSpPr>
          <p:spPr>
            <a:xfrm rot="5400000">
              <a:off x="9518784" y="4538044"/>
              <a:ext cx="498147" cy="482578"/>
            </a:xfrm>
            <a:prstGeom prst="rightArrow">
              <a:avLst>
                <a:gd name="adj1" fmla="val 46639"/>
                <a:gd name="adj2" fmla="val 39655"/>
              </a:avLst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22" name="Flèche : droite 21">
              <a:extLst>
                <a:ext uri="{FF2B5EF4-FFF2-40B4-BE49-F238E27FC236}">
                  <a16:creationId xmlns:a16="http://schemas.microsoft.com/office/drawing/2014/main" id="{CF394221-B52D-13DD-6905-686A868DF098}"/>
                </a:ext>
              </a:extLst>
            </p:cNvPr>
            <p:cNvSpPr/>
            <p:nvPr/>
          </p:nvSpPr>
          <p:spPr>
            <a:xfrm rot="5400000">
              <a:off x="9518784" y="5465509"/>
              <a:ext cx="498147" cy="482578"/>
            </a:xfrm>
            <a:prstGeom prst="rightArrow">
              <a:avLst>
                <a:gd name="adj1" fmla="val 46639"/>
                <a:gd name="adj2" fmla="val 39655"/>
              </a:avLst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pic>
          <p:nvPicPr>
            <p:cNvPr id="23" name="Picture 4" descr="LLM or large language model icon for AI website and apps 63132258 Vector  Art at Vecteezy">
              <a:extLst>
                <a:ext uri="{FF2B5EF4-FFF2-40B4-BE49-F238E27FC236}">
                  <a16:creationId xmlns:a16="http://schemas.microsoft.com/office/drawing/2014/main" id="{13A7660D-2AD6-2476-F1AA-9C77EB22420C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7737884" y="930555"/>
              <a:ext cx="1075911" cy="1059721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</p:spTree>
    <p:extLst>
      <p:ext uri="{BB962C8B-B14F-4D97-AF65-F5344CB8AC3E}">
        <p14:creationId xmlns:p14="http://schemas.microsoft.com/office/powerpoint/2010/main" val="4233673322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98995D-C304-A229-8A46-CF2352A24C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54" name="Picture 6" descr="Machine Learning Certified Professional (MLCP)">
            <a:extLst>
              <a:ext uri="{FF2B5EF4-FFF2-40B4-BE49-F238E27FC236}">
                <a16:creationId xmlns:a16="http://schemas.microsoft.com/office/drawing/2014/main" id="{AB4FCF91-C02E-708B-5E93-B6A56E5B1A06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7312" r="19121"/>
          <a:stretch>
            <a:fillRect/>
          </a:stretch>
        </p:blipFill>
        <p:spPr bwMode="auto">
          <a:xfrm>
            <a:off x="7804298" y="0"/>
            <a:ext cx="4359349" cy="685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itre 1">
            <a:extLst>
              <a:ext uri="{FF2B5EF4-FFF2-40B4-BE49-F238E27FC236}">
                <a16:creationId xmlns:a16="http://schemas.microsoft.com/office/drawing/2014/main" id="{1A90ED79-6A33-2ED9-32E5-3DA577813A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365125"/>
            <a:ext cx="6966099" cy="3824103"/>
          </a:xfrm>
        </p:spPr>
        <p:txBody>
          <a:bodyPr>
            <a:normAutofit/>
          </a:bodyPr>
          <a:lstStyle/>
          <a:p>
            <a:r>
              <a:rPr lang="fr-FR" sz="6600" dirty="0">
                <a:solidFill>
                  <a:schemeClr val="accent1">
                    <a:lumMod val="75000"/>
                  </a:schemeClr>
                </a:solidFill>
                <a:latin typeface="Segoe UI Black" panose="020B0A02040204020203" pitchFamily="34" charset="0"/>
                <a:ea typeface="Segoe UI Black" panose="020B0A02040204020203" pitchFamily="34" charset="0"/>
              </a:rPr>
              <a:t>Déploiement</a:t>
            </a:r>
            <a:br>
              <a:rPr lang="fr-FR" sz="6600" dirty="0">
                <a:solidFill>
                  <a:schemeClr val="accent1">
                    <a:lumMod val="75000"/>
                  </a:schemeClr>
                </a:solidFill>
                <a:latin typeface="Segoe UI Black" panose="020B0A02040204020203" pitchFamily="34" charset="0"/>
                <a:ea typeface="Segoe UI Black" panose="020B0A02040204020203" pitchFamily="34" charset="0"/>
              </a:rPr>
            </a:br>
            <a:r>
              <a:rPr lang="fr-FR" sz="4800" dirty="0">
                <a:solidFill>
                  <a:schemeClr val="accent1">
                    <a:lumMod val="75000"/>
                  </a:schemeClr>
                </a:solidFill>
                <a:latin typeface="Segoe UI Black" panose="020B0A02040204020203" pitchFamily="34" charset="0"/>
                <a:ea typeface="Segoe UI Black" panose="020B0A02040204020203" pitchFamily="34" charset="0"/>
              </a:rPr>
              <a:t>L’approche </a:t>
            </a:r>
            <a:r>
              <a:rPr lang="fr-FR" sz="4800" dirty="0">
                <a:solidFill>
                  <a:srgbClr val="00B0F0"/>
                </a:solidFill>
                <a:latin typeface="Segoe UI Black" panose="020B0A02040204020203" pitchFamily="34" charset="0"/>
                <a:ea typeface="Segoe UI Black" panose="020B0A02040204020203" pitchFamily="34" charset="0"/>
              </a:rPr>
              <a:t>ML</a:t>
            </a:r>
            <a:endParaRPr lang="fr-FR" sz="6600" dirty="0">
              <a:solidFill>
                <a:srgbClr val="00B0F0"/>
              </a:solidFill>
              <a:latin typeface="Segoe UI Black" panose="020B0A02040204020203" pitchFamily="34" charset="0"/>
              <a:ea typeface="Segoe UI Black" panose="020B0A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55463558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D06377-49D4-E81A-45BC-2B0228B9DE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A6EBD5CA-059C-492D-C598-162CF3AEF9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Déploiement ML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C125C16C-1674-04CB-3E6E-93A0E6889F0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6692900" cy="4351338"/>
          </a:xfrm>
        </p:spPr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fr-FR" dirty="0"/>
              <a:t>Créer un </a:t>
            </a:r>
            <a:r>
              <a:rPr lang="fr-FR" b="1" dirty="0" err="1"/>
              <a:t>microservice</a:t>
            </a:r>
            <a:r>
              <a:rPr lang="fr-FR" b="1" dirty="0"/>
              <a:t> de classification dédiée</a:t>
            </a:r>
            <a:r>
              <a:rPr lang="fr-FR" dirty="0"/>
              <a:t>, qui expose une API HTTP</a:t>
            </a:r>
          </a:p>
          <a:p>
            <a:pPr marL="0" indent="0">
              <a:buNone/>
            </a:pPr>
            <a:endParaRPr lang="fr-FR" dirty="0"/>
          </a:p>
          <a:p>
            <a:pPr marL="0" indent="0">
              <a:buNone/>
            </a:pPr>
            <a:r>
              <a:rPr lang="fr-FR" dirty="0"/>
              <a:t>Ex: </a:t>
            </a:r>
            <a:r>
              <a:rPr lang="fr-FR" dirty="0" err="1"/>
              <a:t>BentoML</a:t>
            </a:r>
            <a:r>
              <a:rPr lang="fr-FR" dirty="0"/>
              <a:t> :</a:t>
            </a:r>
          </a:p>
          <a:p>
            <a:r>
              <a:rPr lang="fr-FR" dirty="0"/>
              <a:t>Interrogeable en ligne / en réseau local</a:t>
            </a:r>
          </a:p>
          <a:p>
            <a:r>
              <a:rPr lang="fr-FR" dirty="0"/>
              <a:t>Le backend </a:t>
            </a:r>
            <a:r>
              <a:rPr lang="fr-FR" dirty="0" err="1"/>
              <a:t>ZenAssist</a:t>
            </a:r>
            <a:r>
              <a:rPr lang="fr-FR" dirty="0"/>
              <a:t> n'a pas besoin de connaître </a:t>
            </a:r>
            <a:r>
              <a:rPr lang="fr-FR" dirty="0" err="1"/>
              <a:t>scikit-learn</a:t>
            </a:r>
            <a:r>
              <a:rPr lang="fr-FR" dirty="0"/>
              <a:t>, TF-IDF ou </a:t>
            </a:r>
            <a:r>
              <a:rPr lang="fr-FR" dirty="0" err="1"/>
              <a:t>LinearSVC</a:t>
            </a:r>
            <a:endParaRPr lang="fr-FR" dirty="0"/>
          </a:p>
          <a:p>
            <a:r>
              <a:rPr lang="fr-FR" dirty="0"/>
              <a:t>Gérer un versioning des modèles</a:t>
            </a:r>
          </a:p>
          <a:p>
            <a:r>
              <a:rPr lang="fr-FR" dirty="0"/>
              <a:t>Déploiement simple depuis Python</a:t>
            </a:r>
          </a:p>
          <a:p>
            <a:r>
              <a:rPr lang="fr-FR" dirty="0"/>
              <a:t>Génération automatique du service API</a:t>
            </a:r>
          </a:p>
        </p:txBody>
      </p:sp>
      <p:grpSp>
        <p:nvGrpSpPr>
          <p:cNvPr id="18" name="Groupe 17">
            <a:extLst>
              <a:ext uri="{FF2B5EF4-FFF2-40B4-BE49-F238E27FC236}">
                <a16:creationId xmlns:a16="http://schemas.microsoft.com/office/drawing/2014/main" id="{EE96F69D-43C0-A291-86BF-680218405B2A}"/>
              </a:ext>
            </a:extLst>
          </p:cNvPr>
          <p:cNvGrpSpPr/>
          <p:nvPr/>
        </p:nvGrpSpPr>
        <p:grpSpPr>
          <a:xfrm>
            <a:off x="7658100" y="814867"/>
            <a:ext cx="4165600" cy="5778500"/>
            <a:chOff x="7658100" y="814867"/>
            <a:chExt cx="4165600" cy="5778500"/>
          </a:xfrm>
        </p:grpSpPr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6D0C9967-7B2F-1FC8-F53D-FD86B39B53FE}"/>
                </a:ext>
              </a:extLst>
            </p:cNvPr>
            <p:cNvSpPr/>
            <p:nvPr/>
          </p:nvSpPr>
          <p:spPr>
            <a:xfrm>
              <a:off x="7658100" y="814867"/>
              <a:ext cx="4165600" cy="5778500"/>
            </a:xfrm>
            <a:prstGeom prst="rect">
              <a:avLst/>
            </a:prstGeom>
            <a:gradFill>
              <a:gsLst>
                <a:gs pos="0">
                  <a:schemeClr val="accent5">
                    <a:satMod val="105000"/>
                    <a:tint val="67000"/>
                    <a:lumMod val="87000"/>
                    <a:lumOff val="13000"/>
                  </a:schemeClr>
                </a:gs>
                <a:gs pos="50000">
                  <a:schemeClr val="accent5">
                    <a:lumMod val="105000"/>
                    <a:satMod val="103000"/>
                    <a:tint val="73000"/>
                  </a:schemeClr>
                </a:gs>
                <a:gs pos="100000">
                  <a:schemeClr val="accent5">
                    <a:lumMod val="105000"/>
                    <a:satMod val="109000"/>
                    <a:tint val="81000"/>
                  </a:schemeClr>
                </a:gs>
              </a:gsLst>
            </a:gradFill>
            <a:ln w="66675" cap="rnd">
              <a:round/>
            </a:ln>
          </p:spPr>
          <p:style>
            <a:lnRef idx="1">
              <a:schemeClr val="accent5"/>
            </a:lnRef>
            <a:fillRef idx="2">
              <a:schemeClr val="accent5"/>
            </a:fillRef>
            <a:effectRef idx="1">
              <a:schemeClr val="accent5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4" name="Flèche : droite 3">
              <a:extLst>
                <a:ext uri="{FF2B5EF4-FFF2-40B4-BE49-F238E27FC236}">
                  <a16:creationId xmlns:a16="http://schemas.microsoft.com/office/drawing/2014/main" id="{7BFC2845-F7E4-AD22-2458-F59B96D485F2}"/>
                </a:ext>
              </a:extLst>
            </p:cNvPr>
            <p:cNvSpPr/>
            <p:nvPr/>
          </p:nvSpPr>
          <p:spPr>
            <a:xfrm rot="5400000">
              <a:off x="9469687" y="1755581"/>
              <a:ext cx="542425" cy="482578"/>
            </a:xfrm>
            <a:prstGeom prst="rightArrow">
              <a:avLst>
                <a:gd name="adj1" fmla="val 46639"/>
                <a:gd name="adj2" fmla="val 39655"/>
              </a:avLst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5" name="ZoneTexte 4">
              <a:extLst>
                <a:ext uri="{FF2B5EF4-FFF2-40B4-BE49-F238E27FC236}">
                  <a16:creationId xmlns:a16="http://schemas.microsoft.com/office/drawing/2014/main" id="{9C454C45-4750-9266-1537-9FEB2E8C12CB}"/>
                </a:ext>
              </a:extLst>
            </p:cNvPr>
            <p:cNvSpPr txBox="1"/>
            <p:nvPr/>
          </p:nvSpPr>
          <p:spPr>
            <a:xfrm>
              <a:off x="8978899" y="1280999"/>
              <a:ext cx="152400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fr-FR" b="1" dirty="0" err="1"/>
                <a:t>ZenAssist</a:t>
              </a:r>
              <a:endParaRPr lang="fr-FR" b="1" dirty="0"/>
            </a:p>
          </p:txBody>
        </p:sp>
        <p:sp>
          <p:nvSpPr>
            <p:cNvPr id="7" name="Flèche : droite 6">
              <a:extLst>
                <a:ext uri="{FF2B5EF4-FFF2-40B4-BE49-F238E27FC236}">
                  <a16:creationId xmlns:a16="http://schemas.microsoft.com/office/drawing/2014/main" id="{02ADF2B8-3384-A080-3FF6-D00B47C73F73}"/>
                </a:ext>
              </a:extLst>
            </p:cNvPr>
            <p:cNvSpPr/>
            <p:nvPr/>
          </p:nvSpPr>
          <p:spPr>
            <a:xfrm rot="5400000">
              <a:off x="9469687" y="3094989"/>
              <a:ext cx="542425" cy="482578"/>
            </a:xfrm>
            <a:prstGeom prst="rightArrow">
              <a:avLst>
                <a:gd name="adj1" fmla="val 46639"/>
                <a:gd name="adj2" fmla="val 39655"/>
              </a:avLst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8" name="ZoneTexte 7">
              <a:extLst>
                <a:ext uri="{FF2B5EF4-FFF2-40B4-BE49-F238E27FC236}">
                  <a16:creationId xmlns:a16="http://schemas.microsoft.com/office/drawing/2014/main" id="{38F59B0E-30A5-8BD5-6865-62D137D14063}"/>
                </a:ext>
              </a:extLst>
            </p:cNvPr>
            <p:cNvSpPr txBox="1"/>
            <p:nvPr/>
          </p:nvSpPr>
          <p:spPr>
            <a:xfrm>
              <a:off x="8978899" y="2343408"/>
              <a:ext cx="1524000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fr-FR" b="1" dirty="0"/>
                <a:t>Backend </a:t>
              </a:r>
              <a:r>
                <a:rPr lang="fr-FR" b="1" dirty="0" err="1"/>
                <a:t>ZenAssist</a:t>
              </a:r>
              <a:endParaRPr lang="fr-FR" b="1" dirty="0"/>
            </a:p>
          </p:txBody>
        </p:sp>
        <p:sp>
          <p:nvSpPr>
            <p:cNvPr id="10" name="ZoneTexte 9">
              <a:extLst>
                <a:ext uri="{FF2B5EF4-FFF2-40B4-BE49-F238E27FC236}">
                  <a16:creationId xmlns:a16="http://schemas.microsoft.com/office/drawing/2014/main" id="{522EEFE2-87F4-4821-EBB5-9B38F00E0564}"/>
                </a:ext>
              </a:extLst>
            </p:cNvPr>
            <p:cNvSpPr txBox="1"/>
            <p:nvPr/>
          </p:nvSpPr>
          <p:spPr>
            <a:xfrm>
              <a:off x="8740771" y="3682816"/>
              <a:ext cx="2000257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fr-FR" b="1" dirty="0"/>
                <a:t>API Classification</a:t>
              </a:r>
            </a:p>
          </p:txBody>
        </p:sp>
        <p:sp>
          <p:nvSpPr>
            <p:cNvPr id="11" name="Flèche : droite 10">
              <a:extLst>
                <a:ext uri="{FF2B5EF4-FFF2-40B4-BE49-F238E27FC236}">
                  <a16:creationId xmlns:a16="http://schemas.microsoft.com/office/drawing/2014/main" id="{44731ADB-6A7A-B509-741F-75DFA04B5C1A}"/>
                </a:ext>
              </a:extLst>
            </p:cNvPr>
            <p:cNvSpPr/>
            <p:nvPr/>
          </p:nvSpPr>
          <p:spPr>
            <a:xfrm rot="5400000">
              <a:off x="9469687" y="5219806"/>
              <a:ext cx="542424" cy="482578"/>
            </a:xfrm>
            <a:prstGeom prst="rightArrow">
              <a:avLst>
                <a:gd name="adj1" fmla="val 46639"/>
                <a:gd name="adj2" fmla="val 39655"/>
              </a:avLst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2" name="ZoneTexte 11">
              <a:extLst>
                <a:ext uri="{FF2B5EF4-FFF2-40B4-BE49-F238E27FC236}">
                  <a16:creationId xmlns:a16="http://schemas.microsoft.com/office/drawing/2014/main" id="{41141343-85D9-DB78-98DB-99A82BEF1E4F}"/>
                </a:ext>
              </a:extLst>
            </p:cNvPr>
            <p:cNvSpPr txBox="1"/>
            <p:nvPr/>
          </p:nvSpPr>
          <p:spPr>
            <a:xfrm>
              <a:off x="8477255" y="5807631"/>
              <a:ext cx="2527289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fr-FR" b="1" dirty="0"/>
                <a:t>Catégorie prédite</a:t>
              </a:r>
            </a:p>
          </p:txBody>
        </p:sp>
        <p:pic>
          <p:nvPicPr>
            <p:cNvPr id="16" name="Picture 6" descr="Machine Learning Certified Professional (MLCP)">
              <a:extLst>
                <a:ext uri="{FF2B5EF4-FFF2-40B4-BE49-F238E27FC236}">
                  <a16:creationId xmlns:a16="http://schemas.microsoft.com/office/drawing/2014/main" id="{A4334254-1F4D-3C25-A88D-CC6DDB569202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7312" r="19121"/>
            <a:stretch>
              <a:fillRect/>
            </a:stretch>
          </p:blipFill>
          <p:spPr bwMode="auto">
            <a:xfrm>
              <a:off x="7747016" y="919419"/>
              <a:ext cx="1025747" cy="161367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9" name="Flèche : droite 8">
              <a:extLst>
                <a:ext uri="{FF2B5EF4-FFF2-40B4-BE49-F238E27FC236}">
                  <a16:creationId xmlns:a16="http://schemas.microsoft.com/office/drawing/2014/main" id="{1E77F62E-5FE1-1791-F4F8-8D8BA5B9233C}"/>
                </a:ext>
              </a:extLst>
            </p:cNvPr>
            <p:cNvSpPr/>
            <p:nvPr/>
          </p:nvSpPr>
          <p:spPr>
            <a:xfrm rot="5400000">
              <a:off x="9469687" y="4157398"/>
              <a:ext cx="542425" cy="482578"/>
            </a:xfrm>
            <a:prstGeom prst="rightArrow">
              <a:avLst>
                <a:gd name="adj1" fmla="val 46639"/>
                <a:gd name="adj2" fmla="val 39655"/>
              </a:avLst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7" name="ZoneTexte 16">
              <a:extLst>
                <a:ext uri="{FF2B5EF4-FFF2-40B4-BE49-F238E27FC236}">
                  <a16:creationId xmlns:a16="http://schemas.microsoft.com/office/drawing/2014/main" id="{259CE47F-4494-9393-A05B-B0EF701628E4}"/>
                </a:ext>
              </a:extLst>
            </p:cNvPr>
            <p:cNvSpPr txBox="1"/>
            <p:nvPr/>
          </p:nvSpPr>
          <p:spPr>
            <a:xfrm>
              <a:off x="8740771" y="4745225"/>
              <a:ext cx="2000257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fr-FR" b="1" dirty="0"/>
                <a:t>Prédiction Modèle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977509574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7B817A41-79CE-A54F-22AC-3B730A9F3E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Cycle de vie ML</a:t>
            </a:r>
          </a:p>
        </p:txBody>
      </p:sp>
      <p:sp>
        <p:nvSpPr>
          <p:cNvPr id="7" name="ZoneTexte 6">
            <a:extLst>
              <a:ext uri="{FF2B5EF4-FFF2-40B4-BE49-F238E27FC236}">
                <a16:creationId xmlns:a16="http://schemas.microsoft.com/office/drawing/2014/main" id="{10ABBB08-5FAC-1E8A-3C3B-925751BA7105}"/>
              </a:ext>
            </a:extLst>
          </p:cNvPr>
          <p:cNvSpPr txBox="1"/>
          <p:nvPr/>
        </p:nvSpPr>
        <p:spPr>
          <a:xfrm>
            <a:off x="838199" y="1690688"/>
            <a:ext cx="5842000" cy="440120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2800" dirty="0"/>
              <a:t>Une fois en production</a:t>
            </a:r>
          </a:p>
          <a:p>
            <a:endParaRPr lang="fr-FR" sz="2800" dirty="0"/>
          </a:p>
          <a:p>
            <a:r>
              <a:rPr lang="fr-FR" sz="2800" dirty="0"/>
              <a:t>Conserver pour chaque Réclamation</a:t>
            </a:r>
          </a:p>
          <a:p>
            <a:r>
              <a:rPr lang="fr-FR" sz="2800" dirty="0"/>
              <a:t>+ prédiction</a:t>
            </a:r>
          </a:p>
          <a:p>
            <a:r>
              <a:rPr lang="fr-FR" sz="2800" dirty="0"/>
              <a:t>+ score/confiance</a:t>
            </a:r>
          </a:p>
          <a:p>
            <a:r>
              <a:rPr lang="fr-FR" sz="2800" dirty="0"/>
              <a:t>+ correction éventuelle de l'utilisateur</a:t>
            </a:r>
          </a:p>
          <a:p>
            <a:endParaRPr lang="fr-FR" sz="2800" dirty="0"/>
          </a:p>
          <a:p>
            <a:r>
              <a:rPr lang="fr-FR" sz="2800" dirty="0"/>
              <a:t>Ces corrections peuvent ensuite constituer les données du prochain entraînement</a:t>
            </a:r>
          </a:p>
        </p:txBody>
      </p:sp>
      <p:grpSp>
        <p:nvGrpSpPr>
          <p:cNvPr id="22" name="Groupe 21">
            <a:extLst>
              <a:ext uri="{FF2B5EF4-FFF2-40B4-BE49-F238E27FC236}">
                <a16:creationId xmlns:a16="http://schemas.microsoft.com/office/drawing/2014/main" id="{C5C27A30-45D9-FFA8-578C-DC09B8CBB6F7}"/>
              </a:ext>
            </a:extLst>
          </p:cNvPr>
          <p:cNvGrpSpPr/>
          <p:nvPr/>
        </p:nvGrpSpPr>
        <p:grpSpPr>
          <a:xfrm>
            <a:off x="7801374" y="895128"/>
            <a:ext cx="4165600" cy="5778500"/>
            <a:chOff x="5419681" y="714375"/>
            <a:chExt cx="4165600" cy="5778500"/>
          </a:xfrm>
        </p:grpSpPr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D0736048-A567-70CD-5B7C-2DC5137D4C1C}"/>
                </a:ext>
              </a:extLst>
            </p:cNvPr>
            <p:cNvSpPr/>
            <p:nvPr/>
          </p:nvSpPr>
          <p:spPr>
            <a:xfrm>
              <a:off x="5419681" y="714375"/>
              <a:ext cx="4165600" cy="5778500"/>
            </a:xfrm>
            <a:prstGeom prst="rect">
              <a:avLst/>
            </a:prstGeom>
            <a:gradFill>
              <a:gsLst>
                <a:gs pos="0">
                  <a:schemeClr val="accent5">
                    <a:satMod val="105000"/>
                    <a:tint val="67000"/>
                    <a:lumMod val="87000"/>
                    <a:lumOff val="13000"/>
                  </a:schemeClr>
                </a:gs>
                <a:gs pos="50000">
                  <a:schemeClr val="accent5">
                    <a:lumMod val="105000"/>
                    <a:satMod val="103000"/>
                    <a:tint val="73000"/>
                  </a:schemeClr>
                </a:gs>
                <a:gs pos="100000">
                  <a:schemeClr val="accent5">
                    <a:lumMod val="105000"/>
                    <a:satMod val="109000"/>
                    <a:tint val="81000"/>
                  </a:schemeClr>
                </a:gs>
              </a:gsLst>
            </a:gradFill>
            <a:ln w="66675" cap="rnd">
              <a:round/>
            </a:ln>
          </p:spPr>
          <p:style>
            <a:lnRef idx="1">
              <a:schemeClr val="accent5"/>
            </a:lnRef>
            <a:fillRef idx="2">
              <a:schemeClr val="accent5"/>
            </a:fillRef>
            <a:effectRef idx="1">
              <a:schemeClr val="accent5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8" name="Flèche : droite 7">
              <a:extLst>
                <a:ext uri="{FF2B5EF4-FFF2-40B4-BE49-F238E27FC236}">
                  <a16:creationId xmlns:a16="http://schemas.microsoft.com/office/drawing/2014/main" id="{FDB3FDB6-9E57-0D65-1E84-C7623D600C22}"/>
                </a:ext>
              </a:extLst>
            </p:cNvPr>
            <p:cNvSpPr/>
            <p:nvPr/>
          </p:nvSpPr>
          <p:spPr>
            <a:xfrm rot="5400000">
              <a:off x="7368616" y="1569556"/>
              <a:ext cx="369330" cy="482578"/>
            </a:xfrm>
            <a:prstGeom prst="rightArrow">
              <a:avLst>
                <a:gd name="adj1" fmla="val 46639"/>
                <a:gd name="adj2" fmla="val 39655"/>
              </a:avLst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9" name="ZoneTexte 8">
              <a:extLst>
                <a:ext uri="{FF2B5EF4-FFF2-40B4-BE49-F238E27FC236}">
                  <a16:creationId xmlns:a16="http://schemas.microsoft.com/office/drawing/2014/main" id="{0551EAA3-743F-D3B2-D8F4-4CB78419B054}"/>
                </a:ext>
              </a:extLst>
            </p:cNvPr>
            <p:cNvSpPr txBox="1"/>
            <p:nvPr/>
          </p:nvSpPr>
          <p:spPr>
            <a:xfrm>
              <a:off x="6791281" y="1259025"/>
              <a:ext cx="152400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fr-FR" b="1" dirty="0"/>
                <a:t>Production</a:t>
              </a:r>
            </a:p>
          </p:txBody>
        </p:sp>
        <p:sp>
          <p:nvSpPr>
            <p:cNvPr id="10" name="Flèche : droite 9">
              <a:extLst>
                <a:ext uri="{FF2B5EF4-FFF2-40B4-BE49-F238E27FC236}">
                  <a16:creationId xmlns:a16="http://schemas.microsoft.com/office/drawing/2014/main" id="{173AD24E-01BE-45B3-8C94-92EDC4EE4060}"/>
                </a:ext>
              </a:extLst>
            </p:cNvPr>
            <p:cNvSpPr/>
            <p:nvPr/>
          </p:nvSpPr>
          <p:spPr>
            <a:xfrm rot="5400000">
              <a:off x="7368617" y="2303864"/>
              <a:ext cx="369329" cy="482578"/>
            </a:xfrm>
            <a:prstGeom prst="rightArrow">
              <a:avLst>
                <a:gd name="adj1" fmla="val 46639"/>
                <a:gd name="adj2" fmla="val 39655"/>
              </a:avLst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1" name="ZoneTexte 10">
              <a:extLst>
                <a:ext uri="{FF2B5EF4-FFF2-40B4-BE49-F238E27FC236}">
                  <a16:creationId xmlns:a16="http://schemas.microsoft.com/office/drawing/2014/main" id="{B7DBA189-2A9D-6FC4-F089-02CEA4982E14}"/>
                </a:ext>
              </a:extLst>
            </p:cNvPr>
            <p:cNvSpPr txBox="1"/>
            <p:nvPr/>
          </p:nvSpPr>
          <p:spPr>
            <a:xfrm>
              <a:off x="6791281" y="1993333"/>
              <a:ext cx="152400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fr-FR" b="1" dirty="0"/>
                <a:t>Prédictions</a:t>
              </a:r>
            </a:p>
          </p:txBody>
        </p:sp>
        <p:sp>
          <p:nvSpPr>
            <p:cNvPr id="12" name="ZoneTexte 11">
              <a:extLst>
                <a:ext uri="{FF2B5EF4-FFF2-40B4-BE49-F238E27FC236}">
                  <a16:creationId xmlns:a16="http://schemas.microsoft.com/office/drawing/2014/main" id="{553FA679-779C-E9D1-13BA-43F0D644D90B}"/>
                </a:ext>
              </a:extLst>
            </p:cNvPr>
            <p:cNvSpPr txBox="1"/>
            <p:nvPr/>
          </p:nvSpPr>
          <p:spPr>
            <a:xfrm>
              <a:off x="5703216" y="2727640"/>
              <a:ext cx="3700130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fr-FR" b="1" dirty="0"/>
                <a:t>Corrections humaines</a:t>
              </a:r>
            </a:p>
          </p:txBody>
        </p:sp>
        <p:sp>
          <p:nvSpPr>
            <p:cNvPr id="13" name="Flèche : droite 12">
              <a:extLst>
                <a:ext uri="{FF2B5EF4-FFF2-40B4-BE49-F238E27FC236}">
                  <a16:creationId xmlns:a16="http://schemas.microsoft.com/office/drawing/2014/main" id="{749CF3DA-F183-F0A0-F77C-49B02E6032E7}"/>
                </a:ext>
              </a:extLst>
            </p:cNvPr>
            <p:cNvSpPr/>
            <p:nvPr/>
          </p:nvSpPr>
          <p:spPr>
            <a:xfrm rot="5400000">
              <a:off x="7368616" y="3772478"/>
              <a:ext cx="369330" cy="482578"/>
            </a:xfrm>
            <a:prstGeom prst="rightArrow">
              <a:avLst>
                <a:gd name="adj1" fmla="val 46639"/>
                <a:gd name="adj2" fmla="val 39655"/>
              </a:avLst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4" name="ZoneTexte 13">
              <a:extLst>
                <a:ext uri="{FF2B5EF4-FFF2-40B4-BE49-F238E27FC236}">
                  <a16:creationId xmlns:a16="http://schemas.microsoft.com/office/drawing/2014/main" id="{DBF8D74E-16C5-69D9-6A20-755410B043AC}"/>
                </a:ext>
              </a:extLst>
            </p:cNvPr>
            <p:cNvSpPr txBox="1"/>
            <p:nvPr/>
          </p:nvSpPr>
          <p:spPr>
            <a:xfrm>
              <a:off x="6289637" y="4196255"/>
              <a:ext cx="2527289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fr-FR" b="1" dirty="0"/>
                <a:t>Réentrainement</a:t>
              </a:r>
            </a:p>
          </p:txBody>
        </p:sp>
        <p:pic>
          <p:nvPicPr>
            <p:cNvPr id="15" name="Picture 6" descr="Machine Learning Certified Professional (MLCP)">
              <a:extLst>
                <a:ext uri="{FF2B5EF4-FFF2-40B4-BE49-F238E27FC236}">
                  <a16:creationId xmlns:a16="http://schemas.microsoft.com/office/drawing/2014/main" id="{83E3658E-101F-038A-BC99-872D45292E6F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7312" r="19121"/>
            <a:stretch>
              <a:fillRect/>
            </a:stretch>
          </p:blipFill>
          <p:spPr bwMode="auto">
            <a:xfrm>
              <a:off x="5524516" y="818927"/>
              <a:ext cx="1025747" cy="161367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6" name="Flèche : droite 15">
              <a:extLst>
                <a:ext uri="{FF2B5EF4-FFF2-40B4-BE49-F238E27FC236}">
                  <a16:creationId xmlns:a16="http://schemas.microsoft.com/office/drawing/2014/main" id="{EFA3270A-17F1-D3A1-AA8E-C39992BE0B9A}"/>
                </a:ext>
              </a:extLst>
            </p:cNvPr>
            <p:cNvSpPr/>
            <p:nvPr/>
          </p:nvSpPr>
          <p:spPr>
            <a:xfrm rot="5400000">
              <a:off x="7368617" y="3038171"/>
              <a:ext cx="369329" cy="482578"/>
            </a:xfrm>
            <a:prstGeom prst="rightArrow">
              <a:avLst>
                <a:gd name="adj1" fmla="val 46639"/>
                <a:gd name="adj2" fmla="val 39655"/>
              </a:avLst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7" name="ZoneTexte 16">
              <a:extLst>
                <a:ext uri="{FF2B5EF4-FFF2-40B4-BE49-F238E27FC236}">
                  <a16:creationId xmlns:a16="http://schemas.microsoft.com/office/drawing/2014/main" id="{904F76B7-6B4C-406B-6C02-6E07D6FD7BC3}"/>
                </a:ext>
              </a:extLst>
            </p:cNvPr>
            <p:cNvSpPr txBox="1"/>
            <p:nvPr/>
          </p:nvSpPr>
          <p:spPr>
            <a:xfrm>
              <a:off x="5521282" y="3461947"/>
              <a:ext cx="4063999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fr-FR" b="1" dirty="0"/>
                <a:t>Nouvelles données labellisées</a:t>
              </a:r>
            </a:p>
          </p:txBody>
        </p:sp>
        <p:sp>
          <p:nvSpPr>
            <p:cNvPr id="18" name="Flèche : droite 17">
              <a:extLst>
                <a:ext uri="{FF2B5EF4-FFF2-40B4-BE49-F238E27FC236}">
                  <a16:creationId xmlns:a16="http://schemas.microsoft.com/office/drawing/2014/main" id="{DA1962EC-3718-CCF6-AF2A-D1DBC1EE04CE}"/>
                </a:ext>
              </a:extLst>
            </p:cNvPr>
            <p:cNvSpPr/>
            <p:nvPr/>
          </p:nvSpPr>
          <p:spPr>
            <a:xfrm rot="5400000">
              <a:off x="7368616" y="4506786"/>
              <a:ext cx="369330" cy="482578"/>
            </a:xfrm>
            <a:prstGeom prst="rightArrow">
              <a:avLst>
                <a:gd name="adj1" fmla="val 46639"/>
                <a:gd name="adj2" fmla="val 39655"/>
              </a:avLst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9" name="ZoneTexte 18">
              <a:extLst>
                <a:ext uri="{FF2B5EF4-FFF2-40B4-BE49-F238E27FC236}">
                  <a16:creationId xmlns:a16="http://schemas.microsoft.com/office/drawing/2014/main" id="{3211E388-0BB7-40EF-B857-042C186286DC}"/>
                </a:ext>
              </a:extLst>
            </p:cNvPr>
            <p:cNvSpPr txBox="1"/>
            <p:nvPr/>
          </p:nvSpPr>
          <p:spPr>
            <a:xfrm>
              <a:off x="6289637" y="4930563"/>
              <a:ext cx="2527289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fr-FR" b="1" dirty="0"/>
                <a:t>Validation</a:t>
              </a:r>
            </a:p>
          </p:txBody>
        </p:sp>
        <p:sp>
          <p:nvSpPr>
            <p:cNvPr id="20" name="Flèche : droite 19">
              <a:extLst>
                <a:ext uri="{FF2B5EF4-FFF2-40B4-BE49-F238E27FC236}">
                  <a16:creationId xmlns:a16="http://schemas.microsoft.com/office/drawing/2014/main" id="{1E8B3C1F-7A9E-5404-79AE-51725BE2823C}"/>
                </a:ext>
              </a:extLst>
            </p:cNvPr>
            <p:cNvSpPr/>
            <p:nvPr/>
          </p:nvSpPr>
          <p:spPr>
            <a:xfrm rot="5400000">
              <a:off x="7368616" y="5241094"/>
              <a:ext cx="369330" cy="482578"/>
            </a:xfrm>
            <a:prstGeom prst="rightArrow">
              <a:avLst>
                <a:gd name="adj1" fmla="val 46639"/>
                <a:gd name="adj2" fmla="val 39655"/>
              </a:avLst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21" name="ZoneTexte 20">
              <a:extLst>
                <a:ext uri="{FF2B5EF4-FFF2-40B4-BE49-F238E27FC236}">
                  <a16:creationId xmlns:a16="http://schemas.microsoft.com/office/drawing/2014/main" id="{2D8926D2-71BA-8956-92AE-63CC5750147F}"/>
                </a:ext>
              </a:extLst>
            </p:cNvPr>
            <p:cNvSpPr txBox="1"/>
            <p:nvPr/>
          </p:nvSpPr>
          <p:spPr>
            <a:xfrm>
              <a:off x="5521282" y="5664876"/>
              <a:ext cx="4063998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fr-FR" b="1" dirty="0"/>
                <a:t>Nouvelle version du modèle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24684849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E46DC3-6D1E-102E-8A89-524B92406E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54" name="Picture 6" descr="Machine Learning Certified Professional (MLCP)">
            <a:extLst>
              <a:ext uri="{FF2B5EF4-FFF2-40B4-BE49-F238E27FC236}">
                <a16:creationId xmlns:a16="http://schemas.microsoft.com/office/drawing/2014/main" id="{210C23D0-9B4E-B601-7D3D-1126268A0F99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7312" r="19121"/>
          <a:stretch>
            <a:fillRect/>
          </a:stretch>
        </p:blipFill>
        <p:spPr bwMode="auto">
          <a:xfrm>
            <a:off x="9122736" y="0"/>
            <a:ext cx="2371060" cy="373008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itre 1">
            <a:extLst>
              <a:ext uri="{FF2B5EF4-FFF2-40B4-BE49-F238E27FC236}">
                <a16:creationId xmlns:a16="http://schemas.microsoft.com/office/drawing/2014/main" id="{C32A18EA-D942-F07E-B622-8D337327E2B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365125"/>
            <a:ext cx="6966099" cy="3824103"/>
          </a:xfrm>
        </p:spPr>
        <p:txBody>
          <a:bodyPr>
            <a:normAutofit/>
          </a:bodyPr>
          <a:lstStyle/>
          <a:p>
            <a:r>
              <a:rPr lang="fr-FR" sz="6600" dirty="0">
                <a:solidFill>
                  <a:schemeClr val="accent1">
                    <a:lumMod val="75000"/>
                  </a:schemeClr>
                </a:solidFill>
                <a:latin typeface="Segoe UI Black" panose="020B0A02040204020203" pitchFamily="34" charset="0"/>
                <a:ea typeface="Segoe UI Black" panose="020B0A02040204020203" pitchFamily="34" charset="0"/>
              </a:rPr>
              <a:t>Déploiement</a:t>
            </a:r>
            <a:br>
              <a:rPr lang="fr-FR" sz="6600" dirty="0">
                <a:solidFill>
                  <a:schemeClr val="accent1">
                    <a:lumMod val="75000"/>
                  </a:schemeClr>
                </a:solidFill>
                <a:latin typeface="Segoe UI Black" panose="020B0A02040204020203" pitchFamily="34" charset="0"/>
                <a:ea typeface="Segoe UI Black" panose="020B0A02040204020203" pitchFamily="34" charset="0"/>
              </a:rPr>
            </a:br>
            <a:r>
              <a:rPr lang="fr-FR" sz="4800" dirty="0">
                <a:solidFill>
                  <a:schemeClr val="accent1">
                    <a:lumMod val="75000"/>
                  </a:schemeClr>
                </a:solidFill>
                <a:latin typeface="Segoe UI Black" panose="020B0A02040204020203" pitchFamily="34" charset="0"/>
                <a:ea typeface="Segoe UI Black" panose="020B0A02040204020203" pitchFamily="34" charset="0"/>
              </a:rPr>
              <a:t>L’approche </a:t>
            </a:r>
            <a:r>
              <a:rPr lang="fr-FR" sz="4800" dirty="0">
                <a:solidFill>
                  <a:srgbClr val="00B0F0"/>
                </a:solidFill>
                <a:latin typeface="Segoe UI Black" panose="020B0A02040204020203" pitchFamily="34" charset="0"/>
                <a:ea typeface="Segoe UI Black" panose="020B0A02040204020203" pitchFamily="34" charset="0"/>
              </a:rPr>
              <a:t>Hybride</a:t>
            </a:r>
            <a:endParaRPr lang="fr-FR" sz="6600" dirty="0">
              <a:solidFill>
                <a:srgbClr val="00B0F0"/>
              </a:solidFill>
              <a:latin typeface="Segoe UI Black" panose="020B0A02040204020203" pitchFamily="34" charset="0"/>
              <a:ea typeface="Segoe UI Black" panose="020B0A02040204020203" pitchFamily="34" charset="0"/>
            </a:endParaRPr>
          </a:p>
        </p:txBody>
      </p:sp>
      <p:pic>
        <p:nvPicPr>
          <p:cNvPr id="3" name="Picture 4" descr="LLM or large language model icon for AI website and apps 63132258 Vector  Art at Vecteezy">
            <a:extLst>
              <a:ext uri="{FF2B5EF4-FFF2-40B4-BE49-F238E27FC236}">
                <a16:creationId xmlns:a16="http://schemas.microsoft.com/office/drawing/2014/main" id="{403682C3-1491-C86E-D194-266041382F3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829351" y="3620386"/>
            <a:ext cx="2957829" cy="291332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571444056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AE3A6F50-75BD-3A05-DCA9-40A87F8D6F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Déploiement Hybride</a:t>
            </a:r>
          </a:p>
        </p:txBody>
      </p:sp>
      <p:grpSp>
        <p:nvGrpSpPr>
          <p:cNvPr id="37" name="Groupe 36">
            <a:extLst>
              <a:ext uri="{FF2B5EF4-FFF2-40B4-BE49-F238E27FC236}">
                <a16:creationId xmlns:a16="http://schemas.microsoft.com/office/drawing/2014/main" id="{D92A275C-84EF-3CCB-EECD-99B8DEB25573}"/>
              </a:ext>
            </a:extLst>
          </p:cNvPr>
          <p:cNvGrpSpPr/>
          <p:nvPr/>
        </p:nvGrpSpPr>
        <p:grpSpPr>
          <a:xfrm>
            <a:off x="7444255" y="618681"/>
            <a:ext cx="4165600" cy="5952239"/>
            <a:chOff x="6710608" y="714374"/>
            <a:chExt cx="4165600" cy="5952239"/>
          </a:xfrm>
        </p:grpSpPr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F1B781DA-5960-F26A-D228-43A56B7F48C5}"/>
                </a:ext>
              </a:extLst>
            </p:cNvPr>
            <p:cNvSpPr/>
            <p:nvPr/>
          </p:nvSpPr>
          <p:spPr>
            <a:xfrm>
              <a:off x="6710608" y="714374"/>
              <a:ext cx="4165600" cy="5952239"/>
            </a:xfrm>
            <a:prstGeom prst="rect">
              <a:avLst/>
            </a:prstGeom>
            <a:gradFill>
              <a:gsLst>
                <a:gs pos="0">
                  <a:schemeClr val="accent5">
                    <a:satMod val="105000"/>
                    <a:tint val="67000"/>
                    <a:lumMod val="87000"/>
                    <a:lumOff val="13000"/>
                  </a:schemeClr>
                </a:gs>
                <a:gs pos="50000">
                  <a:schemeClr val="accent5">
                    <a:lumMod val="105000"/>
                    <a:satMod val="103000"/>
                    <a:tint val="73000"/>
                  </a:schemeClr>
                </a:gs>
                <a:gs pos="100000">
                  <a:schemeClr val="accent5">
                    <a:lumMod val="105000"/>
                    <a:satMod val="109000"/>
                    <a:tint val="81000"/>
                  </a:schemeClr>
                </a:gs>
              </a:gsLst>
            </a:gradFill>
            <a:ln w="66675" cap="rnd">
              <a:round/>
            </a:ln>
          </p:spPr>
          <p:style>
            <a:lnRef idx="1">
              <a:schemeClr val="accent5"/>
            </a:lnRef>
            <a:fillRef idx="2">
              <a:schemeClr val="accent5"/>
            </a:fillRef>
            <a:effectRef idx="1">
              <a:schemeClr val="accent5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8" name="Losange 17">
              <a:extLst>
                <a:ext uri="{FF2B5EF4-FFF2-40B4-BE49-F238E27FC236}">
                  <a16:creationId xmlns:a16="http://schemas.microsoft.com/office/drawing/2014/main" id="{8B06099F-671E-E735-2836-0155CACC77CC}"/>
                </a:ext>
              </a:extLst>
            </p:cNvPr>
            <p:cNvSpPr/>
            <p:nvPr/>
          </p:nvSpPr>
          <p:spPr>
            <a:xfrm>
              <a:off x="8246274" y="2897221"/>
              <a:ext cx="946298" cy="946298"/>
            </a:xfrm>
            <a:prstGeom prst="diamond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20" name="ZoneTexte 19">
              <a:extLst>
                <a:ext uri="{FF2B5EF4-FFF2-40B4-BE49-F238E27FC236}">
                  <a16:creationId xmlns:a16="http://schemas.microsoft.com/office/drawing/2014/main" id="{899F2090-8B4F-7512-F212-49284C54BCB0}"/>
                </a:ext>
              </a:extLst>
            </p:cNvPr>
            <p:cNvSpPr txBox="1"/>
            <p:nvPr/>
          </p:nvSpPr>
          <p:spPr>
            <a:xfrm>
              <a:off x="7574766" y="2524839"/>
              <a:ext cx="2284229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fr-FR" dirty="0"/>
                <a:t>confiance suffisante ?</a:t>
              </a:r>
            </a:p>
          </p:txBody>
        </p:sp>
        <p:sp>
          <p:nvSpPr>
            <p:cNvPr id="21" name="ZoneTexte 20">
              <a:extLst>
                <a:ext uri="{FF2B5EF4-FFF2-40B4-BE49-F238E27FC236}">
                  <a16:creationId xmlns:a16="http://schemas.microsoft.com/office/drawing/2014/main" id="{BDB84AB1-464E-F09E-2A3A-FE4D05D32C54}"/>
                </a:ext>
              </a:extLst>
            </p:cNvPr>
            <p:cNvSpPr txBox="1"/>
            <p:nvPr/>
          </p:nvSpPr>
          <p:spPr>
            <a:xfrm>
              <a:off x="7787511" y="3943197"/>
              <a:ext cx="666424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fr-FR" dirty="0"/>
                <a:t>OUI</a:t>
              </a:r>
            </a:p>
          </p:txBody>
        </p:sp>
        <p:sp>
          <p:nvSpPr>
            <p:cNvPr id="22" name="ZoneTexte 21">
              <a:extLst>
                <a:ext uri="{FF2B5EF4-FFF2-40B4-BE49-F238E27FC236}">
                  <a16:creationId xmlns:a16="http://schemas.microsoft.com/office/drawing/2014/main" id="{9FF6477D-8BD6-F918-B77F-9D76974097B5}"/>
                </a:ext>
              </a:extLst>
            </p:cNvPr>
            <p:cNvSpPr txBox="1"/>
            <p:nvPr/>
          </p:nvSpPr>
          <p:spPr>
            <a:xfrm>
              <a:off x="9008217" y="3943197"/>
              <a:ext cx="666424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fr-FR" dirty="0"/>
                <a:t>NON</a:t>
              </a:r>
            </a:p>
          </p:txBody>
        </p:sp>
        <p:pic>
          <p:nvPicPr>
            <p:cNvPr id="23" name="Picture 6" descr="Machine Learning Certified Professional (MLCP)">
              <a:extLst>
                <a:ext uri="{FF2B5EF4-FFF2-40B4-BE49-F238E27FC236}">
                  <a16:creationId xmlns:a16="http://schemas.microsoft.com/office/drawing/2014/main" id="{5566884B-6D3F-4459-B2D3-E50E028D89F7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7312" r="19121"/>
            <a:stretch>
              <a:fillRect/>
            </a:stretch>
          </p:blipFill>
          <p:spPr bwMode="auto">
            <a:xfrm>
              <a:off x="8204008" y="861836"/>
              <a:ext cx="1025747" cy="161367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24" name="Picture 4" descr="LLM or large language model icon for AI website and apps 63132258 Vector  Art at Vecteezy">
              <a:extLst>
                <a:ext uri="{FF2B5EF4-FFF2-40B4-BE49-F238E27FC236}">
                  <a16:creationId xmlns:a16="http://schemas.microsoft.com/office/drawing/2014/main" id="{865DFE6B-5024-1B74-C0C6-B5C18C25B636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737536" y="4402235"/>
              <a:ext cx="1207785" cy="118961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cxnSp>
          <p:nvCxnSpPr>
            <p:cNvPr id="28" name="Connecteur droit avec flèche 27">
              <a:extLst>
                <a:ext uri="{FF2B5EF4-FFF2-40B4-BE49-F238E27FC236}">
                  <a16:creationId xmlns:a16="http://schemas.microsoft.com/office/drawing/2014/main" id="{759DED2C-D15A-49AF-3944-2F8AF7EAD704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8120723" y="3650137"/>
              <a:ext cx="233917" cy="233917"/>
            </a:xfrm>
            <a:prstGeom prst="straightConnector1">
              <a:avLst/>
            </a:prstGeom>
            <a:ln w="53975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Connecteur droit avec flèche 28">
              <a:extLst>
                <a:ext uri="{FF2B5EF4-FFF2-40B4-BE49-F238E27FC236}">
                  <a16:creationId xmlns:a16="http://schemas.microsoft.com/office/drawing/2014/main" id="{0D9F5550-C6FE-3850-36FB-3418F948D6BE}"/>
                </a:ext>
              </a:extLst>
            </p:cNvPr>
            <p:cNvCxnSpPr>
              <a:cxnSpLocks/>
            </p:cNvCxnSpPr>
            <p:nvPr/>
          </p:nvCxnSpPr>
          <p:spPr>
            <a:xfrm>
              <a:off x="9107512" y="3650137"/>
              <a:ext cx="233917" cy="233917"/>
            </a:xfrm>
            <a:prstGeom prst="straightConnector1">
              <a:avLst/>
            </a:prstGeom>
            <a:ln w="53975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Connecteur droit avec flèche 29">
              <a:extLst>
                <a:ext uri="{FF2B5EF4-FFF2-40B4-BE49-F238E27FC236}">
                  <a16:creationId xmlns:a16="http://schemas.microsoft.com/office/drawing/2014/main" id="{112D8E29-173A-A22D-65DC-FF222786ABBD}"/>
                </a:ext>
              </a:extLst>
            </p:cNvPr>
            <p:cNvCxnSpPr>
              <a:cxnSpLocks/>
            </p:cNvCxnSpPr>
            <p:nvPr/>
          </p:nvCxnSpPr>
          <p:spPr>
            <a:xfrm>
              <a:off x="8120723" y="4353505"/>
              <a:ext cx="0" cy="1354547"/>
            </a:xfrm>
            <a:prstGeom prst="straightConnector1">
              <a:avLst/>
            </a:prstGeom>
            <a:ln w="53975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3" name="Accolade fermante 32">
              <a:extLst>
                <a:ext uri="{FF2B5EF4-FFF2-40B4-BE49-F238E27FC236}">
                  <a16:creationId xmlns:a16="http://schemas.microsoft.com/office/drawing/2014/main" id="{26758E6B-8BBA-AF70-4B66-77F67F7608BC}"/>
                </a:ext>
              </a:extLst>
            </p:cNvPr>
            <p:cNvSpPr/>
            <p:nvPr/>
          </p:nvSpPr>
          <p:spPr>
            <a:xfrm rot="5400000">
              <a:off x="8543946" y="5008745"/>
              <a:ext cx="345867" cy="1923893"/>
            </a:xfrm>
            <a:prstGeom prst="rightBrace">
              <a:avLst>
                <a:gd name="adj1" fmla="val 63668"/>
                <a:gd name="adj2" fmla="val 50000"/>
              </a:avLst>
            </a:prstGeom>
            <a:ln w="53975"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35" name="ZoneTexte 34">
              <a:extLst>
                <a:ext uri="{FF2B5EF4-FFF2-40B4-BE49-F238E27FC236}">
                  <a16:creationId xmlns:a16="http://schemas.microsoft.com/office/drawing/2014/main" id="{E2392B02-C9D3-63CB-1ADA-3649A74A2984}"/>
                </a:ext>
              </a:extLst>
            </p:cNvPr>
            <p:cNvSpPr txBox="1"/>
            <p:nvPr/>
          </p:nvSpPr>
          <p:spPr>
            <a:xfrm>
              <a:off x="7930933" y="6172871"/>
              <a:ext cx="1571892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fr-FR" dirty="0" err="1"/>
                <a:t>ZenAssist</a:t>
              </a:r>
              <a:endParaRPr lang="fr-FR" dirty="0"/>
            </a:p>
          </p:txBody>
        </p:sp>
      </p:grpSp>
      <p:sp>
        <p:nvSpPr>
          <p:cNvPr id="36" name="ZoneTexte 35">
            <a:extLst>
              <a:ext uri="{FF2B5EF4-FFF2-40B4-BE49-F238E27FC236}">
                <a16:creationId xmlns:a16="http://schemas.microsoft.com/office/drawing/2014/main" id="{F7CF9B3B-403C-7D26-8CC2-5AE325862004}"/>
              </a:ext>
            </a:extLst>
          </p:cNvPr>
          <p:cNvSpPr txBox="1"/>
          <p:nvPr/>
        </p:nvSpPr>
        <p:spPr>
          <a:xfrm>
            <a:off x="838199" y="1690688"/>
            <a:ext cx="5842000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fr-FR" sz="2800" dirty="0"/>
              <a:t>Réserver l'utilisation du LLM aux cas difficiles.</a:t>
            </a:r>
          </a:p>
        </p:txBody>
      </p:sp>
    </p:spTree>
    <p:extLst>
      <p:ext uri="{BB962C8B-B14F-4D97-AF65-F5344CB8AC3E}">
        <p14:creationId xmlns:p14="http://schemas.microsoft.com/office/powerpoint/2010/main" val="3258796197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409E4868-4666-3534-A147-B25C432A19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Comparaison des deux mises en production</a:t>
            </a:r>
          </a:p>
        </p:txBody>
      </p:sp>
      <p:graphicFrame>
        <p:nvGraphicFramePr>
          <p:cNvPr id="4" name="Espace réservé du contenu 3">
            <a:extLst>
              <a:ext uri="{FF2B5EF4-FFF2-40B4-BE49-F238E27FC236}">
                <a16:creationId xmlns:a16="http://schemas.microsoft.com/office/drawing/2014/main" id="{EBEBFFA8-1646-0C4F-0209-11F722195870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4281874336"/>
              </p:ext>
            </p:extLst>
          </p:nvPr>
        </p:nvGraphicFramePr>
        <p:xfrm>
          <a:off x="838200" y="1576179"/>
          <a:ext cx="10641864" cy="4754412"/>
        </p:xfrm>
        <a:graphic>
          <a:graphicData uri="http://schemas.openxmlformats.org/drawingml/2006/table">
            <a:tbl>
              <a:tblPr>
                <a:tableStyleId>{775DCB02-9BB8-47FD-8907-85C794F793BA}</a:tableStyleId>
              </a:tblPr>
              <a:tblGrid>
                <a:gridCol w="3547288">
                  <a:extLst>
                    <a:ext uri="{9D8B030D-6E8A-4147-A177-3AD203B41FA5}">
                      <a16:colId xmlns:a16="http://schemas.microsoft.com/office/drawing/2014/main" val="1437890628"/>
                    </a:ext>
                  </a:extLst>
                </a:gridCol>
                <a:gridCol w="3547288">
                  <a:extLst>
                    <a:ext uri="{9D8B030D-6E8A-4147-A177-3AD203B41FA5}">
                      <a16:colId xmlns:a16="http://schemas.microsoft.com/office/drawing/2014/main" val="3250688917"/>
                    </a:ext>
                  </a:extLst>
                </a:gridCol>
                <a:gridCol w="3547288">
                  <a:extLst>
                    <a:ext uri="{9D8B030D-6E8A-4147-A177-3AD203B41FA5}">
                      <a16:colId xmlns:a16="http://schemas.microsoft.com/office/drawing/2014/main" val="3491845410"/>
                    </a:ext>
                  </a:extLst>
                </a:gridCol>
              </a:tblGrid>
              <a:tr h="39620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600" b="1" dirty="0"/>
                        <a:t>Critère</a:t>
                      </a:r>
                    </a:p>
                  </a:txBody>
                  <a:tcPr marL="77702" marR="77702" marT="38851" marB="38851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600" b="1" dirty="0"/>
                        <a:t>ML</a:t>
                      </a:r>
                    </a:p>
                  </a:txBody>
                  <a:tcPr marL="77702" marR="77702" marT="38851" marB="38851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600" b="1" dirty="0"/>
                        <a:t>LLM (Mistral Small)</a:t>
                      </a:r>
                    </a:p>
                  </a:txBody>
                  <a:tcPr marL="77702" marR="77702" marT="38851" marB="38851" anchor="ctr"/>
                </a:tc>
                <a:extLst>
                  <a:ext uri="{0D108BD9-81ED-4DB2-BD59-A6C34878D82A}">
                    <a16:rowId xmlns:a16="http://schemas.microsoft.com/office/drawing/2014/main" val="1519457471"/>
                  </a:ext>
                </a:extLst>
              </a:tr>
              <a:tr h="39620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600" b="1" dirty="0"/>
                        <a:t>Hébergement</a:t>
                      </a:r>
                    </a:p>
                  </a:txBody>
                  <a:tcPr marL="77702" marR="77702" marT="38851" marB="38851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600"/>
                        <a:t>Interne/cloud</a:t>
                      </a:r>
                    </a:p>
                  </a:txBody>
                  <a:tcPr marL="77702" marR="77702" marT="38851" marB="38851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600" dirty="0"/>
                        <a:t>API Mistral</a:t>
                      </a:r>
                    </a:p>
                  </a:txBody>
                  <a:tcPr marL="77702" marR="77702" marT="38851" marB="38851" anchor="ctr"/>
                </a:tc>
                <a:extLst>
                  <a:ext uri="{0D108BD9-81ED-4DB2-BD59-A6C34878D82A}">
                    <a16:rowId xmlns:a16="http://schemas.microsoft.com/office/drawing/2014/main" val="3453358722"/>
                  </a:ext>
                </a:extLst>
              </a:tr>
              <a:tr h="39620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600" b="1"/>
                        <a:t>Latence</a:t>
                      </a:r>
                    </a:p>
                  </a:txBody>
                  <a:tcPr marL="77702" marR="77702" marT="38851" marB="38851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600"/>
                        <a:t>Très faible</a:t>
                      </a:r>
                    </a:p>
                  </a:txBody>
                  <a:tcPr marL="77702" marR="77702" marT="38851" marB="38851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600" dirty="0"/>
                        <a:t>Elevée</a:t>
                      </a:r>
                    </a:p>
                  </a:txBody>
                  <a:tcPr marL="77702" marR="77702" marT="38851" marB="38851" anchor="ctr"/>
                </a:tc>
                <a:extLst>
                  <a:ext uri="{0D108BD9-81ED-4DB2-BD59-A6C34878D82A}">
                    <a16:rowId xmlns:a16="http://schemas.microsoft.com/office/drawing/2014/main" val="4113768974"/>
                  </a:ext>
                </a:extLst>
              </a:tr>
              <a:tr h="39620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600" b="1" dirty="0"/>
                        <a:t>Coût pour 1000 requêtes</a:t>
                      </a:r>
                    </a:p>
                  </a:txBody>
                  <a:tcPr marL="77702" marR="77702" marT="38851" marB="38851"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600" dirty="0"/>
                        <a:t>Très faible</a:t>
                      </a:r>
                    </a:p>
                  </a:txBody>
                  <a:tcPr marL="77702" marR="77702" marT="38851" marB="38851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600" dirty="0"/>
                        <a:t>~ 0,54 $ - (~4,58 $ medium)</a:t>
                      </a:r>
                    </a:p>
                  </a:txBody>
                  <a:tcPr marL="77702" marR="77702" marT="38851" marB="38851" anchor="ctr"/>
                </a:tc>
                <a:extLst>
                  <a:ext uri="{0D108BD9-81ED-4DB2-BD59-A6C34878D82A}">
                    <a16:rowId xmlns:a16="http://schemas.microsoft.com/office/drawing/2014/main" val="2770880341"/>
                  </a:ext>
                </a:extLst>
              </a:tr>
              <a:tr h="39620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600" b="1" dirty="0"/>
                        <a:t>Taux traitement heure</a:t>
                      </a:r>
                      <a:r>
                        <a:rPr lang="fr-FR" sz="1600" dirty="0"/>
                        <a:t> (synchrone)</a:t>
                      </a:r>
                      <a:endParaRPr lang="fr-FR" sz="1600" b="1" dirty="0"/>
                    </a:p>
                  </a:txBody>
                  <a:tcPr marL="77702" marR="77702" marT="38851" marB="38851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600" dirty="0"/>
                        <a:t>~ 3 600 000 requêtes / h</a:t>
                      </a:r>
                    </a:p>
                  </a:txBody>
                  <a:tcPr marL="77702" marR="77702" marT="38851" marB="38851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600" dirty="0"/>
                        <a:t>~ 1 000 requêtes / h - (650 / h medium)</a:t>
                      </a:r>
                    </a:p>
                  </a:txBody>
                  <a:tcPr marL="77702" marR="77702" marT="38851" marB="38851" anchor="ctr"/>
                </a:tc>
                <a:extLst>
                  <a:ext uri="{0D108BD9-81ED-4DB2-BD59-A6C34878D82A}">
                    <a16:rowId xmlns:a16="http://schemas.microsoft.com/office/drawing/2014/main" val="1219782378"/>
                  </a:ext>
                </a:extLst>
              </a:tr>
              <a:tr h="39620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600" b="1" dirty="0"/>
                        <a:t>Internet nécessaire</a:t>
                      </a:r>
                    </a:p>
                  </a:txBody>
                  <a:tcPr marL="77702" marR="77702" marT="38851" marB="38851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600"/>
                        <a:t>Non</a:t>
                      </a:r>
                    </a:p>
                  </a:txBody>
                  <a:tcPr marL="77702" marR="77702" marT="38851" marB="38851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600" dirty="0"/>
                        <a:t>Oui</a:t>
                      </a:r>
                    </a:p>
                  </a:txBody>
                  <a:tcPr marL="77702" marR="77702" marT="38851" marB="38851" anchor="ctr"/>
                </a:tc>
                <a:extLst>
                  <a:ext uri="{0D108BD9-81ED-4DB2-BD59-A6C34878D82A}">
                    <a16:rowId xmlns:a16="http://schemas.microsoft.com/office/drawing/2014/main" val="3834876339"/>
                  </a:ext>
                </a:extLst>
              </a:tr>
              <a:tr h="39620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600" b="1" dirty="0"/>
                        <a:t>Mise à jour</a:t>
                      </a:r>
                    </a:p>
                  </a:txBody>
                  <a:tcPr marL="77702" marR="77702" marT="38851" marB="38851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600" dirty="0"/>
                        <a:t>Réentraînement modèle</a:t>
                      </a:r>
                    </a:p>
                  </a:txBody>
                  <a:tcPr marL="77702" marR="77702" marT="38851" marB="38851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600" dirty="0" err="1"/>
                        <a:t>MaJ</a:t>
                      </a:r>
                      <a:r>
                        <a:rPr lang="fr-FR" sz="1600" dirty="0"/>
                        <a:t> Prompt/RAG/modèle</a:t>
                      </a:r>
                    </a:p>
                  </a:txBody>
                  <a:tcPr marL="77702" marR="77702" marT="38851" marB="38851" anchor="ctr"/>
                </a:tc>
                <a:extLst>
                  <a:ext uri="{0D108BD9-81ED-4DB2-BD59-A6C34878D82A}">
                    <a16:rowId xmlns:a16="http://schemas.microsoft.com/office/drawing/2014/main" val="391584881"/>
                  </a:ext>
                </a:extLst>
              </a:tr>
              <a:tr h="39620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600" b="1" dirty="0"/>
                        <a:t>Données envoyées à un tiers</a:t>
                      </a:r>
                    </a:p>
                  </a:txBody>
                  <a:tcPr marL="77702" marR="77702" marT="38851" marB="38851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600" dirty="0"/>
                        <a:t>Non</a:t>
                      </a:r>
                    </a:p>
                  </a:txBody>
                  <a:tcPr marL="77702" marR="77702" marT="38851" marB="38851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600" dirty="0"/>
                        <a:t>Oui</a:t>
                      </a:r>
                    </a:p>
                  </a:txBody>
                  <a:tcPr marL="77702" marR="77702" marT="38851" marB="38851" anchor="ctr"/>
                </a:tc>
                <a:extLst>
                  <a:ext uri="{0D108BD9-81ED-4DB2-BD59-A6C34878D82A}">
                    <a16:rowId xmlns:a16="http://schemas.microsoft.com/office/drawing/2014/main" val="1795769970"/>
                  </a:ext>
                </a:extLst>
              </a:tr>
              <a:tr h="39620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600" b="1" dirty="0"/>
                        <a:t>Monitoring</a:t>
                      </a:r>
                    </a:p>
                  </a:txBody>
                  <a:tcPr marL="77702" marR="77702" marT="38851" marB="38851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600"/>
                        <a:t>Classique</a:t>
                      </a:r>
                    </a:p>
                  </a:txBody>
                  <a:tcPr marL="77702" marR="77702" marT="38851" marB="38851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600"/>
                        <a:t>Classique + coûts/tokens</a:t>
                      </a:r>
                    </a:p>
                  </a:txBody>
                  <a:tcPr marL="77702" marR="77702" marT="38851" marB="38851" anchor="ctr"/>
                </a:tc>
                <a:extLst>
                  <a:ext uri="{0D108BD9-81ED-4DB2-BD59-A6C34878D82A}">
                    <a16:rowId xmlns:a16="http://schemas.microsoft.com/office/drawing/2014/main" val="823374554"/>
                  </a:ext>
                </a:extLst>
              </a:tr>
              <a:tr h="39620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600" b="1" dirty="0"/>
                        <a:t>Scalabilité</a:t>
                      </a:r>
                    </a:p>
                  </a:txBody>
                  <a:tcPr marL="77702" marR="77702" marT="38851" marB="38851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600"/>
                        <a:t>Très facile</a:t>
                      </a:r>
                    </a:p>
                  </a:txBody>
                  <a:tcPr marL="77702" marR="77702" marT="38851" marB="38851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600"/>
                        <a:t>Facile mais coûteuse</a:t>
                      </a:r>
                    </a:p>
                  </a:txBody>
                  <a:tcPr marL="77702" marR="77702" marT="38851" marB="38851" anchor="ctr"/>
                </a:tc>
                <a:extLst>
                  <a:ext uri="{0D108BD9-81ED-4DB2-BD59-A6C34878D82A}">
                    <a16:rowId xmlns:a16="http://schemas.microsoft.com/office/drawing/2014/main" val="1052919813"/>
                  </a:ext>
                </a:extLst>
              </a:tr>
              <a:tr h="39620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600" b="1" dirty="0"/>
                        <a:t>Maintenance</a:t>
                      </a:r>
                    </a:p>
                  </a:txBody>
                  <a:tcPr marL="77702" marR="77702" marT="38851" marB="38851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600"/>
                        <a:t>Modèle à réentraîner</a:t>
                      </a:r>
                    </a:p>
                  </a:txBody>
                  <a:tcPr marL="77702" marR="77702" marT="38851" marB="38851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600" dirty="0"/>
                        <a:t>Prompt + RAG + modèle</a:t>
                      </a:r>
                    </a:p>
                  </a:txBody>
                  <a:tcPr marL="77702" marR="77702" marT="38851" marB="38851" anchor="ctr"/>
                </a:tc>
                <a:extLst>
                  <a:ext uri="{0D108BD9-81ED-4DB2-BD59-A6C34878D82A}">
                    <a16:rowId xmlns:a16="http://schemas.microsoft.com/office/drawing/2014/main" val="2038879346"/>
                  </a:ext>
                </a:extLst>
              </a:tr>
              <a:tr h="39620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600" b="1" dirty="0"/>
                        <a:t>Dépendance fournisseur</a:t>
                      </a:r>
                    </a:p>
                  </a:txBody>
                  <a:tcPr marL="77702" marR="77702" marT="38851" marB="38851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600" dirty="0"/>
                        <a:t>Faible</a:t>
                      </a:r>
                    </a:p>
                  </a:txBody>
                  <a:tcPr marL="77702" marR="77702" marT="38851" marB="38851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600" dirty="0"/>
                        <a:t>Forte</a:t>
                      </a:r>
                    </a:p>
                  </a:txBody>
                  <a:tcPr marL="77702" marR="77702" marT="38851" marB="38851" anchor="ctr"/>
                </a:tc>
                <a:extLst>
                  <a:ext uri="{0D108BD9-81ED-4DB2-BD59-A6C34878D82A}">
                    <a16:rowId xmlns:a16="http://schemas.microsoft.com/office/drawing/2014/main" val="293316791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380335096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B159CC3F-35D3-E96B-7DE3-02F914F180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D2FF3E20-34AF-25AD-C08B-D5B59525207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fr-FR" dirty="0"/>
              <a:t>Associer un texte automatiquement en fonction de la réclamation pour étendre la surface de prise en charge</a:t>
            </a:r>
          </a:p>
          <a:p>
            <a:endParaRPr lang="fr-FR" dirty="0"/>
          </a:p>
          <a:p>
            <a:r>
              <a:rPr lang="fr-FR" dirty="0"/>
              <a:t>Le modèle est globalement performant, mais les catégories très minoritaires restent difficiles à prédire. La catégorie « </a:t>
            </a:r>
            <a:r>
              <a:rPr lang="fr-FR" dirty="0" err="1"/>
              <a:t>Other</a:t>
            </a:r>
            <a:r>
              <a:rPr lang="fr-FR" dirty="0"/>
              <a:t> </a:t>
            </a:r>
            <a:r>
              <a:rPr lang="fr-FR" dirty="0" err="1"/>
              <a:t>financial</a:t>
            </a:r>
            <a:r>
              <a:rPr lang="fr-FR" dirty="0"/>
              <a:t> service » est trop vague</a:t>
            </a:r>
          </a:p>
          <a:p>
            <a:endParaRPr lang="fr-FR" dirty="0"/>
          </a:p>
          <a:p>
            <a:r>
              <a:rPr lang="fr-FR" dirty="0"/>
              <a:t>Les performances varient fortement selon les catégories. Les catégories majoritaires et sémantiquement bien caractérisées sont correctement identifiées, tandis que les catégories minoritaires présentent un </a:t>
            </a:r>
            <a:r>
              <a:rPr lang="fr-FR" dirty="0" err="1"/>
              <a:t>recall</a:t>
            </a:r>
            <a:r>
              <a:rPr lang="fr-FR" dirty="0"/>
              <a:t> plus faible.</a:t>
            </a:r>
          </a:p>
        </p:txBody>
      </p:sp>
    </p:spTree>
    <p:extLst>
      <p:ext uri="{BB962C8B-B14F-4D97-AF65-F5344CB8AC3E}">
        <p14:creationId xmlns:p14="http://schemas.microsoft.com/office/powerpoint/2010/main" val="2215893546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50" name="Picture 2" descr="merci – Simple Slide">
            <a:extLst>
              <a:ext uri="{FF2B5EF4-FFF2-40B4-BE49-F238E27FC236}">
                <a16:creationId xmlns:a16="http://schemas.microsoft.com/office/drawing/2014/main" id="{BB5EE8A3-759E-0507-EF57-72BF1F193F5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990975" y="2814638"/>
            <a:ext cx="4210050" cy="12287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988253673"/>
      </p:ext>
    </p:extLst>
  </p:cSld>
  <p:clrMapOvr>
    <a:masterClrMapping/>
  </p:clrMapOvr>
</p:sld>
</file>

<file path=ppt/theme/theme1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2878</TotalTime>
  <Words>1471</Words>
  <Application>Microsoft Office PowerPoint</Application>
  <PresentationFormat>Grand écran</PresentationFormat>
  <Paragraphs>263</Paragraphs>
  <Slides>30</Slides>
  <Notes>15</Notes>
  <HiddenSlides>0</HiddenSlides>
  <MMClips>0</MMClips>
  <ScaleCrop>false</ScaleCrop>
  <HeadingPairs>
    <vt:vector size="6" baseType="variant">
      <vt:variant>
        <vt:lpstr>Polices utilisées</vt:lpstr>
      </vt:variant>
      <vt:variant>
        <vt:i4>6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30</vt:i4>
      </vt:variant>
    </vt:vector>
  </HeadingPairs>
  <TitlesOfParts>
    <vt:vector size="37" baseType="lpstr">
      <vt:lpstr>Arial</vt:lpstr>
      <vt:lpstr>Arial Black</vt:lpstr>
      <vt:lpstr>Calibri</vt:lpstr>
      <vt:lpstr>Calibri Light</vt:lpstr>
      <vt:lpstr>Segoe UI Black</vt:lpstr>
      <vt:lpstr>Symbol</vt:lpstr>
      <vt:lpstr>Thème Office</vt:lpstr>
      <vt:lpstr>Zen-Assist</vt:lpstr>
      <vt:lpstr>Contexte</vt:lpstr>
      <vt:lpstr>Analyse exploratoire des données</vt:lpstr>
      <vt:lpstr>Présentation PowerPoint</vt:lpstr>
      <vt:lpstr>Présentation PowerPoint</vt:lpstr>
      <vt:lpstr>Cible (catégorie)</vt:lpstr>
      <vt:lpstr>Dispersion Texte / Catégorie</vt:lpstr>
      <vt:lpstr>Dataset</vt:lpstr>
      <vt:lpstr>Split train / test</vt:lpstr>
      <vt:lpstr>Les métriques SCORES</vt:lpstr>
      <vt:lpstr>Métriques</vt:lpstr>
      <vt:lpstr>Implémentation L’approche LLM</vt:lpstr>
      <vt:lpstr>Approche LLM</vt:lpstr>
      <vt:lpstr>Approche LLM</vt:lpstr>
      <vt:lpstr>Analyse par catégorie</vt:lpstr>
      <vt:lpstr>Implémentation L’approche ML</vt:lpstr>
      <vt:lpstr>Approche ML</vt:lpstr>
      <vt:lpstr>Approche ML</vt:lpstr>
      <vt:lpstr>Analyse par catégorie</vt:lpstr>
      <vt:lpstr>Présentation PowerPoint</vt:lpstr>
      <vt:lpstr>Déploiement L’approche LLM</vt:lpstr>
      <vt:lpstr>Déploiement LLM</vt:lpstr>
      <vt:lpstr>Déploiement L’approche ML</vt:lpstr>
      <vt:lpstr>Déploiement ML</vt:lpstr>
      <vt:lpstr>Cycle de vie ML</vt:lpstr>
      <vt:lpstr>Déploiement L’approche Hybride</vt:lpstr>
      <vt:lpstr>Déploiement Hybride</vt:lpstr>
      <vt:lpstr>Comparaison des deux mises en production</vt:lpstr>
      <vt:lpstr>Présentation PowerPoint</vt:lpstr>
      <vt:lpstr>Présentation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thomas auguey</dc:creator>
  <cp:lastModifiedBy>thomas auguey</cp:lastModifiedBy>
  <cp:revision>152</cp:revision>
  <dcterms:created xsi:type="dcterms:W3CDTF">2026-08-19T10:14:18Z</dcterms:created>
  <dcterms:modified xsi:type="dcterms:W3CDTF">2026-08-26T16:36:17Z</dcterms:modified>
</cp:coreProperties>
</file>