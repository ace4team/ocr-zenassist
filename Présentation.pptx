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9" r:id="rId2"/>
    <p:sldId id="260" r:id="rId3"/>
    <p:sldId id="258" r:id="rId4"/>
    <p:sldId id="261" r:id="rId5"/>
    <p:sldId id="269" r:id="rId6"/>
    <p:sldId id="263" r:id="rId7"/>
    <p:sldId id="262" r:id="rId8"/>
    <p:sldId id="257" r:id="rId9"/>
    <p:sldId id="267" r:id="rId10"/>
    <p:sldId id="272" r:id="rId11"/>
    <p:sldId id="271" r:id="rId12"/>
    <p:sldId id="274" r:id="rId13"/>
    <p:sldId id="264" r:id="rId14"/>
    <p:sldId id="266" r:id="rId15"/>
    <p:sldId id="265" r:id="rId16"/>
    <p:sldId id="268" r:id="rId17"/>
    <p:sldId id="273" r:id="rId18"/>
    <p:sldId id="270" r:id="rId19"/>
    <p:sldId id="275" r:id="rId2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974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79575" autoAdjust="0"/>
  </p:normalViewPr>
  <p:slideViewPr>
    <p:cSldViewPr snapToGrid="0">
      <p:cViewPr varScale="1">
        <p:scale>
          <a:sx n="90" d="100"/>
          <a:sy n="90" d="100"/>
        </p:scale>
        <p:origin x="133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7E1AE0-F169-4B04-AC31-32DDA66614B2}" type="datetimeFigureOut">
              <a:rPr lang="fr-FR" smtClean="0"/>
              <a:t>24/08/2026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34364E-57BD-44F2-A53B-320C3BD2F0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998103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6714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Consumer Claim = principale variable prédictive</a:t>
            </a:r>
          </a:p>
          <a:p>
            <a:r>
              <a:rPr lang="fr-FR" dirty="0"/>
              <a:t>Mais :</a:t>
            </a:r>
          </a:p>
          <a:p>
            <a:r>
              <a:rPr lang="fr-FR" dirty="0"/>
              <a:t>valeurs manquantes</a:t>
            </a:r>
          </a:p>
          <a:p>
            <a:r>
              <a:rPr lang="fr-FR" dirty="0"/>
              <a:t>texte dépendant du canal de soumission</a:t>
            </a:r>
          </a:p>
          <a:p>
            <a:r>
              <a:rPr lang="fr-FR" dirty="0"/>
              <a:t>couverture limitée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69126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E96AE-B874-9034-D75B-3302F54B9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E83F4D3-FA79-A676-4F0E-65E641B5B5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E08A445-B6C8-5EF0-1626-9DC3F137F4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Exception de « 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Prêt à la consommation » </a:t>
            </a:r>
            <a:r>
              <a:rPr lang="fr-FR" dirty="0"/>
              <a:t>dont le sens métier doit être définit par rapport à « 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prêt sur salaire, prêt sur gage ou prêt personne »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4B5003E-E9A2-CD10-2CF9-A29F155819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78230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ABCFC-C601-FC86-72E6-68A2F6B2D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4C068F6-3811-D51D-BE0C-400BEDEE5A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87915BC-08E2-112D-1A65-C7CE166BD2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les labels ont été normalisés vers la nomenclature récente afin d'obtenir une cible cohérente pour l'apprentissage.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E6560D0-8889-9F40-E525-B04C39C2C1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815580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Exception de « 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Prêt à la consommation » </a:t>
            </a:r>
            <a:r>
              <a:rPr lang="fr-FR" dirty="0"/>
              <a:t>dont le sens métier doit être définit par rapport à « 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prêt sur salaire, prêt sur gage ou prêt personne »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59779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i="1" dirty="0"/>
              <a:t>Note : La recherche d'exemples ciblés s'appuie sur le modèle d'</a:t>
            </a:r>
            <a:r>
              <a:rPr lang="fr-FR" i="1" dirty="0" err="1"/>
              <a:t>embedding</a:t>
            </a:r>
            <a:r>
              <a:rPr lang="fr-FR" i="1" dirty="0"/>
              <a:t> </a:t>
            </a:r>
            <a:r>
              <a:rPr lang="fr-FR" sz="1200" i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sentence-</a:t>
            </a:r>
            <a:r>
              <a:rPr lang="fr-FR" sz="1200" i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transformers</a:t>
            </a:r>
            <a:r>
              <a:rPr lang="fr-FR" sz="1200" i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/all-MiniLM-L6-v2</a:t>
            </a:r>
            <a:r>
              <a:rPr lang="fr-FR" i="1" dirty="0"/>
              <a:t>.</a:t>
            </a:r>
            <a:endParaRPr lang="fr-FR" dirty="0"/>
          </a:p>
          <a:p>
            <a:r>
              <a:rPr lang="fr-FR" b="1" dirty="0"/>
              <a:t>Points clés à souligner dans votre analyse</a:t>
            </a:r>
          </a:p>
          <a:p>
            <a:r>
              <a:rPr lang="fr-FR" b="1" dirty="0"/>
              <a:t>L'impact du Few-Shot ciblé (RAG / </a:t>
            </a:r>
            <a:r>
              <a:rPr lang="fr-FR" b="1" dirty="0" err="1"/>
              <a:t>Similarity</a:t>
            </a:r>
            <a:r>
              <a:rPr lang="fr-FR" b="1" dirty="0"/>
              <a:t> </a:t>
            </a:r>
            <a:r>
              <a:rPr lang="fr-FR" b="1" dirty="0" err="1"/>
              <a:t>Search</a:t>
            </a:r>
            <a:r>
              <a:rPr lang="fr-FR" b="1" dirty="0"/>
              <a:t>) :</a:t>
            </a:r>
            <a:r>
              <a:rPr lang="fr-FR" dirty="0"/>
              <a:t> La sélection dynamique d'exemples proches via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all-MiniLM-L6-v2</a:t>
            </a:r>
            <a:r>
              <a:rPr lang="fr-FR" dirty="0"/>
              <a:t> apporte le gain de précision le plus fort (+25 % d'</a:t>
            </a:r>
            <a:r>
              <a:rPr lang="fr-FR" dirty="0" err="1"/>
              <a:t>Accuracy</a:t>
            </a:r>
            <a:r>
              <a:rPr lang="fr-FR" dirty="0"/>
              <a:t> et +22,17 % de F1 </a:t>
            </a:r>
            <a:r>
              <a:rPr lang="fr-FR" dirty="0" err="1"/>
              <a:t>Weighted</a:t>
            </a:r>
            <a:r>
              <a:rPr lang="fr-FR" dirty="0"/>
              <a:t> sur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mistral-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small</a:t>
            </a:r>
            <a:r>
              <a:rPr lang="fr-FR" dirty="0"/>
              <a:t>).</a:t>
            </a:r>
          </a:p>
          <a:p>
            <a:r>
              <a:rPr lang="fr-FR" b="1" dirty="0"/>
              <a:t>L'écart Macro vs </a:t>
            </a:r>
            <a:r>
              <a:rPr lang="fr-FR" b="1" dirty="0" err="1"/>
              <a:t>Weighted</a:t>
            </a:r>
            <a:r>
              <a:rPr lang="fr-FR" b="1" dirty="0"/>
              <a:t> (Déséquilibre de classes) :</a:t>
            </a:r>
            <a:r>
              <a:rPr lang="fr-FR" dirty="0"/>
              <a:t> Le </a:t>
            </a:r>
            <a:r>
              <a:rPr lang="fr-FR" b="1" dirty="0"/>
              <a:t>F1 </a:t>
            </a:r>
            <a:r>
              <a:rPr lang="fr-FR" b="1" dirty="0" err="1"/>
              <a:t>Weighted</a:t>
            </a:r>
            <a:r>
              <a:rPr lang="fr-FR" dirty="0"/>
              <a:t> est nettement supérieur au </a:t>
            </a:r>
            <a:r>
              <a:rPr lang="fr-FR" b="1" dirty="0"/>
              <a:t>F1 Macro</a:t>
            </a:r>
            <a:r>
              <a:rPr lang="fr-FR" dirty="0"/>
              <a:t> (ex. 69,20 % vs 40,92 % sur le test final). Cela indique que le modèle fonctionne très bien sur les classes majoritaires, mais peine sur les catégories sous-représentées.</a:t>
            </a:r>
          </a:p>
          <a:p>
            <a:r>
              <a:rPr lang="fr-FR" b="1" dirty="0"/>
              <a:t>Le compromis Précision / Latence (Small vs Medium) :</a:t>
            </a:r>
            <a:endParaRPr lang="fr-FR" dirty="0"/>
          </a:p>
          <a:p>
            <a:pPr lvl="1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mistral-medium</a:t>
            </a:r>
            <a:r>
              <a:rPr lang="fr-FR" dirty="0"/>
              <a:t> offre la meilleure performance globale (</a:t>
            </a:r>
            <a:r>
              <a:rPr lang="fr-FR" b="1" dirty="0"/>
              <a:t>85 % </a:t>
            </a:r>
            <a:r>
              <a:rPr lang="fr-FR" b="1" dirty="0" err="1"/>
              <a:t>Accuracy</a:t>
            </a:r>
            <a:r>
              <a:rPr lang="fr-FR" dirty="0"/>
              <a:t>), mais avec une latence P95 prohibitive (</a:t>
            </a:r>
            <a:r>
              <a:rPr lang="fr-FR" b="1" dirty="0"/>
              <a:t>61 secondes</a:t>
            </a:r>
            <a:r>
              <a:rPr lang="fr-FR" dirty="0"/>
              <a:t>), inadaptée à un usage temps réel.</a:t>
            </a:r>
          </a:p>
          <a:p>
            <a:pPr lvl="1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mistral-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small</a:t>
            </a:r>
            <a:r>
              <a:rPr lang="fr-FR" dirty="0"/>
              <a:t> avec RAG constitue le meilleur compromis opérationnel, maintenant un temps médian autour de </a:t>
            </a:r>
            <a:r>
              <a:rPr lang="fr-FR" b="1" dirty="0"/>
              <a:t>0,45 s</a:t>
            </a:r>
            <a:r>
              <a:rPr lang="fr-FR" dirty="0"/>
              <a:t>.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4269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="1" dirty="0" err="1"/>
              <a:t>Accuracy_score</a:t>
            </a:r>
            <a:r>
              <a:rPr lang="fr-FR" b="1" dirty="0"/>
              <a:t>: 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Intéressante comme indicateur général, mais ne doit pas être la métrique principale avec un 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fortement déséquilibré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Precision</a:t>
            </a:r>
            <a:r>
              <a:rPr lang="fr-F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macro: 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Chaque catégorie possède ici le même poids.</a:t>
            </a:r>
          </a:p>
          <a:p>
            <a:r>
              <a:rPr lang="fr-F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Recall</a:t>
            </a:r>
            <a:r>
              <a:rPr lang="fr-F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macro:</a:t>
            </a: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 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recall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est particulièrement intéressant dans notre contexte :</a:t>
            </a:r>
          </a:p>
          <a:p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Parmi les réclamations réellement appartenant à une catégorie, combien sont correctement orientées vers cette catégorie ?</a:t>
            </a:r>
          </a:p>
          <a:p>
            <a:r>
              <a:rPr lang="fr-F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F1 macro:</a:t>
            </a: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F1 macro comme métrique principale.</a:t>
            </a:r>
          </a:p>
          <a:p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Pourquoi ?</a:t>
            </a:r>
          </a:p>
          <a:p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Parce qu'elle donne autant d'importance à 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Other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financial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service qu'à 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Credit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reporting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C'est cohérent avec la problématique métier : une catégorie minoritaire ne doit pas être complètement ignorée simplement parce qu'elle est peu représentée.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11473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EAC790-54F0-77E6-0495-4B726974AC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D0A0C0B-06F1-C6D3-D31D-721CD1E765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9FBEF1A-12FC-7C30-F911-36EF9601FC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24/08/2026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24B7408-50A4-15D0-D40F-145FF7652B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F9AC22B-49BE-5771-0D1D-2EF067499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899274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44A896-587F-94A2-FE53-C9FFEE4F5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7AA686-D8E5-7A60-F264-DE984D23A0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0524EDA-7181-58F4-43F4-ABA065845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24/08/2026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9880104-3534-1A2B-1BF0-F8D73ED29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2C57B4B-AD54-3402-0A02-39A738B63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4737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33606B5-D084-0503-2EB1-71F9E4E8A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AB5AC34-2708-C40F-1630-1F4D1A913F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019395D-E99E-CE64-2ECE-47677975F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24/08/2026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78E16BF-E2CD-AF7D-22E8-2BC871B8E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0CA4A53-6C7B-9556-6AAA-E905E0E19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50223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09FA28-6DC7-0B13-C1B1-4C8EEC3A2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96BFCA9-905F-7E2F-DFD9-567B9FD4C7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2984400-8C4F-C118-3AED-BAD41AE447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4665490-9973-7AA2-E692-B2220B31D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24/08/2026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46BF53-CC54-ADC2-E218-793569CFF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401DC64-7016-3799-837F-3FB27198C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973035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E1C640-8912-FB46-FFC5-4E0878201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0E7B651-E953-286A-BF21-3133D44E81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4ACF0B5-7A0F-8ACF-CB1B-4204A73738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16C1DF0-F53B-E3D3-8298-A772F8D4C1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B5D932D-414E-E3CE-F62E-308ED95B23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5850181-365A-3AAD-CE67-9BF3651B4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24/08/2026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8FAE459-3126-29D9-5D38-183D498B8E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F44B411-765B-6A88-8CF6-FA4B870C3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09643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AB012C-2EBC-136B-2EC7-7A9686EAD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4273742-CA3C-4DFB-2101-7D9692EC4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24/08/2026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7440EAB-1083-A553-C642-10C7601BE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3EAE0B9-B310-F842-BA47-D882BA9B8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13767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A7882F1-904D-C824-903E-2343CBD2A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24/08/2026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3DFF9AE-6A37-0C3E-9B26-63BEF0C79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E8E6A06-317E-4034-C32D-AAC42A413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1902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66925A-6D3A-CA88-C062-E462E6A30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A5EADB8-B735-D895-C4EC-2713F1C2E9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FB80BA1-BFD2-DC8F-DDD6-33CB2AFD72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CBE016F-EC11-C5B8-D92E-0017EA49D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24/08/2026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434A821-C63C-B58F-1989-8337D8430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27417BD-7570-3566-DEEC-58CC0A7C3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98425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444DBF-F190-4A2A-50CA-4FDA1E026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155683D-8C5C-E087-CE4A-C244235933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10C0C53-3C36-63A8-A7FF-0C09AE8F19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6B03AD9-75DB-6F2E-3232-63082F07B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24/08/2026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EB17CF3-7312-719D-5896-3D292EC02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25C999A-6A02-9175-630E-364CAC474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8583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005210-BD15-4CE9-A78D-73B4F81FC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61BBCDF-23B6-91FA-A701-F5A4DB5A3F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FE8F324-000B-B1C6-C2CD-65A25A042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24/08/2026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A32961A-B483-491D-4905-B41380AE8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AA8E2CF-AC95-D909-DA9B-B2AEF9E6D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90068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CC9262D-83A1-01B4-532D-2E67A9741A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57D7CAE-074C-CB2B-773A-383BE08EF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7EB7261-E5D4-CDD8-106F-86C5E9FBA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24/08/2026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6D22489-E9CB-0776-9C29-8740858B3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F291AA1-7E4A-98EA-F234-8C227B1E6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79548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9C80B7AC-CB1F-1391-6A05-280FAC9B1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25B04DD-F619-628F-B169-33EBEEE1C9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CDA1877-540F-903B-52B7-FEF2D8CA81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1BD361-66C9-484E-B214-6DC7693ABA43}" type="datetimeFigureOut">
              <a:rPr lang="fr-FR" smtClean="0"/>
              <a:t>24/08/2026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D334CBB-2909-19BD-004D-1D22881360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A5BDDA-D098-9091-C08C-EB3F397A12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254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E47326-BC3E-AE01-B8E5-5C0FC58C8C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772" y="460818"/>
            <a:ext cx="10515600" cy="1049005"/>
          </a:xfrm>
          <a:solidFill>
            <a:srgbClr val="1974B4"/>
          </a:solidFill>
          <a:ln w="38100">
            <a:solidFill>
              <a:schemeClr val="accent5">
                <a:lumMod val="60000"/>
                <a:lumOff val="40000"/>
              </a:schemeClr>
            </a:solidFill>
            <a:prstDash val="solid"/>
          </a:ln>
        </p:spPr>
        <p:txBody>
          <a:bodyPr>
            <a:normAutofit fontScale="90000"/>
          </a:bodyPr>
          <a:lstStyle/>
          <a:p>
            <a:pPr marL="792000">
              <a:lnSpc>
                <a:spcPct val="100000"/>
              </a:lnSpc>
            </a:pPr>
            <a:r>
              <a:rPr lang="fr-FR" sz="6600" dirty="0">
                <a:solidFill>
                  <a:schemeClr val="bg1"/>
                </a:solidFill>
                <a:latin typeface="Arial Black" panose="020B0A04020102020204" pitchFamily="34" charset="0"/>
              </a:rPr>
              <a:t>Zen-Assist</a:t>
            </a:r>
            <a:endParaRPr lang="fr-FR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E80457F-CF9C-70F5-482D-B2523A2897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300000">
            <a:off x="9962134" y="79428"/>
            <a:ext cx="1905888" cy="1905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 descr="OpenClassrooms | Spreadshop">
            <a:extLst>
              <a:ext uri="{FF2B5EF4-FFF2-40B4-BE49-F238E27FC236}">
                <a16:creationId xmlns:a16="http://schemas.microsoft.com/office/drawing/2014/main" id="{7EC758DE-EEDC-03D4-A339-4DE1B28326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3944" y="5955028"/>
            <a:ext cx="4933507" cy="884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Google Shape;267;p34">
            <a:extLst>
              <a:ext uri="{FF2B5EF4-FFF2-40B4-BE49-F238E27FC236}">
                <a16:creationId xmlns:a16="http://schemas.microsoft.com/office/drawing/2014/main" id="{9D4FBF3F-4AB3-5727-2530-A1E144B46AC9}"/>
              </a:ext>
            </a:extLst>
          </p:cNvPr>
          <p:cNvSpPr txBox="1">
            <a:spLocks/>
          </p:cNvSpPr>
          <p:nvPr/>
        </p:nvSpPr>
        <p:spPr>
          <a:xfrm>
            <a:off x="763772" y="5045850"/>
            <a:ext cx="8232720" cy="179348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fr-FR" sz="4400" i="1" dirty="0">
                <a:solidFill>
                  <a:schemeClr val="bg1">
                    <a:lumMod val="65000"/>
                  </a:schemeClr>
                </a:solidFill>
              </a:rPr>
              <a:t>Formation Développeur IA</a:t>
            </a:r>
          </a:p>
          <a:p>
            <a:pPr marL="0" indent="0">
              <a:spcBef>
                <a:spcPts val="0"/>
              </a:spcBef>
              <a:buNone/>
            </a:pPr>
            <a:r>
              <a:rPr lang="fr-FR" sz="4400" i="1" dirty="0">
                <a:solidFill>
                  <a:schemeClr val="bg1">
                    <a:lumMod val="65000"/>
                  </a:schemeClr>
                </a:solidFill>
              </a:rPr>
              <a:t>Août 2026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CC1350B-E508-81B1-EEBD-381C600F6AF7}"/>
              </a:ext>
            </a:extLst>
          </p:cNvPr>
          <p:cNvSpPr txBox="1"/>
          <p:nvPr/>
        </p:nvSpPr>
        <p:spPr>
          <a:xfrm>
            <a:off x="763772" y="2525564"/>
            <a:ext cx="1123861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400" dirty="0">
                <a:latin typeface="Segoe UI Black" panose="020B0A02040204020203" pitchFamily="34" charset="0"/>
                <a:ea typeface="Segoe UI Black" panose="020B0A02040204020203" pitchFamily="34" charset="0"/>
              </a:rPr>
              <a:t>Solution d’étiquetage automatique</a:t>
            </a:r>
          </a:p>
          <a:p>
            <a:pPr algn="r"/>
            <a:r>
              <a:rPr lang="fr-FR" sz="4400" dirty="0">
                <a:latin typeface="Segoe UI Black" panose="020B0A02040204020203" pitchFamily="34" charset="0"/>
                <a:ea typeface="Segoe UI Black" panose="020B0A02040204020203" pitchFamily="34" charset="0"/>
              </a:rPr>
              <a:t>LLM / ML</a:t>
            </a:r>
          </a:p>
        </p:txBody>
      </p:sp>
    </p:spTree>
    <p:extLst>
      <p:ext uri="{BB962C8B-B14F-4D97-AF65-F5344CB8AC3E}">
        <p14:creationId xmlns:p14="http://schemas.microsoft.com/office/powerpoint/2010/main" val="38652382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5CCCC7-B8DB-ADF3-5AF8-D124C6BC2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A30B59B-9256-F687-FB0F-F72677E2AC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Objectif : automatiser le routage des réclamations vers le bon service.</a:t>
            </a:r>
          </a:p>
        </p:txBody>
      </p:sp>
    </p:spTree>
    <p:extLst>
      <p:ext uri="{BB962C8B-B14F-4D97-AF65-F5344CB8AC3E}">
        <p14:creationId xmlns:p14="http://schemas.microsoft.com/office/powerpoint/2010/main" val="41811977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0CB97F-097E-0FEC-42EB-89420D604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5360581" cy="3824103"/>
          </a:xfrm>
        </p:spPr>
        <p:txBody>
          <a:bodyPr>
            <a:normAutofit/>
          </a:bodyPr>
          <a:lstStyle/>
          <a:p>
            <a: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Analyse exploratoire des données</a:t>
            </a:r>
          </a:p>
        </p:txBody>
      </p:sp>
      <p:pic>
        <p:nvPicPr>
          <p:cNvPr id="2050" name="Picture 2" descr="Analyse exploratoire - Icônes ordinateur gratuites">
            <a:extLst>
              <a:ext uri="{FF2B5EF4-FFF2-40B4-BE49-F238E27FC236}">
                <a16:creationId xmlns:a16="http://schemas.microsoft.com/office/drawing/2014/main" id="{AD618C70-2F2B-E7F8-3413-9BB4F19C3E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6731" y="1554126"/>
            <a:ext cx="4876800" cy="487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88184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10DBAC-37BB-75D7-2882-262E7BA33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DataFrame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92EE8EB-E893-A438-5DC8-BD95088815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/>
              <a:t>Consumer Claim = Réclamation client (VARIABLE)</a:t>
            </a:r>
          </a:p>
          <a:p>
            <a:pPr marL="0" indent="0">
              <a:buNone/>
            </a:pPr>
            <a:r>
              <a:rPr lang="fr-FR" dirty="0"/>
              <a:t>Tag = Etiquette associée (CIBLE)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9743E58-9FE0-56DE-C92A-659BCB89C84F}"/>
              </a:ext>
            </a:extLst>
          </p:cNvPr>
          <p:cNvSpPr txBox="1"/>
          <p:nvPr/>
        </p:nvSpPr>
        <p:spPr>
          <a:xfrm>
            <a:off x="7833537" y="544652"/>
            <a:ext cx="4074929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Très intéressantes</a:t>
            </a:r>
          </a:p>
          <a:p>
            <a:r>
              <a:rPr lang="fr-FR" dirty="0"/>
              <a:t>------------------</a:t>
            </a:r>
          </a:p>
          <a:p>
            <a:r>
              <a:rPr lang="fr-FR" dirty="0"/>
              <a:t>Tag</a:t>
            </a:r>
          </a:p>
          <a:p>
            <a:r>
              <a:rPr lang="fr-FR" dirty="0" err="1"/>
              <a:t>Company</a:t>
            </a:r>
            <a:endParaRPr lang="fr-FR" dirty="0"/>
          </a:p>
          <a:p>
            <a:r>
              <a:rPr lang="fr-FR" dirty="0"/>
              <a:t>Date </a:t>
            </a:r>
            <a:r>
              <a:rPr lang="fr-FR" dirty="0" err="1"/>
              <a:t>received</a:t>
            </a:r>
            <a:endParaRPr lang="fr-FR" dirty="0"/>
          </a:p>
          <a:p>
            <a:r>
              <a:rPr lang="fr-FR" dirty="0" err="1"/>
              <a:t>Submitted</a:t>
            </a:r>
            <a:r>
              <a:rPr lang="fr-FR" dirty="0"/>
              <a:t> via</a:t>
            </a:r>
          </a:p>
          <a:p>
            <a:endParaRPr lang="fr-FR" dirty="0"/>
          </a:p>
          <a:p>
            <a:r>
              <a:rPr lang="fr-FR" dirty="0"/>
              <a:t>Intéressantes</a:t>
            </a:r>
          </a:p>
          <a:p>
            <a:r>
              <a:rPr lang="fr-FR" dirty="0"/>
              <a:t>-------------</a:t>
            </a:r>
          </a:p>
          <a:p>
            <a:r>
              <a:rPr lang="fr-FR" dirty="0"/>
              <a:t>Tags</a:t>
            </a:r>
          </a:p>
          <a:p>
            <a:r>
              <a:rPr lang="fr-FR" dirty="0"/>
              <a:t>State</a:t>
            </a:r>
          </a:p>
          <a:p>
            <a:endParaRPr lang="fr-FR" dirty="0"/>
          </a:p>
          <a:p>
            <a:r>
              <a:rPr lang="fr-FR" dirty="0"/>
              <a:t>Potentiellement intéressantes</a:t>
            </a:r>
          </a:p>
          <a:p>
            <a:r>
              <a:rPr lang="fr-FR" dirty="0"/>
              <a:t>-----------------------------</a:t>
            </a:r>
          </a:p>
          <a:p>
            <a:r>
              <a:rPr lang="fr-FR" dirty="0"/>
              <a:t>ZIP code</a:t>
            </a:r>
          </a:p>
          <a:p>
            <a:r>
              <a:rPr lang="fr-FR" dirty="0"/>
              <a:t>Consumer consent </a:t>
            </a:r>
            <a:r>
              <a:rPr lang="fr-FR" dirty="0" err="1"/>
              <a:t>provided</a:t>
            </a:r>
            <a:r>
              <a:rPr lang="fr-FR" dirty="0"/>
              <a:t>?</a:t>
            </a:r>
          </a:p>
          <a:p>
            <a:endParaRPr lang="fr-FR" dirty="0"/>
          </a:p>
          <a:p>
            <a:r>
              <a:rPr lang="fr-FR" dirty="0"/>
              <a:t>À supprimer</a:t>
            </a:r>
          </a:p>
          <a:p>
            <a:r>
              <a:rPr lang="fr-FR" dirty="0"/>
              <a:t>-----------</a:t>
            </a:r>
          </a:p>
          <a:p>
            <a:r>
              <a:rPr lang="fr-FR" dirty="0"/>
              <a:t>Complaint ID</a:t>
            </a:r>
          </a:p>
        </p:txBody>
      </p:sp>
    </p:spTree>
    <p:extLst>
      <p:ext uri="{BB962C8B-B14F-4D97-AF65-F5344CB8AC3E}">
        <p14:creationId xmlns:p14="http://schemas.microsoft.com/office/powerpoint/2010/main" val="3648191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00C72A-6975-F8C3-D588-A84C967A9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Dataset</a:t>
            </a:r>
            <a:endParaRPr lang="fr-FR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7B955B9-9041-8CB5-3353-7D1868BE7FE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493189"/>
            <a:ext cx="13191432" cy="30162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/>
              <a:t>1.282,355 entrées, 15 colonnes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altLang="fr-FR" sz="1800" dirty="0">
                <a:latin typeface="Arial" panose="020B0604020202020204" pitchFamily="34" charset="0"/>
              </a:rPr>
              <a:t>combien de réclamations ? </a:t>
            </a:r>
            <a:r>
              <a:rPr lang="fr-FR" sz="1800" b="1" dirty="0"/>
              <a:t>1.282,355</a:t>
            </a:r>
            <a:endParaRPr lang="fr-FR" altLang="fr-FR" sz="1800" b="1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fr-FR" altLang="fr-FR" sz="1800" dirty="0">
                <a:latin typeface="Arial" panose="020B0604020202020204" pitchFamily="34" charset="0"/>
              </a:rPr>
              <a:t>combien de catégories ? </a:t>
            </a:r>
            <a:r>
              <a:rPr lang="fr-FR" altLang="fr-FR" sz="1800" b="1" dirty="0">
                <a:latin typeface="Arial" panose="020B0604020202020204" pitchFamily="34" charset="0"/>
              </a:rPr>
              <a:t>18 dont certaines ambigüe (10 une fois normalisé)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altLang="fr-FR" sz="1800" dirty="0">
                <a:latin typeface="Arial" panose="020B0604020202020204" pitchFamily="34" charset="0"/>
              </a:rPr>
              <a:t>quelle est la répartition des catégories ? </a:t>
            </a:r>
            <a:r>
              <a:rPr lang="fr-FR" sz="1800" b="1" dirty="0">
                <a:latin typeface="Arial" panose="020B0604020202020204" pitchFamily="34" charset="0"/>
              </a:rPr>
              <a:t>un déséquilibre très important des classes.</a:t>
            </a:r>
            <a:r>
              <a:rPr lang="fr-FR" altLang="fr-FR" sz="1800" b="1" dirty="0">
                <a:latin typeface="Arial" panose="020B0604020202020204" pitchFamily="34" charset="0"/>
              </a:rPr>
              <a:t>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altLang="fr-FR" sz="1800" dirty="0">
                <a:latin typeface="Arial" panose="020B0604020202020204" pitchFamily="34" charset="0"/>
              </a:rPr>
              <a:t>quelle proportion de Consumer Claim est manquante ? </a:t>
            </a:r>
            <a:r>
              <a:rPr lang="fr-FR" altLang="fr-FR" sz="1800" b="1" dirty="0">
                <a:latin typeface="Arial" panose="020B0604020202020204" pitchFamily="34" charset="0"/>
              </a:rPr>
              <a:t>898,791 (70%) </a:t>
            </a:r>
            <a:r>
              <a:rPr lang="fr-FR" sz="1800" dirty="0"/>
              <a:t>présence importante de valeurs manquantes</a:t>
            </a:r>
            <a:endParaRPr lang="fr-FR" altLang="fr-FR" sz="1800" b="1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altLang="fr-FR" sz="1800" dirty="0">
                <a:latin typeface="Arial" panose="020B0604020202020204" pitchFamily="34" charset="0"/>
              </a:rPr>
              <a:t>les valeurs manquantes dépendent-elles de </a:t>
            </a:r>
            <a:r>
              <a:rPr lang="fr-FR" altLang="fr-FR" sz="1800" dirty="0" err="1">
                <a:latin typeface="Arial" panose="020B0604020202020204" pitchFamily="34" charset="0"/>
              </a:rPr>
              <a:t>Submitted</a:t>
            </a:r>
            <a:r>
              <a:rPr lang="fr-FR" altLang="fr-FR" sz="1800" dirty="0">
                <a:latin typeface="Arial" panose="020B0604020202020204" pitchFamily="34" charset="0"/>
              </a:rPr>
              <a:t> via ? </a:t>
            </a:r>
            <a:r>
              <a:rPr lang="fr-FR" altLang="fr-FR" sz="1800" b="1" dirty="0">
                <a:latin typeface="Arial" panose="020B0604020202020204" pitchFamily="34" charset="0"/>
              </a:rPr>
              <a:t>Oui, 40% des </a:t>
            </a:r>
            <a:r>
              <a:rPr lang="fr-FR" altLang="fr-FR" sz="1800" b="1" dirty="0" err="1">
                <a:latin typeface="Arial" panose="020B0604020202020204" pitchFamily="34" charset="0"/>
              </a:rPr>
              <a:t>Submitted</a:t>
            </a:r>
            <a:r>
              <a:rPr lang="fr-FR" altLang="fr-FR" sz="1800" b="1" dirty="0">
                <a:latin typeface="Arial" panose="020B0604020202020204" pitchFamily="34" charset="0"/>
              </a:rPr>
              <a:t> via Web renseigne un texte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altLang="fr-FR" sz="1800" dirty="0">
                <a:latin typeface="Arial" panose="020B0604020202020204" pitchFamily="34" charset="0"/>
              </a:rPr>
              <a:t>les valeurs manquantes dépendent-elles de Consumer consent </a:t>
            </a:r>
            <a:r>
              <a:rPr lang="fr-FR" altLang="fr-FR" sz="1800" dirty="0" err="1">
                <a:latin typeface="Arial" panose="020B0604020202020204" pitchFamily="34" charset="0"/>
              </a:rPr>
              <a:t>provided</a:t>
            </a:r>
            <a:r>
              <a:rPr lang="fr-FR" altLang="fr-FR" sz="1800" dirty="0">
                <a:latin typeface="Arial" panose="020B0604020202020204" pitchFamily="34" charset="0"/>
              </a:rPr>
              <a:t>? </a:t>
            </a:r>
            <a:r>
              <a:rPr lang="fr-FR" altLang="fr-FR" sz="1800" b="1" dirty="0">
                <a:latin typeface="Arial" panose="020B0604020202020204" pitchFamily="34" charset="0"/>
              </a:rPr>
              <a:t>Oui, </a:t>
            </a:r>
            <a:r>
              <a:rPr lang="fr-FR" sz="1800" b="1" dirty="0">
                <a:latin typeface="Arial" panose="020B0604020202020204" pitchFamily="34" charset="0"/>
              </a:rPr>
              <a:t>Consent </a:t>
            </a:r>
            <a:r>
              <a:rPr lang="fr-FR" sz="1800" b="1" dirty="0" err="1">
                <a:latin typeface="Arial" panose="020B0604020202020204" pitchFamily="34" charset="0"/>
              </a:rPr>
              <a:t>provided</a:t>
            </a:r>
            <a:r>
              <a:rPr lang="fr-FR" sz="1800" b="1" dirty="0">
                <a:latin typeface="Arial" panose="020B0604020202020204" pitchFamily="34" charset="0"/>
              </a:rPr>
              <a:t> regroupe 99% des textes</a:t>
            </a:r>
            <a:r>
              <a:rPr lang="fr-FR" altLang="fr-FR" sz="1800" b="1" dirty="0"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fr-FR" altLang="fr-FR" sz="1800" dirty="0">
                <a:latin typeface="Arial" panose="020B0604020202020204" pitchFamily="34" charset="0"/>
              </a:rPr>
              <a:t>quelle longueur ont les réclamations ?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fr-FR" altLang="fr-FR" sz="1800" dirty="0">
                <a:latin typeface="Arial" panose="020B0604020202020204" pitchFamily="34" charset="0"/>
              </a:rPr>
              <a:t>existe-t-il des doublons ? </a:t>
            </a:r>
          </a:p>
        </p:txBody>
      </p:sp>
    </p:spTree>
    <p:extLst>
      <p:ext uri="{BB962C8B-B14F-4D97-AF65-F5344CB8AC3E}">
        <p14:creationId xmlns:p14="http://schemas.microsoft.com/office/powerpoint/2010/main" val="18486060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07C94-B671-42C3-1737-1B8FAA818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0AE9FDB-9593-9FAD-EBD2-EB411873AD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87243"/>
            <a:ext cx="10515600" cy="3389719"/>
          </a:xfrm>
        </p:spPr>
        <p:txBody>
          <a:bodyPr/>
          <a:lstStyle/>
          <a:p>
            <a:r>
              <a:rPr lang="fr-FR" dirty="0"/>
              <a:t>Valeurs manquantes dans la variable </a:t>
            </a:r>
            <a:r>
              <a:rPr lang="fr-FR" i="1" dirty="0">
                <a:solidFill>
                  <a:schemeClr val="accent2">
                    <a:lumMod val="75000"/>
                  </a:schemeClr>
                </a:solidFill>
              </a:rPr>
              <a:t>Consumer Claim</a:t>
            </a:r>
          </a:p>
          <a:p>
            <a:r>
              <a:rPr lang="fr-FR" dirty="0"/>
              <a:t>Chaque ligne correspond à une réclamation identifiée et traitée</a:t>
            </a:r>
            <a:endParaRPr lang="fr-FR" i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fr-FR" dirty="0"/>
              <a:t>Seule la </a:t>
            </a:r>
            <a:r>
              <a:rPr lang="fr-FR" b="1" dirty="0"/>
              <a:t>soumission « </a:t>
            </a:r>
            <a:r>
              <a:rPr lang="fr-FR" dirty="0">
                <a:solidFill>
                  <a:schemeClr val="accent2">
                    <a:lumMod val="75000"/>
                  </a:schemeClr>
                </a:solidFill>
              </a:rPr>
              <a:t>Web</a:t>
            </a:r>
            <a:r>
              <a:rPr lang="fr-FR" dirty="0"/>
              <a:t> » contient des réclamations avec un texte</a:t>
            </a:r>
          </a:p>
          <a:p>
            <a:r>
              <a:rPr lang="fr-FR" dirty="0"/>
              <a:t>Seules les réclamations </a:t>
            </a:r>
            <a:r>
              <a:rPr lang="fr-FR" b="1" dirty="0"/>
              <a:t>avec consentement </a:t>
            </a:r>
            <a:r>
              <a:rPr lang="fr-FR" dirty="0"/>
              <a:t>contiennent un texte</a:t>
            </a:r>
          </a:p>
          <a:p>
            <a:r>
              <a:rPr lang="fr-FR" dirty="0"/>
              <a:t>Les valeurs manquantes semblent donc potentiellement structurelles plutôt qu'aléatoires</a:t>
            </a:r>
          </a:p>
          <a:p>
            <a:endParaRPr lang="fr-FR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06F9D9E8-DDEC-908D-ABCC-7B1C0733DF8D}"/>
              </a:ext>
            </a:extLst>
          </p:cNvPr>
          <p:cNvSpPr txBox="1">
            <a:spLocks/>
          </p:cNvSpPr>
          <p:nvPr/>
        </p:nvSpPr>
        <p:spPr>
          <a:xfrm>
            <a:off x="1524000" y="365679"/>
            <a:ext cx="9144000" cy="9616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>
              <a:lnSpc>
                <a:spcPct val="90000"/>
              </a:lnSpc>
              <a:spcBef>
                <a:spcPct val="0"/>
              </a:spcBef>
              <a:buNone/>
              <a:defRPr sz="6000" u="sng"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 err="1"/>
              <a:t>Feature</a:t>
            </a:r>
            <a:r>
              <a:rPr lang="fr-FR" dirty="0"/>
              <a:t>(s)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443F918-F80D-EC94-B2A5-A74BEF1CF7E4}"/>
              </a:ext>
            </a:extLst>
          </p:cNvPr>
          <p:cNvSpPr txBox="1"/>
          <p:nvPr/>
        </p:nvSpPr>
        <p:spPr>
          <a:xfrm>
            <a:off x="3047114" y="1614803"/>
            <a:ext cx="609777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i="1" dirty="0">
                <a:solidFill>
                  <a:schemeClr val="accent2">
                    <a:lumMod val="75000"/>
                  </a:schemeClr>
                </a:solidFill>
              </a:rPr>
              <a:t>Consumer Claim </a:t>
            </a:r>
            <a:r>
              <a:rPr lang="fr-FR" sz="1800" dirty="0"/>
              <a:t>est la principale variable de prédiction pour identifier l’étiquette à assigner</a:t>
            </a:r>
          </a:p>
        </p:txBody>
      </p:sp>
    </p:spTree>
    <p:extLst>
      <p:ext uri="{BB962C8B-B14F-4D97-AF65-F5344CB8AC3E}">
        <p14:creationId xmlns:p14="http://schemas.microsoft.com/office/powerpoint/2010/main" val="4462940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B1C63-B589-571E-98AE-05E8ED47E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1F03410F-C6C0-88B6-E9B9-F239740F9C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14" t="12720" r="11565" b="10083"/>
          <a:stretch>
            <a:fillRect/>
          </a:stretch>
        </p:blipFill>
        <p:spPr>
          <a:xfrm>
            <a:off x="8735478" y="5003043"/>
            <a:ext cx="2355218" cy="1787701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F86E0A8D-CB0A-B2AB-137B-9805AF52F5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65679"/>
            <a:ext cx="9144000" cy="961618"/>
          </a:xfrm>
        </p:spPr>
        <p:txBody>
          <a:bodyPr/>
          <a:lstStyle/>
          <a:p>
            <a:r>
              <a:rPr lang="fr-FR" u="sng" dirty="0"/>
              <a:t>Cible (catégorie)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CEC9766-7877-6612-4E2D-4B18A58FAC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049680"/>
            <a:ext cx="5536018" cy="1257041"/>
          </a:xfrm>
          <a:solidFill>
            <a:schemeClr val="accent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fr-FR" dirty="0"/>
              <a:t>2011 à 2016</a:t>
            </a:r>
          </a:p>
          <a:p>
            <a:r>
              <a:rPr lang="fr-FR" dirty="0"/>
              <a:t> Ancienne Nomenclature</a:t>
            </a: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44C90DDE-E233-1253-6B7A-B3E690DA10C0}"/>
              </a:ext>
            </a:extLst>
          </p:cNvPr>
          <p:cNvSpPr txBox="1">
            <a:spLocks/>
          </p:cNvSpPr>
          <p:nvPr/>
        </p:nvSpPr>
        <p:spPr>
          <a:xfrm>
            <a:off x="7060018" y="2049681"/>
            <a:ext cx="3607981" cy="125704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2017 à 2019</a:t>
            </a:r>
          </a:p>
          <a:p>
            <a:r>
              <a:rPr lang="fr-FR" dirty="0"/>
              <a:t>Nouvelle Nomenclature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B55D0B1D-6B89-AA49-7573-8DE0C1828AFF}"/>
              </a:ext>
            </a:extLst>
          </p:cNvPr>
          <p:cNvSpPr txBox="1">
            <a:spLocks/>
          </p:cNvSpPr>
          <p:nvPr/>
        </p:nvSpPr>
        <p:spPr>
          <a:xfrm>
            <a:off x="2867246" y="4186824"/>
            <a:ext cx="3703675" cy="1389321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>
                <a:solidFill>
                  <a:sysClr val="windowText" lastClr="000000"/>
                </a:solidFill>
              </a:rPr>
              <a:t>Supprime les catégories ambigües pouvant prêter à confusion</a:t>
            </a:r>
          </a:p>
          <a:p>
            <a:endParaRPr lang="fr-FR" sz="2800" b="1" dirty="0">
              <a:solidFill>
                <a:sysClr val="windowText" lastClr="000000"/>
              </a:solidFill>
            </a:endParaRPr>
          </a:p>
        </p:txBody>
      </p:sp>
      <p:pic>
        <p:nvPicPr>
          <p:cNvPr id="1026" name="Picture 2" descr="Images sur Supprimer : Téléchargement gratuit sur Magnific (anciennement  Freepik)">
            <a:extLst>
              <a:ext uri="{FF2B5EF4-FFF2-40B4-BE49-F238E27FC236}">
                <a16:creationId xmlns:a16="http://schemas.microsoft.com/office/drawing/2014/main" id="{6426B220-CE0B-29C7-D006-78A78F50F0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837" y="3504568"/>
            <a:ext cx="2392326" cy="2392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250E3995-0EB7-A592-C349-723F39E8FFF6}"/>
              </a:ext>
            </a:extLst>
          </p:cNvPr>
          <p:cNvSpPr/>
          <p:nvPr/>
        </p:nvSpPr>
        <p:spPr>
          <a:xfrm>
            <a:off x="6868630" y="4369978"/>
            <a:ext cx="1158949" cy="7702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Sous-titre 2">
            <a:extLst>
              <a:ext uri="{FF2B5EF4-FFF2-40B4-BE49-F238E27FC236}">
                <a16:creationId xmlns:a16="http://schemas.microsoft.com/office/drawing/2014/main" id="{6B9A69D7-E143-4867-EC2B-A6A0FD64C6CF}"/>
              </a:ext>
            </a:extLst>
          </p:cNvPr>
          <p:cNvSpPr txBox="1">
            <a:spLocks/>
          </p:cNvSpPr>
          <p:nvPr/>
        </p:nvSpPr>
        <p:spPr>
          <a:xfrm>
            <a:off x="8172891" y="4190370"/>
            <a:ext cx="3480393" cy="1389321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>
                <a:solidFill>
                  <a:sysClr val="windowText" lastClr="000000"/>
                </a:solidFill>
              </a:rPr>
              <a:t>Deviennent des catégories uniques</a:t>
            </a:r>
          </a:p>
          <a:p>
            <a:endParaRPr lang="fr-FR" sz="2800" b="1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30697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2115817-FDF6-900F-9B3C-4963B9B73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b="1" dirty="0"/>
              <a:t>LLM ne doit pas avoir à prendre une décision artificielle </a:t>
            </a:r>
            <a:r>
              <a:rPr lang="fr-FR" dirty="0"/>
              <a:t>entre deux catégories qui correspondent simplement à deux versions historiques de la nomenclature</a:t>
            </a:r>
          </a:p>
          <a:p>
            <a:r>
              <a:rPr lang="fr-FR" dirty="0"/>
              <a:t>Les </a:t>
            </a:r>
            <a:r>
              <a:rPr lang="fr-FR" b="1" dirty="0"/>
              <a:t>anciennes nomenclatures </a:t>
            </a:r>
            <a:r>
              <a:rPr lang="fr-FR" dirty="0"/>
              <a:t>sont </a:t>
            </a:r>
            <a:r>
              <a:rPr lang="fr-FR" b="1" dirty="0"/>
              <a:t>généralement incluses </a:t>
            </a:r>
            <a:r>
              <a:rPr lang="fr-FR" dirty="0"/>
              <a:t>dans les nouvelles (plus fournies)</a:t>
            </a:r>
          </a:p>
          <a:p>
            <a:r>
              <a:rPr lang="fr-FR" dirty="0"/>
              <a:t>Exception de « </a:t>
            </a:r>
            <a:r>
              <a:rPr lang="fr-FR" b="1" dirty="0"/>
              <a:t>Consumer Loan </a:t>
            </a:r>
            <a:r>
              <a:rPr lang="fr-FR" dirty="0"/>
              <a:t>» dont le sens métier doit être définit par rapport à « </a:t>
            </a:r>
            <a:r>
              <a:rPr lang="en-US" b="1" dirty="0"/>
              <a:t>Payday loan, title loan, or personal loan</a:t>
            </a:r>
            <a:r>
              <a:rPr lang="fr-FR" b="1" dirty="0"/>
              <a:t> </a:t>
            </a:r>
            <a:r>
              <a:rPr lang="fr-FR" dirty="0"/>
              <a:t>»</a:t>
            </a:r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60E3862B-4D17-A85F-5E51-6083E4D86581}"/>
              </a:ext>
            </a:extLst>
          </p:cNvPr>
          <p:cNvSpPr txBox="1">
            <a:spLocks/>
          </p:cNvSpPr>
          <p:nvPr/>
        </p:nvSpPr>
        <p:spPr>
          <a:xfrm>
            <a:off x="1524000" y="365679"/>
            <a:ext cx="9144000" cy="9616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>
              <a:lnSpc>
                <a:spcPct val="90000"/>
              </a:lnSpc>
              <a:spcBef>
                <a:spcPct val="0"/>
              </a:spcBef>
              <a:buNone/>
              <a:defRPr sz="6000" u="sng"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Cible (catégorie)</a:t>
            </a:r>
          </a:p>
        </p:txBody>
      </p:sp>
    </p:spTree>
    <p:extLst>
      <p:ext uri="{BB962C8B-B14F-4D97-AF65-F5344CB8AC3E}">
        <p14:creationId xmlns:p14="http://schemas.microsoft.com/office/powerpoint/2010/main" val="29642508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BC2C2-4E49-C851-E469-6931F2B3B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71DDA4-0747-AD4E-47D4-FF5F68CCF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6966099" cy="3824103"/>
          </a:xfrm>
        </p:spPr>
        <p:txBody>
          <a:bodyPr>
            <a:normAutofit/>
          </a:bodyPr>
          <a:lstStyle/>
          <a:p>
            <a: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Les métriques</a:t>
            </a:r>
            <a:b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lang="fr-FR" sz="4800" dirty="0">
                <a:solidFill>
                  <a:srgbClr val="00B0F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SCORES</a:t>
            </a:r>
            <a:endParaRPr lang="fr-FR" sz="6600" dirty="0">
              <a:solidFill>
                <a:srgbClr val="00B0F0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pic>
        <p:nvPicPr>
          <p:cNvPr id="3080" name="Picture 8" descr="Succès métrique icône pour la toile, application, infographie, etc 45630880  Art vectoriel chez Vecteezy">
            <a:extLst>
              <a:ext uri="{FF2B5EF4-FFF2-40B4-BE49-F238E27FC236}">
                <a16:creationId xmlns:a16="http://schemas.microsoft.com/office/drawing/2014/main" id="{79090343-9D4D-703D-F46C-00A3D261CD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7855" y="1956391"/>
            <a:ext cx="4465674" cy="44656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40091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49042BD-93A0-DAB6-8F58-1A73789CF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Métriques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7344CC8-D55D-75FD-115F-ECFAEEC094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 dirty="0" err="1"/>
              <a:t>Accuracy</a:t>
            </a:r>
            <a:r>
              <a:rPr lang="fr-FR" dirty="0"/>
              <a:t> : 45.00%</a:t>
            </a:r>
          </a:p>
          <a:p>
            <a:r>
              <a:rPr lang="fr-FR" dirty="0" err="1"/>
              <a:t>Precision</a:t>
            </a:r>
            <a:r>
              <a:rPr lang="fr-FR" dirty="0"/>
              <a:t> (macro) : 16.50%</a:t>
            </a:r>
          </a:p>
          <a:p>
            <a:r>
              <a:rPr lang="fr-FR" dirty="0" err="1"/>
              <a:t>Recall</a:t>
            </a:r>
            <a:r>
              <a:rPr lang="fr-FR" dirty="0"/>
              <a:t> (macro) : 20.83%</a:t>
            </a:r>
          </a:p>
          <a:p>
            <a:r>
              <a:rPr lang="fr-FR" dirty="0"/>
              <a:t>F1 (macro) : 17.80%</a:t>
            </a:r>
          </a:p>
          <a:p>
            <a:r>
              <a:rPr lang="fr-FR" dirty="0" err="1"/>
              <a:t>Precision</a:t>
            </a:r>
            <a:r>
              <a:rPr lang="fr-FR" dirty="0"/>
              <a:t> (</a:t>
            </a:r>
            <a:r>
              <a:rPr lang="fr-FR" dirty="0" err="1"/>
              <a:t>weighted</a:t>
            </a:r>
            <a:r>
              <a:rPr lang="fr-FR" dirty="0"/>
              <a:t>) : 44.50%</a:t>
            </a:r>
          </a:p>
          <a:p>
            <a:r>
              <a:rPr lang="fr-FR" dirty="0" err="1"/>
              <a:t>Recall</a:t>
            </a:r>
            <a:r>
              <a:rPr lang="fr-FR" dirty="0"/>
              <a:t> (</a:t>
            </a:r>
            <a:r>
              <a:rPr lang="fr-FR" dirty="0" err="1"/>
              <a:t>weighted</a:t>
            </a:r>
            <a:r>
              <a:rPr lang="fr-FR" dirty="0"/>
              <a:t>) : 45.00% F1</a:t>
            </a:r>
          </a:p>
          <a:p>
            <a:r>
              <a:rPr lang="fr-FR" dirty="0"/>
              <a:t>(</a:t>
            </a:r>
            <a:r>
              <a:rPr lang="fr-FR" dirty="0" err="1"/>
              <a:t>weighted</a:t>
            </a:r>
            <a:r>
              <a:rPr lang="fr-FR" dirty="0"/>
              <a:t>) : 44.24%</a:t>
            </a:r>
          </a:p>
          <a:p>
            <a:r>
              <a:rPr lang="fr-FR" dirty="0"/>
              <a:t>Temps moyen (s) : 0.608 s</a:t>
            </a:r>
          </a:p>
          <a:p>
            <a:r>
              <a:rPr lang="fr-FR" dirty="0"/>
              <a:t>Temps médian (s) : 0.403 s</a:t>
            </a:r>
          </a:p>
          <a:p>
            <a:r>
              <a:rPr lang="fr-FR" dirty="0"/>
              <a:t>Temps P95 (s) : 1.686 s</a:t>
            </a:r>
          </a:p>
        </p:txBody>
      </p:sp>
    </p:spTree>
    <p:extLst>
      <p:ext uri="{BB962C8B-B14F-4D97-AF65-F5344CB8AC3E}">
        <p14:creationId xmlns:p14="http://schemas.microsoft.com/office/powerpoint/2010/main" val="32432701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1F45C-DBFB-59D2-5A3E-98F17293F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6" name="Picture 4" descr="LLM or large language model icon for AI website and apps 63132258 Vector  Art at Vecteezy">
            <a:extLst>
              <a:ext uri="{FF2B5EF4-FFF2-40B4-BE49-F238E27FC236}">
                <a16:creationId xmlns:a16="http://schemas.microsoft.com/office/drawing/2014/main" id="{301584CD-F61F-5D13-D2BB-21FEF5A8F9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4149" y="1562985"/>
            <a:ext cx="5116830" cy="5039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DDB4469-838C-09F1-F352-BA5D5DFA9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6966099" cy="3824103"/>
          </a:xfrm>
        </p:spPr>
        <p:txBody>
          <a:bodyPr>
            <a:normAutofit/>
          </a:bodyPr>
          <a:lstStyle/>
          <a:p>
            <a: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Implémentation</a:t>
            </a:r>
            <a:b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lang="fr-FR" sz="48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L’approche </a:t>
            </a:r>
            <a:r>
              <a:rPr lang="fr-FR" sz="4800" dirty="0">
                <a:solidFill>
                  <a:srgbClr val="00B0F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LLM</a:t>
            </a:r>
            <a:endParaRPr lang="fr-FR" sz="6600" dirty="0">
              <a:solidFill>
                <a:srgbClr val="00B0F0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03740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E4439-9561-207C-7C8C-812EADE91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B5BAE3-F0D0-87D1-D615-23C4DD333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Approche LLM</a:t>
            </a:r>
            <a:endParaRPr lang="fr-FR" dirty="0"/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433223D3-CCC3-E07E-FEC8-7FDFF43C1C0E}"/>
              </a:ext>
            </a:extLst>
          </p:cNvPr>
          <p:cNvSpPr txBox="1">
            <a:spLocks/>
          </p:cNvSpPr>
          <p:nvPr/>
        </p:nvSpPr>
        <p:spPr>
          <a:xfrm>
            <a:off x="1665768" y="1794499"/>
            <a:ext cx="1959936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 err="1">
                <a:solidFill>
                  <a:sysClr val="windowText" lastClr="000000"/>
                </a:solidFill>
              </a:rPr>
              <a:t>X_train</a:t>
            </a:r>
            <a:endParaRPr lang="fr-FR" sz="2800" b="1" dirty="0">
              <a:solidFill>
                <a:sysClr val="windowText" lastClr="000000"/>
              </a:solidFill>
            </a:endParaRPr>
          </a:p>
          <a:p>
            <a:endParaRPr lang="fr-FR" sz="2800" b="1" dirty="0">
              <a:solidFill>
                <a:sysClr val="windowText" lastClr="000000"/>
              </a:solidFill>
            </a:endParaRPr>
          </a:p>
        </p:txBody>
      </p:sp>
      <p:sp>
        <p:nvSpPr>
          <p:cNvPr id="5" name="Flèche : droite 4">
            <a:extLst>
              <a:ext uri="{FF2B5EF4-FFF2-40B4-BE49-F238E27FC236}">
                <a16:creationId xmlns:a16="http://schemas.microsoft.com/office/drawing/2014/main" id="{5DDC3051-3358-9EFB-4150-393E0A26DFA7}"/>
              </a:ext>
            </a:extLst>
          </p:cNvPr>
          <p:cNvSpPr/>
          <p:nvPr/>
        </p:nvSpPr>
        <p:spPr>
          <a:xfrm rot="5400000">
            <a:off x="2066261" y="2594803"/>
            <a:ext cx="1158949" cy="7702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Sous-titre 2">
            <a:extLst>
              <a:ext uri="{FF2B5EF4-FFF2-40B4-BE49-F238E27FC236}">
                <a16:creationId xmlns:a16="http://schemas.microsoft.com/office/drawing/2014/main" id="{86D32DCE-24AD-9413-21A8-B1BA6502B6EF}"/>
              </a:ext>
            </a:extLst>
          </p:cNvPr>
          <p:cNvSpPr txBox="1">
            <a:spLocks/>
          </p:cNvSpPr>
          <p:nvPr/>
        </p:nvSpPr>
        <p:spPr>
          <a:xfrm>
            <a:off x="1665768" y="3663205"/>
            <a:ext cx="1959936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 err="1">
                <a:solidFill>
                  <a:sysClr val="windowText" lastClr="000000"/>
                </a:solidFill>
              </a:rPr>
              <a:t>Faiss</a:t>
            </a:r>
            <a:endParaRPr lang="fr-FR" sz="2800" b="1" dirty="0">
              <a:solidFill>
                <a:sysClr val="windowText" lastClr="000000"/>
              </a:solidFill>
            </a:endParaRPr>
          </a:p>
        </p:txBody>
      </p:sp>
      <p:sp>
        <p:nvSpPr>
          <p:cNvPr id="8" name="Flèche : droite 7">
            <a:extLst>
              <a:ext uri="{FF2B5EF4-FFF2-40B4-BE49-F238E27FC236}">
                <a16:creationId xmlns:a16="http://schemas.microsoft.com/office/drawing/2014/main" id="{D918D3A1-D7D8-9052-B814-39299D0D5A9C}"/>
              </a:ext>
            </a:extLst>
          </p:cNvPr>
          <p:cNvSpPr/>
          <p:nvPr/>
        </p:nvSpPr>
        <p:spPr>
          <a:xfrm rot="5400000">
            <a:off x="2066261" y="4463509"/>
            <a:ext cx="1158949" cy="7702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Sous-titre 2">
            <a:extLst>
              <a:ext uri="{FF2B5EF4-FFF2-40B4-BE49-F238E27FC236}">
                <a16:creationId xmlns:a16="http://schemas.microsoft.com/office/drawing/2014/main" id="{ACF8244E-FDBF-415C-FA50-7B1F216824F0}"/>
              </a:ext>
            </a:extLst>
          </p:cNvPr>
          <p:cNvSpPr txBox="1">
            <a:spLocks/>
          </p:cNvSpPr>
          <p:nvPr/>
        </p:nvSpPr>
        <p:spPr>
          <a:xfrm>
            <a:off x="1665767" y="5531911"/>
            <a:ext cx="1959936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>
                <a:solidFill>
                  <a:sysClr val="windowText" lastClr="000000"/>
                </a:solidFill>
              </a:rPr>
              <a:t>prompt</a:t>
            </a:r>
          </a:p>
        </p:txBody>
      </p:sp>
      <p:sp>
        <p:nvSpPr>
          <p:cNvPr id="10" name="Sous-titre 2">
            <a:extLst>
              <a:ext uri="{FF2B5EF4-FFF2-40B4-BE49-F238E27FC236}">
                <a16:creationId xmlns:a16="http://schemas.microsoft.com/office/drawing/2014/main" id="{5055341C-544E-C42F-C9C3-0E8F759A282E}"/>
              </a:ext>
            </a:extLst>
          </p:cNvPr>
          <p:cNvSpPr txBox="1">
            <a:spLocks/>
          </p:cNvSpPr>
          <p:nvPr/>
        </p:nvSpPr>
        <p:spPr>
          <a:xfrm>
            <a:off x="4192770" y="5531911"/>
            <a:ext cx="7747593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Classification par prompt avec exemples</a:t>
            </a:r>
          </a:p>
        </p:txBody>
      </p:sp>
      <p:sp>
        <p:nvSpPr>
          <p:cNvPr id="11" name="Sous-titre 2">
            <a:extLst>
              <a:ext uri="{FF2B5EF4-FFF2-40B4-BE49-F238E27FC236}">
                <a16:creationId xmlns:a16="http://schemas.microsoft.com/office/drawing/2014/main" id="{FB5F0CCD-F181-7852-444C-5A6B91A7D381}"/>
              </a:ext>
            </a:extLst>
          </p:cNvPr>
          <p:cNvSpPr txBox="1">
            <a:spLocks/>
          </p:cNvSpPr>
          <p:nvPr/>
        </p:nvSpPr>
        <p:spPr>
          <a:xfrm>
            <a:off x="4192770" y="3663205"/>
            <a:ext cx="7747593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70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Vectorise le jeu d’entrainement pour extraire des exemples pertinents</a:t>
            </a:r>
          </a:p>
        </p:txBody>
      </p:sp>
      <p:sp>
        <p:nvSpPr>
          <p:cNvPr id="12" name="Sous-titre 2">
            <a:extLst>
              <a:ext uri="{FF2B5EF4-FFF2-40B4-BE49-F238E27FC236}">
                <a16:creationId xmlns:a16="http://schemas.microsoft.com/office/drawing/2014/main" id="{2DF4AA5F-B1CB-5819-5E50-97D34C34E055}"/>
              </a:ext>
            </a:extLst>
          </p:cNvPr>
          <p:cNvSpPr txBox="1">
            <a:spLocks/>
          </p:cNvSpPr>
          <p:nvPr/>
        </p:nvSpPr>
        <p:spPr>
          <a:xfrm>
            <a:off x="4192770" y="1794499"/>
            <a:ext cx="7747593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Jeu d’entrainement filtré (~80,000 lignes)</a:t>
            </a:r>
          </a:p>
        </p:txBody>
      </p:sp>
    </p:spTree>
    <p:extLst>
      <p:ext uri="{BB962C8B-B14F-4D97-AF65-F5344CB8AC3E}">
        <p14:creationId xmlns:p14="http://schemas.microsoft.com/office/powerpoint/2010/main" val="33104189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BAAED3-07A6-D09F-B3B8-555F2C191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Approche LLM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3D1299C-F00E-14BE-F98C-293219B414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choix de métriques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CEA47920-0B17-ECB7-D86A-569E8E0CF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5433" y="1286305"/>
            <a:ext cx="7755070" cy="5332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60614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218FFC-EA89-2EBB-B60C-317654A9D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FBCE8A0-2B0A-79CE-2554-15CCA4AB6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Approche LLM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B0E9823-F860-FFCB-D087-E8983341C2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classification par prompt, few-shot et few-shot dynamique avec FAISS</a:t>
            </a:r>
          </a:p>
        </p:txBody>
      </p:sp>
    </p:spTree>
    <p:extLst>
      <p:ext uri="{BB962C8B-B14F-4D97-AF65-F5344CB8AC3E}">
        <p14:creationId xmlns:p14="http://schemas.microsoft.com/office/powerpoint/2010/main" val="27282941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1">
            <a:extLst>
              <a:ext uri="{FF2B5EF4-FFF2-40B4-BE49-F238E27FC236}">
                <a16:creationId xmlns:a16="http://schemas.microsoft.com/office/drawing/2014/main" id="{C6005B1D-AC92-C379-9562-8AB029E26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FR" dirty="0"/>
              <a:t>Approche LLM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069CEBDF-0F56-6E95-4704-E93E9F7FF1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895" y="2374129"/>
            <a:ext cx="11150209" cy="3016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14742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336A1-9489-38FC-CFC0-F1470FFA6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4" name="Picture 6" descr="Machine Learning Certified Professional (MLCP)">
            <a:extLst>
              <a:ext uri="{FF2B5EF4-FFF2-40B4-BE49-F238E27FC236}">
                <a16:creationId xmlns:a16="http://schemas.microsoft.com/office/drawing/2014/main" id="{E0159E87-2505-5F28-A71E-3E9EAA5E70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12" r="19121"/>
          <a:stretch>
            <a:fillRect/>
          </a:stretch>
        </p:blipFill>
        <p:spPr bwMode="auto">
          <a:xfrm>
            <a:off x="7804298" y="0"/>
            <a:ext cx="4359349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E2ABA96C-0BF8-98F9-09DF-02D9BC1A25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6966099" cy="3824103"/>
          </a:xfrm>
        </p:spPr>
        <p:txBody>
          <a:bodyPr>
            <a:normAutofit/>
          </a:bodyPr>
          <a:lstStyle/>
          <a:p>
            <a: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Implémentation</a:t>
            </a:r>
            <a:b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lang="fr-FR" sz="48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L’approche </a:t>
            </a:r>
            <a:r>
              <a:rPr lang="fr-FR" sz="4800" dirty="0">
                <a:solidFill>
                  <a:srgbClr val="00B0F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ML</a:t>
            </a:r>
            <a:endParaRPr lang="fr-FR" sz="6600" dirty="0">
              <a:solidFill>
                <a:srgbClr val="00B0F0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94192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5A7270-7718-F18D-E911-C4ABC1A6A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Approche ML</a:t>
            </a:r>
            <a:endParaRPr lang="fr-FR" dirty="0"/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5B84969B-8B0F-DC1D-C65B-75CCE3E9DDB5}"/>
              </a:ext>
            </a:extLst>
          </p:cNvPr>
          <p:cNvSpPr txBox="1">
            <a:spLocks/>
          </p:cNvSpPr>
          <p:nvPr/>
        </p:nvSpPr>
        <p:spPr>
          <a:xfrm>
            <a:off x="1665768" y="1794499"/>
            <a:ext cx="1959936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 err="1">
                <a:solidFill>
                  <a:sysClr val="windowText" lastClr="000000"/>
                </a:solidFill>
              </a:rPr>
              <a:t>X_train</a:t>
            </a:r>
            <a:endParaRPr lang="fr-FR" sz="2800" b="1" dirty="0">
              <a:solidFill>
                <a:sysClr val="windowText" lastClr="000000"/>
              </a:solidFill>
            </a:endParaRPr>
          </a:p>
          <a:p>
            <a:endParaRPr lang="fr-FR" sz="2800" b="1" dirty="0">
              <a:solidFill>
                <a:sysClr val="windowText" lastClr="000000"/>
              </a:solidFill>
            </a:endParaRPr>
          </a:p>
        </p:txBody>
      </p:sp>
      <p:sp>
        <p:nvSpPr>
          <p:cNvPr id="5" name="Flèche : droite 4">
            <a:extLst>
              <a:ext uri="{FF2B5EF4-FFF2-40B4-BE49-F238E27FC236}">
                <a16:creationId xmlns:a16="http://schemas.microsoft.com/office/drawing/2014/main" id="{7ACFE93B-6DAF-A440-8F62-99F8C5A3BFE2}"/>
              </a:ext>
            </a:extLst>
          </p:cNvPr>
          <p:cNvSpPr/>
          <p:nvPr/>
        </p:nvSpPr>
        <p:spPr>
          <a:xfrm rot="5400000">
            <a:off x="2066261" y="2594803"/>
            <a:ext cx="1158949" cy="7702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Sous-titre 2">
            <a:extLst>
              <a:ext uri="{FF2B5EF4-FFF2-40B4-BE49-F238E27FC236}">
                <a16:creationId xmlns:a16="http://schemas.microsoft.com/office/drawing/2014/main" id="{780A6DB8-BFEF-1877-827D-A72706BB9E18}"/>
              </a:ext>
            </a:extLst>
          </p:cNvPr>
          <p:cNvSpPr txBox="1">
            <a:spLocks/>
          </p:cNvSpPr>
          <p:nvPr/>
        </p:nvSpPr>
        <p:spPr>
          <a:xfrm>
            <a:off x="1665768" y="3663205"/>
            <a:ext cx="1959936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>
                <a:solidFill>
                  <a:sysClr val="windowText" lastClr="000000"/>
                </a:solidFill>
              </a:rPr>
              <a:t>TF-IDF</a:t>
            </a:r>
          </a:p>
        </p:txBody>
      </p:sp>
      <p:sp>
        <p:nvSpPr>
          <p:cNvPr id="8" name="Flèche : droite 7">
            <a:extLst>
              <a:ext uri="{FF2B5EF4-FFF2-40B4-BE49-F238E27FC236}">
                <a16:creationId xmlns:a16="http://schemas.microsoft.com/office/drawing/2014/main" id="{A5B7F632-9D76-4616-6A1A-E838712F86BC}"/>
              </a:ext>
            </a:extLst>
          </p:cNvPr>
          <p:cNvSpPr/>
          <p:nvPr/>
        </p:nvSpPr>
        <p:spPr>
          <a:xfrm rot="5400000">
            <a:off x="2066261" y="4463509"/>
            <a:ext cx="1158949" cy="7702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Sous-titre 2">
            <a:extLst>
              <a:ext uri="{FF2B5EF4-FFF2-40B4-BE49-F238E27FC236}">
                <a16:creationId xmlns:a16="http://schemas.microsoft.com/office/drawing/2014/main" id="{6767FB5C-5BB8-3FAE-4697-04C10860C416}"/>
              </a:ext>
            </a:extLst>
          </p:cNvPr>
          <p:cNvSpPr txBox="1">
            <a:spLocks/>
          </p:cNvSpPr>
          <p:nvPr/>
        </p:nvSpPr>
        <p:spPr>
          <a:xfrm>
            <a:off x="1665767" y="5531911"/>
            <a:ext cx="1959936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>
                <a:solidFill>
                  <a:sysClr val="windowText" lastClr="000000"/>
                </a:solidFill>
              </a:rPr>
              <a:t>classifier</a:t>
            </a:r>
          </a:p>
        </p:txBody>
      </p:sp>
      <p:sp>
        <p:nvSpPr>
          <p:cNvPr id="10" name="Sous-titre 2">
            <a:extLst>
              <a:ext uri="{FF2B5EF4-FFF2-40B4-BE49-F238E27FC236}">
                <a16:creationId xmlns:a16="http://schemas.microsoft.com/office/drawing/2014/main" id="{96F891FE-397A-E407-DA4D-021BD667BF6C}"/>
              </a:ext>
            </a:extLst>
          </p:cNvPr>
          <p:cNvSpPr txBox="1">
            <a:spLocks/>
          </p:cNvSpPr>
          <p:nvPr/>
        </p:nvSpPr>
        <p:spPr>
          <a:xfrm>
            <a:off x="4192770" y="5531911"/>
            <a:ext cx="6794205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fr-FR" sz="2800" b="1" dirty="0" err="1">
                <a:solidFill>
                  <a:schemeClr val="accent4">
                    <a:lumMod val="75000"/>
                  </a:schemeClr>
                </a:solidFill>
              </a:rPr>
              <a:t>Logistic</a:t>
            </a:r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fr-FR" sz="2800" b="1" dirty="0" err="1">
                <a:solidFill>
                  <a:schemeClr val="accent4">
                    <a:lumMod val="75000"/>
                  </a:schemeClr>
                </a:solidFill>
              </a:rPr>
              <a:t>Regression</a:t>
            </a:r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fr-FR" sz="2800" b="1" dirty="0" err="1">
                <a:solidFill>
                  <a:schemeClr val="accent4">
                    <a:lumMod val="75000"/>
                  </a:schemeClr>
                </a:solidFill>
              </a:rPr>
              <a:t>Linear</a:t>
            </a:r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 SVC, </a:t>
            </a:r>
            <a:r>
              <a:rPr lang="fr-FR" sz="2800" b="1" dirty="0" err="1">
                <a:solidFill>
                  <a:schemeClr val="accent4">
                    <a:lumMod val="75000"/>
                  </a:schemeClr>
                </a:solidFill>
              </a:rPr>
              <a:t>Complement</a:t>
            </a:r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 NB</a:t>
            </a:r>
          </a:p>
        </p:txBody>
      </p:sp>
      <p:sp>
        <p:nvSpPr>
          <p:cNvPr id="11" name="Sous-titre 2">
            <a:extLst>
              <a:ext uri="{FF2B5EF4-FFF2-40B4-BE49-F238E27FC236}">
                <a16:creationId xmlns:a16="http://schemas.microsoft.com/office/drawing/2014/main" id="{443BFE38-1CCD-1F9C-EBEC-17C8738C7DA2}"/>
              </a:ext>
            </a:extLst>
          </p:cNvPr>
          <p:cNvSpPr txBox="1">
            <a:spLocks/>
          </p:cNvSpPr>
          <p:nvPr/>
        </p:nvSpPr>
        <p:spPr>
          <a:xfrm>
            <a:off x="4192770" y="3663205"/>
            <a:ext cx="6794205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Vectorise les variables d’entrées</a:t>
            </a:r>
          </a:p>
        </p:txBody>
      </p:sp>
      <p:sp>
        <p:nvSpPr>
          <p:cNvPr id="12" name="Sous-titre 2">
            <a:extLst>
              <a:ext uri="{FF2B5EF4-FFF2-40B4-BE49-F238E27FC236}">
                <a16:creationId xmlns:a16="http://schemas.microsoft.com/office/drawing/2014/main" id="{BE15534B-4F9E-9B48-9466-3CFF6DE00E03}"/>
              </a:ext>
            </a:extLst>
          </p:cNvPr>
          <p:cNvSpPr txBox="1">
            <a:spLocks/>
          </p:cNvSpPr>
          <p:nvPr/>
        </p:nvSpPr>
        <p:spPr>
          <a:xfrm>
            <a:off x="4192770" y="1794499"/>
            <a:ext cx="6794205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Jeu d’entrainement filtré (~80,000 lignes)</a:t>
            </a:r>
          </a:p>
        </p:txBody>
      </p:sp>
    </p:spTree>
    <p:extLst>
      <p:ext uri="{BB962C8B-B14F-4D97-AF65-F5344CB8AC3E}">
        <p14:creationId xmlns:p14="http://schemas.microsoft.com/office/powerpoint/2010/main" val="34405201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6FF110-9CA5-9068-EFE8-ABB9F02AE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3 approches ML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DA09931-DE41-34A4-DD60-0A02DCF135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b="1" dirty="0"/>
              <a:t>Modèle 1 : TF-IDF + </a:t>
            </a:r>
            <a:r>
              <a:rPr lang="fr-FR" b="1" dirty="0" err="1"/>
              <a:t>Logistic</a:t>
            </a:r>
            <a:r>
              <a:rPr lang="fr-FR" b="1" dirty="0"/>
              <a:t> </a:t>
            </a:r>
            <a:r>
              <a:rPr lang="fr-FR" b="1" dirty="0" err="1"/>
              <a:t>Regression</a:t>
            </a:r>
            <a:endParaRPr lang="fr-FR" b="1" dirty="0"/>
          </a:p>
          <a:p>
            <a:r>
              <a:rPr lang="fr-FR" b="1" dirty="0"/>
              <a:t>Modèle 2 : TF-IDF + </a:t>
            </a:r>
            <a:r>
              <a:rPr lang="fr-FR" b="1" dirty="0" err="1"/>
              <a:t>Linear</a:t>
            </a:r>
            <a:r>
              <a:rPr lang="fr-FR" b="1" dirty="0"/>
              <a:t> SVM</a:t>
            </a:r>
          </a:p>
          <a:p>
            <a:r>
              <a:rPr lang="fr-FR" b="1" dirty="0"/>
              <a:t>Modèle 3 : TF-IDF + </a:t>
            </a:r>
            <a:r>
              <a:rPr lang="fr-FR" b="1" dirty="0" err="1"/>
              <a:t>Naive</a:t>
            </a:r>
            <a:r>
              <a:rPr lang="fr-FR" b="1" dirty="0"/>
              <a:t> Bayes</a:t>
            </a:r>
          </a:p>
        </p:txBody>
      </p:sp>
    </p:spTree>
    <p:extLst>
      <p:ext uri="{BB962C8B-B14F-4D97-AF65-F5344CB8AC3E}">
        <p14:creationId xmlns:p14="http://schemas.microsoft.com/office/powerpoint/2010/main" val="30817743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33E11-437C-FA87-91A8-4949ACBB8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9FE63B3-5258-5E2E-47E0-CF0EE894F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Approche ML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7394018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911</TotalTime>
  <Words>895</Words>
  <Application>Microsoft Office PowerPoint</Application>
  <PresentationFormat>Grand écran</PresentationFormat>
  <Paragraphs>129</Paragraphs>
  <Slides>19</Slides>
  <Notes>7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19</vt:i4>
      </vt:variant>
    </vt:vector>
  </HeadingPairs>
  <TitlesOfParts>
    <vt:vector size="25" baseType="lpstr">
      <vt:lpstr>Arial</vt:lpstr>
      <vt:lpstr>Arial Black</vt:lpstr>
      <vt:lpstr>Calibri</vt:lpstr>
      <vt:lpstr>Calibri Light</vt:lpstr>
      <vt:lpstr>Segoe UI Black</vt:lpstr>
      <vt:lpstr>Thème Office</vt:lpstr>
      <vt:lpstr>Zen-Assist</vt:lpstr>
      <vt:lpstr>Contexte</vt:lpstr>
      <vt:lpstr>Analyse exploratoire des données</vt:lpstr>
      <vt:lpstr>DataFrame</vt:lpstr>
      <vt:lpstr>Dataset</vt:lpstr>
      <vt:lpstr>Présentation PowerPoint</vt:lpstr>
      <vt:lpstr>Cible (catégorie)</vt:lpstr>
      <vt:lpstr>Présentation PowerPoint</vt:lpstr>
      <vt:lpstr>Les métriques SCORES</vt:lpstr>
      <vt:lpstr>Métriques</vt:lpstr>
      <vt:lpstr>Implémentation L’approche LLM</vt:lpstr>
      <vt:lpstr>Approche LLM</vt:lpstr>
      <vt:lpstr>Approche LLM</vt:lpstr>
      <vt:lpstr>Approche LLM</vt:lpstr>
      <vt:lpstr>Approche LLM</vt:lpstr>
      <vt:lpstr>Implémentation L’approche ML</vt:lpstr>
      <vt:lpstr>Approche ML</vt:lpstr>
      <vt:lpstr>3 approches ML</vt:lpstr>
      <vt:lpstr>Approche ML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auguey</dc:creator>
  <cp:lastModifiedBy>thomas auguey</cp:lastModifiedBy>
  <cp:revision>52</cp:revision>
  <dcterms:created xsi:type="dcterms:W3CDTF">2026-08-19T10:14:18Z</dcterms:created>
  <dcterms:modified xsi:type="dcterms:W3CDTF">2026-08-24T15:40:09Z</dcterms:modified>
</cp:coreProperties>
</file>